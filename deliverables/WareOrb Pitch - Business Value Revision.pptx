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51fbde37824d77" /><Relationship Type="http://schemas.openxmlformats.org/officeDocument/2006/relationships/extended-properties" Target="/docProps/app.xml" Id="R39849374a1224e43" /><Relationship Type="http://schemas.openxmlformats.org/officeDocument/2006/relationships/officeDocument" Target="/ppt/presentation.xml" Id="R7f2447afa2f642c4"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1d8e15bafb224628"/>
  </p:sldMasterIdLst>
  <p:notesMasterIdLst>
    <p:notesMasterId xmlns:r="http://schemas.openxmlformats.org/officeDocument/2006/relationships" r:id="R6dba16a8dbad4615"/>
  </p:notesMasterIdLst>
  <p:sldIdLst>
    <p:sldId xmlns:r="http://schemas.openxmlformats.org/officeDocument/2006/relationships" id="256" r:id="Rece4276074c64049"/>
    <p:sldId xmlns:r="http://schemas.openxmlformats.org/officeDocument/2006/relationships" id="257" r:id="R25c2e6fb095c4a09"/>
    <p:sldId xmlns:r="http://schemas.openxmlformats.org/officeDocument/2006/relationships" id="258" r:id="R8ac489a2fd394e5b"/>
    <p:sldId xmlns:r="http://schemas.openxmlformats.org/officeDocument/2006/relationships" id="259" r:id="R97309e8d50e24161"/>
    <p:sldId xmlns:r="http://schemas.openxmlformats.org/officeDocument/2006/relationships" id="260" r:id="Rd9b2091019e34f72"/>
    <p:sldId xmlns:r="http://schemas.openxmlformats.org/officeDocument/2006/relationships" id="261" r:id="R4f303e43d5c3447a"/>
    <p:sldId xmlns:r="http://schemas.openxmlformats.org/officeDocument/2006/relationships" id="262" r:id="R7b4b9e27205c402b"/>
    <p:sldId xmlns:r="http://schemas.openxmlformats.org/officeDocument/2006/relationships" id="263" r:id="R9c550a7bdccc45c3"/>
    <p:sldId xmlns:r="http://schemas.openxmlformats.org/officeDocument/2006/relationships" id="264" r:id="R691513e75f6549f3"/>
    <p:sldId xmlns:r="http://schemas.openxmlformats.org/officeDocument/2006/relationships" id="265" r:id="R5e0b76d928894af5"/>
  </p:sldIdLst>
  <p:sldSz cx="12192000" cy="6858000"/>
  <p:notesSz cx="6858000" cy="9144000"/>
  <p:embeddedFontLst>
    <p:embeddedFont>
      <p:font typeface="Inter"/>
      <p:regular xmlns:r="http://schemas.openxmlformats.org/officeDocument/2006/relationships" r:id="Rea188ef6de4f49a5"/>
      <p:bold xmlns:r="http://schemas.openxmlformats.org/officeDocument/2006/relationships" r:id="R9f06c1edd56d4dd0"/>
    </p:embeddedFont>
    <p:embeddedFont>
      <p:font typeface="Inter Tight"/>
      <p:regular xmlns:r="http://schemas.openxmlformats.org/officeDocument/2006/relationships" r:id="Rd611039689674be4"/>
      <p:bold xmlns:r="http://schemas.openxmlformats.org/officeDocument/2006/relationships" r:id="Rbad4b0d1034e407b"/>
    </p:embeddedFont>
  </p:embeddedFontLst>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08489813d3d404c" /><Relationship Type="http://schemas.openxmlformats.org/officeDocument/2006/relationships/slideMaster" Target="/ppt/slideMasters/slideMaster1.xml" Id="R1d8e15bafb224628" /><Relationship Type="http://schemas.openxmlformats.org/officeDocument/2006/relationships/notesMaster" Target="/ppt/notesMasters/notesMaster1.xml" Id="R6dba16a8dbad4615" /><Relationship Type="http://schemas.openxmlformats.org/officeDocument/2006/relationships/presProps" Target="/ppt/presProps.xml" Id="R1594133641314431" /><Relationship Type="http://schemas.openxmlformats.org/officeDocument/2006/relationships/viewProps" Target="/ppt/viewProps.xml" Id="R04b86711e9f64367" /><Relationship Type="http://schemas.openxmlformats.org/officeDocument/2006/relationships/tableStyles" Target="/ppt/tableStyles.xml" Id="R87874e205984496e" /><Relationship Type="http://schemas.openxmlformats.org/officeDocument/2006/relationships/font" Target="/ppt/fonts/font.dat" Id="Rea188ef6de4f49a5" /><Relationship Type="http://schemas.openxmlformats.org/officeDocument/2006/relationships/font" Target="/ppt/fonts/font2.dat" Id="R9f06c1edd56d4dd0" /><Relationship Type="http://schemas.openxmlformats.org/officeDocument/2006/relationships/font" Target="/ppt/fonts/font3.dat" Id="Rd611039689674be4" /><Relationship Type="http://schemas.openxmlformats.org/officeDocument/2006/relationships/font" Target="/ppt/fonts/font4.dat" Id="Rbad4b0d1034e407b" /><Relationship Type="http://schemas.openxmlformats.org/officeDocument/2006/relationships/slide" Target="/ppt/slides/slide1.xml" Id="Rece4276074c64049" /><Relationship Type="http://schemas.openxmlformats.org/officeDocument/2006/relationships/slide" Target="/ppt/slides/slide2.xml" Id="R25c2e6fb095c4a09" /><Relationship Type="http://schemas.openxmlformats.org/officeDocument/2006/relationships/slide" Target="/ppt/slides/slide3.xml" Id="R8ac489a2fd394e5b" /><Relationship Type="http://schemas.openxmlformats.org/officeDocument/2006/relationships/slide" Target="/ppt/slides/slide4.xml" Id="R97309e8d50e24161" /><Relationship Type="http://schemas.openxmlformats.org/officeDocument/2006/relationships/slide" Target="/ppt/slides/slide5.xml" Id="Rd9b2091019e34f72" /><Relationship Type="http://schemas.openxmlformats.org/officeDocument/2006/relationships/slide" Target="/ppt/slides/slide6.xml" Id="R4f303e43d5c3447a" /><Relationship Type="http://schemas.openxmlformats.org/officeDocument/2006/relationships/slide" Target="/ppt/slides/slide7.xml" Id="R7b4b9e27205c402b" /><Relationship Type="http://schemas.openxmlformats.org/officeDocument/2006/relationships/slide" Target="/ppt/slides/slide8.xml" Id="R9c550a7bdccc45c3" /><Relationship Type="http://schemas.openxmlformats.org/officeDocument/2006/relationships/slide" Target="/ppt/slides/slide9.xml" Id="R691513e75f6549f3" /><Relationship Type="http://schemas.openxmlformats.org/officeDocument/2006/relationships/slide" Target="/ppt/slides/slide10.xml" Id="R5e0b76d928894a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257f1837ba44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WareOrb — SDC 2026 Pitch">
  <a:themeElements>
    <a:clrScheme name="WareOrb — SDC 2026 Pitch">
      <a:dk1>
        <a:srgbClr val="111214"/>
      </a:dk1>
      <a:lt1>
        <a:srgbClr val="FAFAF8"/>
      </a:lt1>
      <a:dk2>
        <a:srgbClr val="4B4C4D"/>
      </a:dk2>
      <a:lt2>
        <a:srgbClr val="E3E3E1"/>
      </a:lt2>
      <a:accent1>
        <a:srgbClr val="2A64C8"/>
      </a:accent1>
      <a:accent2>
        <a:srgbClr val="4F8BEA"/>
      </a:accent2>
      <a:accent3>
        <a:srgbClr val="0F1F4D"/>
      </a:accent3>
      <a:accent4>
        <a:srgbClr val="2A5BC0"/>
      </a:accent4>
      <a:accent5>
        <a:srgbClr val="9BBDF3"/>
      </a:accent5>
      <a:accent6>
        <a:srgbClr val="8FB6F5"/>
      </a:accent6>
      <a:hlink>
        <a:srgbClr val="0563C1"/>
      </a:hlink>
      <a:folHlink>
        <a:srgbClr val="954F72"/>
      </a:folHlink>
    </a:clrScheme>
    <a:fontScheme name="WareOrb — SDC 2026 Pitch">
      <a:majorFont>
        <a:latin typeface="Inter T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WareOrb — SDC 2026 Pitch">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684cf655ca444a" /><Relationship Type="http://schemas.openxmlformats.org/officeDocument/2006/relationships/notesMaster" Target="/ppt/notesMasters/notesMaster1.xml" Id="Ra1a41b41baba45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92056d36744398" /><Relationship Type="http://schemas.openxmlformats.org/officeDocument/2006/relationships/notesMaster" Target="/ppt/notesMasters/notesMaster1.xml" Id="R461fdf71a46645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7ef46b9f294006" /><Relationship Type="http://schemas.openxmlformats.org/officeDocument/2006/relationships/notesMaster" Target="/ppt/notesMasters/notesMaster1.xml" Id="R72d1f42a8ddf4c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2bbb768fe64d8e" /><Relationship Type="http://schemas.openxmlformats.org/officeDocument/2006/relationships/notesMaster" Target="/ppt/notesMasters/notesMaster1.xml" Id="R6d2dc5162e2d4b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1541fca57e4c07" /><Relationship Type="http://schemas.openxmlformats.org/officeDocument/2006/relationships/notesMaster" Target="/ppt/notesMasters/notesMaster1.xml" Id="R72dc6bc959574b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089b7d0f5242f6" /><Relationship Type="http://schemas.openxmlformats.org/officeDocument/2006/relationships/notesMaster" Target="/ppt/notesMasters/notesMaster1.xml" Id="Rcab9793a483547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c96a94e34043bb" /><Relationship Type="http://schemas.openxmlformats.org/officeDocument/2006/relationships/notesMaster" Target="/ppt/notesMasters/notesMaster1.xml" Id="R6a319c88782c4d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d8a3d98e7a4580" /><Relationship Type="http://schemas.openxmlformats.org/officeDocument/2006/relationships/notesMaster" Target="/ppt/notesMasters/notesMaster1.xml" Id="R4d929655330a415d" /></Relationships>
</file>

<file path=ppt/notesSlides/_rels/notesSlide9.xml.rels>&#65279;<?xml version="1.0" encoding="utf-8"?><Relationships xmlns="http://schemas.openxmlformats.org/package/2006/relationships"><Relationship Type="http://schemas.openxmlformats.org/officeDocument/2006/relationships/slide" Target="/ppt/slides/slide9.xml" Id="R39f3b35e829d4e93" /><Relationship Type="http://schemas.openxmlformats.org/officeDocument/2006/relationships/notesMaster" Target="/ppt/notesMasters/notesMaster1.xml" Id="R8286dc0cdb1040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a703cd3cd049c5" /><Relationship Type="http://schemas.openxmlformats.org/officeDocument/2006/relationships/notesMaster" Target="/ppt/notesMasters/notesMaster1.xml" Id="R3fac504bc69d4a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10 seconds</a:t>
            </a:r>
            <a:endParaRPr/>
          </a:p>
          <a:p xmlns:a="http://schemas.openxmlformats.org/drawingml/2006/main">
            <a:r>
              <a:t>WareOrb helps furniture SMEs decide whether clearing slow stock creates a better return from limited warehouse space. The owner sees the full trade-off before committing.</a:t>
            </a:r>
            <a:endParaRPr/>
          </a:p>
          <a:p xmlns:a="http://schemas.openxmlformats.org/drawingml/2006/main">
            <a:r>
              <a:t/>
            </a:r>
            <a:endParaRPr/>
          </a:p>
          <a:p xmlns:a="http://schemas.openxmlformats.org/drawingml/2006/main">
            <a:r>
              <a:t>Supporting detail</a:t>
            </a:r>
            <a:endParaRPr/>
          </a:p>
          <a:p xmlns:a="http://schemas.openxmlformats.org/drawingml/2006/main">
            <a:r>
              <a:t>The main pitch uses slides 1–9. Slide 6 contains the 3–4 minute demo segment. Slide 10 is Q&amp;A only.</a:t>
            </a:r>
            <a:endParaRPr/>
          </a:p>
          <a:p xmlns:a="http://schemas.openxmlformats.org/drawingml/2006/main">
            <a:r>
              <a:t/>
            </a:r>
            <a:endParaRPr/>
          </a:p>
          <a:p xmlns:a="http://schemas.openxmlformats.org/drawingml/2006/main">
            <a:r>
              <a:t>Sources</a:t>
            </a:r>
            <a:endParaRPr/>
          </a:p>
          <a:p xmlns:a="http://schemas.openxmlformats.org/drawingml/2006/main">
            <a:r>
              <a:t>Mentor transcript: /Users/alfredlee/Downloads/261022_recording.md</a:t>
            </a:r>
            <a:endParaRPr/>
          </a:p>
          <a:p xmlns:a="http://schemas.openxmlformats.org/drawingml/2006/main">
            <a:r>
              <a:t>Capacity-reallocation proposal: /Users/alfredlee/Documents/Second Brain/20 Portfolio/Hackathons/SDC hackathon/SDC2026-Lab/knowledge/candidates/wareorb-capacity-reallocation.md</a:t>
            </a:r>
            <a:endParaRPr/>
          </a:p>
          <a:p xmlns:a="http://schemas.openxmlformats.org/drawingml/2006/main">
            <a:r>
              <a:t>Supplied deck: /Users/alfredlee/Downloads/WareOrb — SDC 2026 Pitch.pptx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18 seconds</a:t>
            </a:r>
            <a:endParaRPr/>
          </a:p>
          <a:p xmlns:a="http://schemas.openxmlformats.org/drawingml/2006/main">
            <a:r>
              <a:t>Slow stock ties up both warehouse space and cash. That can delay replenishing products with stronger sales history. But clearing it can also destroy value once discounts, transport and timing are included. The owner needs a complete comparison.</a:t>
            </a:r>
            <a:endParaRPr/>
          </a:p>
          <a:p xmlns:a="http://schemas.openxmlformats.org/drawingml/2006/main">
            <a:r>
              <a:t/>
            </a:r>
            <a:endParaRPr/>
          </a:p>
          <a:p xmlns:a="http://schemas.openxmlformats.org/drawingml/2006/main">
            <a:r>
              <a:t>Supporting detail</a:t>
            </a:r>
            <a:endParaRPr/>
          </a:p>
          <a:p xmlns:a="http://schemas.openxmlformats.org/drawingml/2006/main">
            <a:r>
              <a:t>Mentor transcript 00:01:26–00:03:21: stock risk depends on consumption rate and supply lead time. This is a target problem hypothesis, not a validated frequency claim. Retain the actual frontend screenshot placeholder and use synthetic data.</a:t>
            </a:r>
            <a:endParaRPr/>
          </a:p>
          <a:p xmlns:a="http://schemas.openxmlformats.org/drawingml/2006/main">
            <a:r>
              <a:t/>
            </a:r>
            <a:endParaRPr/>
          </a:p>
          <a:p xmlns:a="http://schemas.openxmlformats.org/drawingml/2006/main">
            <a:r>
              <a:t>Screenshot instructions</a:t>
            </a:r>
            <a:endParaRPr/>
          </a:p>
          <a:p xmlns:a="http://schemas.openxmlformats.org/drawingml/2006/main">
            <a:r>
              <a:t>SCREENSHOT (16:10): 1. Screen: the real 3D warehouse view. 2. State: the demo slow-moving batch selected, detail panel open; other panels closed. 3. Readable: batch quantity and storage location, plus occupied locations. Show occupancy or stock age only if the app really has it. 4. Sensitive: synthetic data only; crop browser bars and dev tools.</a:t>
            </a:r>
            <a:endParaRPr/>
          </a:p>
          <a:p xmlns:a="http://schemas.openxmlformats.org/drawingml/2006/main">
            <a:r>
              <a:t/>
            </a:r>
            <a:endParaRPr/>
          </a:p>
          <a:p xmlns:a="http://schemas.openxmlformats.org/drawingml/2006/main">
            <a:r>
              <a:t>Sources</a:t>
            </a:r>
            <a:endParaRPr/>
          </a:p>
          <a:p xmlns:a="http://schemas.openxmlformats.org/drawingml/2006/main">
            <a:r>
              <a:t>Mentor transcript: /Users/alfredlee/Downloads/261022_recording.md</a:t>
            </a:r>
            <a:endParaRPr/>
          </a:p>
          <a:p xmlns:a="http://schemas.openxmlformats.org/drawingml/2006/main">
            <a:r>
              <a:t>Capacity-reallocation proposal: /Users/alfredlee/Documents/Second Brain/20 Portfolio/Hackathons/SDC hackathon/SDC2026-Lab/knowledge/candidates/wareorb-capacity-reallocation.md</a:t>
            </a:r>
            <a:endParaRPr/>
          </a:p>
          <a:p xmlns:a="http://schemas.openxmlformats.org/drawingml/2006/main">
            <a:r>
              <a:t>Supplied deck: /Users/alfredlee/Downloads/WareOrb — SDC 2026 Pitch.pptx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25 seconds</a:t>
            </a:r>
            <a:endParaRPr/>
          </a:p>
          <a:p xmlns:a="http://schemas.openxmlformats.org/drawingml/2006/main">
            <a:r>
              <a:t>WareOrb compares keeping a batch with clearing it and replenishing a proven seller. It combines sales evidence, complete costs, usable space, timing and cash. Sales rate and supplier lead time matter when judging stock risk. The owner approves the plan, and capacity changes only after staff confirm dispatch.</a:t>
            </a:r>
            <a:endParaRPr/>
          </a:p>
          <a:p xmlns:a="http://schemas.openxmlformats.org/drawingml/2006/main">
            <a:r>
              <a:t/>
            </a:r>
            <a:endParaRPr/>
          </a:p>
          <a:p xmlns:a="http://schemas.openxmlformats.org/drawingml/2006/main">
            <a:r>
              <a:t>Supporting detail</a:t>
            </a:r>
            <a:endParaRPr/>
          </a:p>
          <a:p xmlns:a="http://schemas.openxmlformats.org/drawingml/2006/main">
            <a:r>
              <a:t>This is the proposed capacity-reallocation capability currently in development, not proof of a completed workflow. Validate stock rules using sales history, supplier lead time, committed orders, scheduled incoming stock and a merchant-set safety buffer. Distinguish stockout periods from low demand. The mentor suggested testing a statistical demand model; no model fit or forecasting accuracy has been demonstrated. A Poisson model is a candidate to assess, not a universal furniture-demand assumption. Preserve the screenshot placeholder until the screen is implemented.</a:t>
            </a:r>
            <a:endParaRPr/>
          </a:p>
          <a:p xmlns:a="http://schemas.openxmlformats.org/drawingml/2006/main">
            <a:r>
              <a:t/>
            </a:r>
            <a:endParaRPr/>
          </a:p>
          <a:p xmlns:a="http://schemas.openxmlformats.org/drawingml/2006/main">
            <a:r>
              <a:t>Screenshot instructions</a:t>
            </a:r>
            <a:endParaRPr/>
          </a:p>
          <a:p xmlns:a="http://schemas.openxmlformats.org/drawingml/2006/main">
            <a:r>
              <a:t>SCREENSHOT (16:10): 1. Screen: the capacity-reallocation proposal / recommendation screen. 2. State: demo slow batch and replenishment candidate selected. 3. Readable: slow batch, replacement product, occupied capacity, release timing, owner decision controls (only where implemented). 4. Sensitive: synthetic data only. If unfinished, keep the placeholder as “Capture after feature completion”.</a:t>
            </a:r>
            <a:endParaRPr/>
          </a:p>
          <a:p xmlns:a="http://schemas.openxmlformats.org/drawingml/2006/main">
            <a:r>
              <a:t/>
            </a:r>
            <a:endParaRPr/>
          </a:p>
          <a:p xmlns:a="http://schemas.openxmlformats.org/drawingml/2006/main">
            <a:r>
              <a:t>Sources</a:t>
            </a:r>
            <a:endParaRPr/>
          </a:p>
          <a:p xmlns:a="http://schemas.openxmlformats.org/drawingml/2006/main">
            <a:r>
              <a:t>Mentor transcript: /Users/alfredlee/Downloads/261022_recording.md</a:t>
            </a:r>
            <a:endParaRPr/>
          </a:p>
          <a:p xmlns:a="http://schemas.openxmlformats.org/drawingml/2006/main">
            <a:r>
              <a:t>Capacity-reallocation proposal: /Users/alfredlee/Documents/Second Brain/20 Portfolio/Hackathons/SDC hackathon/SDC2026-Lab/knowledge/candidates/wareorb-capacity-reallocation.md</a:t>
            </a:r>
            <a:endParaRPr/>
          </a:p>
          <a:p xmlns:a="http://schemas.openxmlformats.org/drawingml/2006/main">
            <a:r>
              <a:t>Supplied deck: /Users/alfredlee/Downloads/WareOrb — SDC 2026 Pitch.pptx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25 seconds</a:t>
            </a:r>
            <a:endParaRPr/>
          </a:p>
          <a:p xmlns:a="http://schemas.openxmlformats.org/drawingml/2006/main">
            <a:r>
              <a:t>In this synthetic 30-day case, Buyer A offers more but leaves only RM200 after clearance costs. Buyer B leaves RM800. Replenishing a proven seller is projected to contribute another RM600 after its costs. Buyer B therefore gives RM400 more than keeping the batch, if the sales and timing assumptions hold.</a:t>
            </a:r>
            <a:endParaRPr/>
          </a:p>
          <a:p xmlns:a="http://schemas.openxmlformats.org/drawingml/2006/main">
            <a:r>
              <a:t/>
            </a:r>
            <a:endParaRPr/>
          </a:p>
          <a:p xmlns:a="http://schemas.openxmlformats.org/drawingml/2006/main">
            <a:r>
              <a:t>Supporting detail</a:t>
            </a:r>
            <a:endParaRPr/>
          </a:p>
          <a:p xmlns:a="http://schemas.openxmlformats.org/drawingml/2006/main">
            <a:r>
              <a:t>All plans use a 30-day horizon. Keeping the batch yields RM1,000 net recovery by day 30, too late for replenishment sales within the window. Buyer A: RM1,200 − RM1,000 + RM600 = RM800. Buyer B: RM1,000 − RM200 + RM600 = RM1,400. Differences versus keeping are −RM200 and +RM400. The RM600 already deducts all replacement-related costs, so do not subtract them again. Four usable positions are occupied in the source scenario. Confirm eligibility, fit, release date and cash before recommending either plan. This is an illustration, not realised savings, guaranteed profit or a typical merchant result.</a:t>
            </a:r>
            <a:endParaRPr/>
          </a:p>
          <a:p xmlns:a="http://schemas.openxmlformats.org/drawingml/2006/main">
            <a:r>
              <a:t/>
            </a:r>
            <a:endParaRPr/>
          </a:p>
          <a:p xmlns:a="http://schemas.openxmlformats.org/drawingml/2006/main">
            <a:r>
              <a:t>Sources</a:t>
            </a:r>
            <a:endParaRPr/>
          </a:p>
          <a:p xmlns:a="http://schemas.openxmlformats.org/drawingml/2006/main">
            <a:r>
              <a:t>Mentor transcript: /Users/alfredlee/Downloads/261022_recording.md</a:t>
            </a:r>
            <a:endParaRPr/>
          </a:p>
          <a:p xmlns:a="http://schemas.openxmlformats.org/drawingml/2006/main">
            <a:r>
              <a:t>Capacity-reallocation proposal: /Users/alfredlee/Documents/Second Brain/20 Portfolio/Hackathons/SDC hackathon/SDC2026-Lab/knowledge/candidates/wareorb-capacity-reallocation.md</a:t>
            </a:r>
            <a:endParaRPr/>
          </a:p>
          <a:p xmlns:a="http://schemas.openxmlformats.org/drawingml/2006/main">
            <a:r>
              <a:t>Supplied deck: /Users/alfredlee/Downloads/WareOrb — SDC 2026 Pitch.pptx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15 seconds</a:t>
            </a:r>
            <a:endParaRPr/>
          </a:p>
          <a:p xmlns:a="http://schemas.openxmlformats.org/drawingml/2006/main">
            <a:r>
              <a:t>Excel can do the calculation. WareOrb’s proposed value is reducing the work around it: preparing comparable transport requests, checking complete costs, routing the owner’s decision and keeping the outcome tied to actual stock movements. Existing records can remain inputs.</a:t>
            </a:r>
            <a:endParaRPr/>
          </a:p>
          <a:p xmlns:a="http://schemas.openxmlformats.org/drawingml/2006/main">
            <a:r>
              <a:t/>
            </a:r>
            <a:endParaRPr/>
          </a:p>
          <a:p xmlns:a="http://schemas.openxmlformats.org/drawingml/2006/main">
            <a:r>
              <a:t>Supporting detail</a:t>
            </a:r>
            <a:endParaRPr/>
          </a:p>
          <a:p xmlns:a="http://schemas.openxmlformats.org/drawingml/2006/main">
            <a:r>
              <a:t>Mentor transcript 00:04:48–00:05:57 and 00:07:03–00:08:59: attractive technology needs a business-value case. Time saved creates capacity to do other work; it is not a cash saving unless overtime, outsourcing or another avoidable expense actually falls. Do not claim an implemented spreadsheet/POS connector.</a:t>
            </a:r>
            <a:endParaRPr/>
          </a:p>
          <a:p xmlns:a="http://schemas.openxmlformats.org/drawingml/2006/main">
            <a:r>
              <a:t/>
            </a:r>
            <a:endParaRPr/>
          </a:p>
          <a:p xmlns:a="http://schemas.openxmlformats.org/drawingml/2006/main">
            <a:r>
              <a:t>Sources</a:t>
            </a:r>
            <a:endParaRPr/>
          </a:p>
          <a:p xmlns:a="http://schemas.openxmlformats.org/drawingml/2006/main">
            <a:r>
              <a:t>Mentor transcript: /Users/alfredlee/Downloads/261022_recording.md</a:t>
            </a:r>
            <a:endParaRPr/>
          </a:p>
          <a:p xmlns:a="http://schemas.openxmlformats.org/drawingml/2006/main">
            <a:r>
              <a:t>Capacity-reallocation proposal: /Users/alfredlee/Documents/Second Brain/20 Portfolio/Hackathons/SDC hackathon/SDC2026-Lab/knowledge/candidates/wareorb-capacity-reallocation.md</a:t>
            </a:r>
            <a:endParaRPr/>
          </a:p>
          <a:p xmlns:a="http://schemas.openxmlformats.org/drawingml/2006/main">
            <a:r>
              <a:t>Supplied deck: /Users/alfredlee/Downloads/WareOrb — SDC 2026 Pitch.pptx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VIDEO: 3–4 minutes</a:t>
            </a:r>
            <a:endParaRPr/>
          </a:p>
          <a:p xmlns:a="http://schemas.openxmlformats.org/drawingml/2006/main">
            <a:r>
              <a:t>Insert the recorded application demo here. Identify synthetic data and simulations. Keep capacity reallocation as the main story, supported by the warehouse view and stock records.</a:t>
            </a:r>
            <a:endParaRPr/>
          </a:p>
          <a:p xmlns:a="http://schemas.openxmlformats.org/drawingml/2006/main">
            <a:r>
              <a:t/>
            </a:r>
            <a:endParaRPr/>
          </a:p>
          <a:p xmlns:a="http://schemas.openxmlformats.org/drawingml/2006/main">
            <a:r>
              <a:t>Supporting detail</a:t>
            </a:r>
            <a:endParaRPr/>
          </a:p>
          <a:p xmlns:a="http://schemas.openxmlformats.org/drawingml/2006/main">
            <a:r>
              <a:t>Show only the actual build. Demonstrate evidence, buyer/carrier comparison, owner review and confirmed dispatch where implemented. Keep approval distinct from physical capacity release. Do not present a scripted summary as calculated analytics. Retain the existing clean demo slide until the video is ready.</a:t>
            </a:r>
            <a:endParaRPr/>
          </a:p>
          <a:p xmlns:a="http://schemas.openxmlformats.org/drawingml/2006/main">
            <a:r>
              <a:t/>
            </a:r>
            <a:endParaRPr/>
          </a:p>
          <a:p xmlns:a="http://schemas.openxmlformats.org/drawingml/2006/main">
            <a:r>
              <a:t>Sources</a:t>
            </a:r>
            <a:endParaRPr/>
          </a:p>
          <a:p xmlns:a="http://schemas.openxmlformats.org/drawingml/2006/main">
            <a:r>
              <a:t>Mentor transcript: /Users/alfredlee/Downloads/261022_recording.md</a:t>
            </a:r>
            <a:endParaRPr/>
          </a:p>
          <a:p xmlns:a="http://schemas.openxmlformats.org/drawingml/2006/main">
            <a:r>
              <a:t>Capacity-reallocation proposal: /Users/alfredlee/Documents/Second Brain/20 Portfolio/Hackathons/SDC hackathon/SDC2026-Lab/knowledge/candidates/wareorb-capacity-reallocation.md</a:t>
            </a:r>
            <a:endParaRPr/>
          </a:p>
          <a:p xmlns:a="http://schemas.openxmlformats.org/drawingml/2006/main">
            <a:r>
              <a:t>Supplied deck: /Users/alfredlee/Downloads/WareOrb — SDC 2026 Pitch.pptx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25 seconds</a:t>
            </a:r>
            <a:endParaRPr/>
          </a:p>
          <a:p xmlns:a="http://schemas.openxmlformats.org/drawingml/2006/main">
            <a:r>
              <a:t>What would make this worth adopting? As an illustration, assume one decision per month delivers the RM400 improvement in our example, and total monthly adoption cost is RM200. That leaves RM200. If no decision improves, the merchant loses RM200. The pilot must establish the real frequency, gains and costs.</a:t>
            </a:r>
            <a:endParaRPr/>
          </a:p>
          <a:p xmlns:a="http://schemas.openxmlformats.org/drawingml/2006/main">
            <a:r>
              <a:t/>
            </a:r>
            <a:endParaRPr/>
          </a:p>
          <a:p xmlns:a="http://schemas.openxmlformats.org/drawingml/2006/main">
            <a:r>
              <a:t>Supporting detail</a:t>
            </a:r>
            <a:endParaRPr/>
          </a:p>
          <a:p xmlns:a="http://schemas.openxmlformats.org/drawingml/2006/main">
            <a:r>
              <a:t>These are explicitly hypothetical adoption economics, not a forecast, observed ROI or agreed price. The RM400 comes from the synthetic 30-day worked example. RM200 is an assumed TOTAL monthly adoption cost, including software/model/hosting fees as applicable, amortised onboarding/training, and the effort of keeping data usable. It is not a proposed subscription price or a vendor quote. At zero qualifying decisions the net is −RM200; at one the net is +RM200; at two independent, non-overlapping decisions with the same incremental outcome the net is +RM600. Real timing, cash limits, demand and implementation status can invalidate the extrapolation. Do not add unchanged rent or redeployed salary to these cash outcomes. Buyer hypothesis: furniture SME owner/warehouse manager. A subscription per warehouse is a possible revenue model to test, not validated willingness to pay. Sources: mentor transcript 00:04:59–00:05:57, 00:07:03–00:09:27 and 00:11:19–00:12:14.</a:t>
            </a:r>
            <a:endParaRPr/>
          </a:p>
          <a:p xmlns:a="http://schemas.openxmlformats.org/drawingml/2006/main">
            <a:r>
              <a:t/>
            </a:r>
            <a:endParaRPr/>
          </a:p>
          <a:p xmlns:a="http://schemas.openxmlformats.org/drawingml/2006/main">
            <a:r>
              <a:t>Sources</a:t>
            </a:r>
            <a:endParaRPr/>
          </a:p>
          <a:p xmlns:a="http://schemas.openxmlformats.org/drawingml/2006/main">
            <a:r>
              <a:t>Mentor transcript: /Users/alfredlee/Downloads/261022_recording.md</a:t>
            </a:r>
            <a:endParaRPr/>
          </a:p>
          <a:p xmlns:a="http://schemas.openxmlformats.org/drawingml/2006/main">
            <a:r>
              <a:t>Capacity-reallocation proposal: /Users/alfredlee/Documents/Second Brain/20 Portfolio/Hackathons/SDC hackathon/SDC2026-Lab/knowledge/candidates/wareorb-capacity-reallocation.md</a:t>
            </a:r>
            <a:endParaRPr/>
          </a:p>
          <a:p xmlns:a="http://schemas.openxmlformats.org/drawingml/2006/main">
            <a:r>
              <a:t>Supplied deck: /Users/alfredlee/Downloads/WareOrb — SDC 2026 Pitch.pptx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20 seconds</a:t>
            </a:r>
            <a:endParaRPr/>
          </a:p>
          <a:p xmlns:a="http://schemas.openxmlformats.org/drawingml/2006/main">
            <a:r>
              <a:t>We will compare against Excel and the merchant’s normal messaging on the same cases. We need to establish decision value, time and entry effort, total adoption cost and stock accuracy. The adoption test is whether realised benefit exceeds the full cost. Time freed alone does not prove cash savings.</a:t>
            </a:r>
            <a:endParaRPr/>
          </a:p>
          <a:p xmlns:a="http://schemas.openxmlformats.org/drawingml/2006/main">
            <a:r>
              <a:t/>
            </a:r>
            <a:endParaRPr/>
          </a:p>
          <a:p xmlns:a="http://schemas.openxmlformats.org/drawingml/2006/main">
            <a:r>
              <a:t>Supporting detail</a:t>
            </a:r>
            <a:endParaRPr/>
          </a:p>
          <a:p xmlns:a="http://schemas.openxmlformats.org/drawingml/2006/main">
            <a:r>
              <a:t>Pilot design: record baseline effort, frequency and existing decision process; test equivalent cases; log incomplete quotes, infeasible plans, actual dispatch and capacity release. Compare contribution over a consistent horizon, account for ending stock and cash timing, and avoid claiming the counterfactual keep-stock outcome was directly observed. Validate the adoption-cost assumption, pricing willingness and data upkeep. Synthetic benchmarks establish workflow behaviour, not merchant profit. SDG 8.2 is an intended productivity connection, subject to evidence. Do not claim unchanged warehouse rent as saved cash or multiply an assumed salary by a time percentage and call it realised cash savings.</a:t>
            </a:r>
            <a:endParaRPr/>
          </a:p>
          <a:p xmlns:a="http://schemas.openxmlformats.org/drawingml/2006/main">
            <a:r>
              <a:t/>
            </a:r>
            <a:endParaRPr/>
          </a:p>
          <a:p xmlns:a="http://schemas.openxmlformats.org/drawingml/2006/main">
            <a:r>
              <a:t>Sources</a:t>
            </a:r>
            <a:endParaRPr/>
          </a:p>
          <a:p xmlns:a="http://schemas.openxmlformats.org/drawingml/2006/main">
            <a:r>
              <a:t>Mentor transcript: /Users/alfredlee/Downloads/261022_recording.md</a:t>
            </a:r>
            <a:endParaRPr/>
          </a:p>
          <a:p xmlns:a="http://schemas.openxmlformats.org/drawingml/2006/main">
            <a:r>
              <a:t>Capacity-reallocation proposal: /Users/alfredlee/Documents/Second Brain/20 Portfolio/Hackathons/SDC hackathon/SDC2026-Lab/knowledge/candidates/wareorb-capacity-reallocation.md</a:t>
            </a:r>
            <a:endParaRPr/>
          </a:p>
          <a:p xmlns:a="http://schemas.openxmlformats.org/drawingml/2006/main">
            <a:r>
              <a:t>Supplied deck: /Users/alfredlee/Downloads/WareOrb — SDC 2026 Pitch.pptx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10 seconds</a:t>
            </a:r>
            <a:endParaRPr/>
          </a:p>
          <a:p xmlns:a="http://schemas.openxmlformats.org/drawingml/2006/main">
            <a:r>
              <a:t>WareOrb helps owners make a better use of the space and cash already in their warehouse. Our next step is one merchant decision walkthrough, followed by a pilot that tests whether the value justifies adoption. Thank you.</a:t>
            </a:r>
            <a:endParaRPr/>
          </a:p>
          <a:p xmlns:a="http://schemas.openxmlformats.org/drawingml/2006/main">
            <a:r>
              <a:t/>
            </a:r>
            <a:endParaRPr/>
          </a:p>
          <a:p xmlns:a="http://schemas.openxmlformats.org/drawingml/2006/main">
            <a:r>
              <a:t>Supporting detail</a:t>
            </a:r>
            <a:endParaRPr/>
          </a:p>
          <a:p xmlns:a="http://schemas.openxmlformats.org/drawingml/2006/main">
            <a:r>
              <a:t>No existing pilot commitments or customer traction are claimed.</a:t>
            </a:r>
            <a:endParaRPr/>
          </a:p>
          <a:p xmlns:a="http://schemas.openxmlformats.org/drawingml/2006/main">
            <a:r>
              <a:t/>
            </a:r>
            <a:endParaRPr/>
          </a:p>
          <a:p xmlns:a="http://schemas.openxmlformats.org/drawingml/2006/main">
            <a:r>
              <a:t>Sources</a:t>
            </a:r>
            <a:endParaRPr/>
          </a:p>
          <a:p xmlns:a="http://schemas.openxmlformats.org/drawingml/2006/main">
            <a:r>
              <a:t>Mentor transcript: /Users/alfredlee/Downloads/261022_recording.md</a:t>
            </a:r>
            <a:endParaRPr/>
          </a:p>
          <a:p xmlns:a="http://schemas.openxmlformats.org/drawingml/2006/main">
            <a:r>
              <a:t>Capacity-reallocation proposal: /Users/alfredlee/Documents/Second Brain/20 Portfolio/Hackathons/SDC hackathon/SDC2026-Lab/knowledge/candidates/wareorb-capacity-reallocation.md</a:t>
            </a:r>
            <a:endParaRPr/>
          </a:p>
          <a:p xmlns:a="http://schemas.openxmlformats.org/drawingml/2006/main">
            <a:r>
              <a:t>Supplied deck: /Users/alfredlee/Downloads/WareOrb — SDC 2026 Pitch.pptx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ONLY</a:t>
            </a:r>
            <a:endParaRPr/>
          </a:p>
          <a:p xmlns:a="http://schemas.openxmlformats.org/drawingml/2006/main">
            <a:r>
              <a:t>Implementation status remains separate from proposed business value. Capacity reallocation is still in development in the supplied deck. Confirm the newest build before presenting.</a:t>
            </a:r>
            <a:endParaRPr/>
          </a:p>
          <a:p xmlns:a="http://schemas.openxmlformats.org/drawingml/2006/main">
            <a:r>
              <a:t/>
            </a:r>
            <a:endParaRPr/>
          </a:p>
          <a:p xmlns:a="http://schemas.openxmlformats.org/drawingml/2006/main">
            <a:r>
              <a:t>Supporting detail</a:t>
            </a:r>
            <a:endParaRPr/>
          </a:p>
          <a:p xmlns:a="http://schemas.openxmlformats.org/drawingml/2006/main">
            <a:r>
              <a:t>Stock precision: define stock risk using sales rate, supply lead time, commitments, scheduled receipts and a safety buffer. Low stock is not a universal fixed count. Slow stock must account for age, availability, margin and occupied capacity. Assess seasonality only with adequate records. A Poisson model was suggested in the mentor conversation, but no distribution, accuracy or statistical fit is claimed.</a:t>
            </a:r>
            <a:endParaRPr/>
          </a:p>
          <a:p xmlns:a="http://schemas.openxmlformats.org/drawingml/2006/main">
            <a:r>
              <a:t>Business-value guardrails: +RM400 in slide 4 is a synthetic scenario difference, not measured savings; RM200 in slide 7 is an assumed total monthly adoption cost, not agreed pricing. Future benefit depends on valid recommendations being accepted, dispatched and realised. Do not add freed floor space as monetary savings if the benefit is already captured in replenishment contribution. Do not claim fixed rent or unchanged salaries as cash savings.</a:t>
            </a:r>
            <a:endParaRPr/>
          </a:p>
          <a:p xmlns:a="http://schemas.openxmlformats.org/drawingml/2006/main">
            <a:r>
              <a:t/>
            </a:r>
            <a:endParaRPr/>
          </a:p>
          <a:p xmlns:a="http://schemas.openxmlformats.org/drawingml/2006/main">
            <a:r>
              <a:t>Sources</a:t>
            </a:r>
            <a:endParaRPr/>
          </a:p>
          <a:p xmlns:a="http://schemas.openxmlformats.org/drawingml/2006/main">
            <a:r>
              <a:t>Mentor transcript: /Users/alfredlee/Downloads/261022_recording.md</a:t>
            </a:r>
            <a:endParaRPr/>
          </a:p>
          <a:p xmlns:a="http://schemas.openxmlformats.org/drawingml/2006/main">
            <a:r>
              <a:t>Capacity-reallocation proposal: /Users/alfredlee/Documents/Second Brain/20 Portfolio/Hackathons/SDC hackathon/SDC2026-Lab/knowledge/candidates/wareorb-capacity-reallocation.md</a:t>
            </a:r>
            <a:endParaRPr/>
          </a:p>
          <a:p xmlns:a="http://schemas.openxmlformats.org/drawingml/2006/main">
            <a:r>
              <a:t>Supplied deck: /Users/alfredlee/Downloads/WareOrb — SDC 2026 Pitch.pptx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ba20d41719405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98de0e91048487d"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Title and body">
    <p:bg>
      <p:bgPr>
        <a:solidFill xmlns:a="http://schemas.openxmlformats.org/drawingml/2006/main">
          <a:srgbClr val="FAFAF8"/>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A044C929-A502-4BCC-8C05-ACD2EF4547A5}"/>
              </a:ext>
            </a:extLst>
          </p:cNvPr>
          <p:cNvSpPr>
            <a:spLocks xmlns:a="http://schemas.openxmlformats.org/drawingml/2006/main" noGrp="1"/>
          </p:cNvSpPr>
          <p:nvPr>
            <p:ph type="title" idx="0"/>
          </p:nvPr>
        </p:nvSpPr>
        <p:spPr>
          <a:xfrm xmlns:a="http://schemas.openxmlformats.org/drawingml/2006/main">
            <a:off x="812800" y="1219200"/>
            <a:ext cx="10566400" cy="64002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4800">
                <a:solidFill>
                  <a:srgbClr val="111214"/>
                </a:solidFill>
                <a:latin typeface="Inter Tight"/>
                <a:ea typeface="Inter Tight"/>
                <a:cs typeface="Inter Tight"/>
              </a:defRPr>
            </a:lvl1pPr>
          </a:lstStyle>
          <a:p xmlns:a="http://schemas.openxmlformats.org/drawingml/2006/main">
            <a:pPr marL="0" indent="0" algn="l">
              <a:lnSpc>
                <a:spcPct val="115000"/>
              </a:lnSpc>
              <a:buNone/>
            </a:pPr>
            <a:endParaRPr sz="4800"/>
          </a:p>
        </p:txBody>
      </p:sp>
      <p:sp>
        <p:nvSpPr>
          <p:cNvPr id="3" name="Text Placeholder 2">
            <a:extLst xmlns:a="http://schemas.openxmlformats.org/drawingml/2006/main">
              <a:ext uri="{FF2B5EF4-FFF2-40B4-BE49-F238E27FC236}">
                <a16:creationId xmlns:a16="http://schemas.microsoft.com/office/drawing/2014/main" id="{21B0014A-0C57-43B8-A2A4-E7DF16B9D199}"/>
              </a:ext>
            </a:extLst>
          </p:cNvPr>
          <p:cNvSpPr>
            <a:spLocks xmlns:a="http://schemas.openxmlformats.org/drawingml/2006/main" noGrp="1"/>
          </p:cNvSpPr>
          <p:nvPr>
            <p:ph type="body" idx="101"/>
          </p:nvPr>
        </p:nvSpPr>
        <p:spPr>
          <a:xfrm xmlns:a="http://schemas.openxmlformats.org/drawingml/2006/main">
            <a:off x="812800" y="2164027"/>
            <a:ext cx="10566400" cy="388117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11214"/>
                </a:solidFill>
                <a:latin typeface="Inter"/>
                <a:ea typeface="Inter"/>
                <a:cs typeface="Inter"/>
              </a:defRPr>
            </a:lvl1pPr>
          </a:lstStyle>
          <a:p xmlns:a="http://schemas.openxmlformats.org/drawingml/2006/main">
            <a:pPr marL="0" indent="0" algn="l">
              <a:lnSpc>
                <a:spcPct val="140000"/>
              </a:lnSpc>
              <a:buNone/>
            </a:pPr>
            <a:endParaRPr sz="1600"/>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64877989f84fdf" /><Relationship Type="http://schemas.openxmlformats.org/officeDocument/2006/relationships/slideLayout" Target="/ppt/slideLayouts/slideLayout1.xml" Id="Rf8034444645a4196" /><Relationship Type="http://schemas.openxmlformats.org/officeDocument/2006/relationships/slideLayout" Target="/ppt/slideLayouts/slideLayout2.xml" Id="Rfc5b43b9e74c4228" /></Relationships>
</file>

<file path=ppt/slideMasters/slideMaster1.xml><?xml version="1.0" encoding="utf-8"?>
<p:sldMaster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D05035CE-39DF-4B72-8BC2-2B92D7BB9D07}"/>
              </a:ext>
            </a:extLst>
          </p:cNvPr>
          <p:cNvSpPr>
            <a:spLocks xmlns:a="http://schemas.openxmlformats.org/drawingml/2006/main" noGrp="1"/>
          </p:cNvSpPr>
          <p:nvPr>
            <p:ph type="title" idx="0"/>
          </p:nvPr>
        </p:nvSpPr>
        <p:spPr>
          <a:xfrm xmlns:a="http://schemas.openxmlformats.org/drawingml/2006/main">
            <a:off x="812800" y="1219200"/>
            <a:ext cx="10566400" cy="64002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4800">
                <a:solidFill>
                  <a:srgbClr val="111214"/>
                </a:solidFill>
                <a:latin typeface="Inter Tight"/>
                <a:ea typeface="Inter Tight"/>
                <a:cs typeface="Inter Tight"/>
              </a:defRPr>
            </a:lvl1pPr>
          </a:lstStyle>
          <a:p xmlns:a="http://schemas.openxmlformats.org/drawingml/2006/main">
            <a:pPr marL="0" indent="0" algn="l">
              <a:lnSpc>
                <a:spcPct val="115000"/>
              </a:lnSpc>
              <a:buNone/>
            </a:pPr>
            <a:endParaRPr sz="4800"/>
          </a:p>
        </p:txBody>
      </p:sp>
      <p:sp>
        <p:nvSpPr>
          <p:cNvPr id="3" name="Text Placeholder 2">
            <a:extLst xmlns:a="http://schemas.openxmlformats.org/drawingml/2006/main">
              <a:ext uri="{FF2B5EF4-FFF2-40B4-BE49-F238E27FC236}">
                <a16:creationId xmlns:a16="http://schemas.microsoft.com/office/drawing/2014/main" id="{936D6A81-0D46-4428-B8D2-7C2CA94756D3}"/>
              </a:ext>
            </a:extLst>
          </p:cNvPr>
          <p:cNvSpPr>
            <a:spLocks xmlns:a="http://schemas.openxmlformats.org/drawingml/2006/main" noGrp="1"/>
          </p:cNvSpPr>
          <p:nvPr>
            <p:ph type="body" idx="101"/>
          </p:nvPr>
        </p:nvSpPr>
        <p:spPr>
          <a:xfrm xmlns:a="http://schemas.openxmlformats.org/drawingml/2006/main">
            <a:off x="812800" y="2164027"/>
            <a:ext cx="10566400" cy="388117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11214"/>
                </a:solidFill>
                <a:latin typeface="Inter"/>
                <a:ea typeface="Inter"/>
                <a:cs typeface="Inter"/>
              </a:defRPr>
            </a:lvl1pPr>
          </a:lstStyle>
          <a:p xmlns:a="http://schemas.openxmlformats.org/drawingml/2006/main">
            <a:pPr marL="0" indent="0" algn="l">
              <a:lnSpc>
                <a:spcPct val="140000"/>
              </a:lnSpc>
              <a:buNone/>
            </a:pPr>
            <a:endParaRPr sz="16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034444645a4196"/>
    <p:sldLayoutId xmlns:r="http://schemas.openxmlformats.org/officeDocument/2006/relationships" id="2147483650" r:id="Rfc5b43b9e74c4228"/>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WareOrb — SDC 2026 Pitch">
  <a:themeElements>
    <a:clrScheme name="WareOrb — SDC 2026 Pitch">
      <a:dk1>
        <a:srgbClr val="111214"/>
      </a:dk1>
      <a:lt1>
        <a:srgbClr val="FAFAF8"/>
      </a:lt1>
      <a:dk2>
        <a:srgbClr val="4B4C4D"/>
      </a:dk2>
      <a:lt2>
        <a:srgbClr val="E3E3E1"/>
      </a:lt2>
      <a:accent1>
        <a:srgbClr val="2A64C8"/>
      </a:accent1>
      <a:accent2>
        <a:srgbClr val="4F8BEA"/>
      </a:accent2>
      <a:accent3>
        <a:srgbClr val="0F1F4D"/>
      </a:accent3>
      <a:accent4>
        <a:srgbClr val="2A5BC0"/>
      </a:accent4>
      <a:accent5>
        <a:srgbClr val="9BBDF3"/>
      </a:accent5>
      <a:accent6>
        <a:srgbClr val="8FB6F5"/>
      </a:accent6>
      <a:hlink>
        <a:srgbClr val="0563C1"/>
      </a:hlink>
      <a:folHlink>
        <a:srgbClr val="954F72"/>
      </a:folHlink>
    </a:clrScheme>
    <a:fontScheme name="WareOrb — SDC 2026 Pitch">
      <a:majorFont>
        <a:latin typeface="Inter T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WareOrb — SDC 2026 Pitch">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b6bbe1aed0984b68" /><Relationship Type="http://schemas.openxmlformats.org/officeDocument/2006/relationships/image" Target="/ppt/media/image.png" Id="R5eb565aa38af497b" /><Relationship Type="http://schemas.openxmlformats.org/officeDocument/2006/relationships/image" Target="/ppt/media/image2.png" Id="Rf7af1fbbecce4bad" /><Relationship Type="http://schemas.openxmlformats.org/officeDocument/2006/relationships/image" Target="/ppt/media/image3.png" Id="R47af493214374a8f" /><Relationship Type="http://schemas.openxmlformats.org/officeDocument/2006/relationships/notesSlide" Target="/ppt/notesSlides/notesSlide1.xml" Id="R4eaa56e265e842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a0323e1f8ca4d3a" /><Relationship Type="http://schemas.openxmlformats.org/officeDocument/2006/relationships/image" Target="/ppt/media/image4.png" Id="R5a3bf62ea48d438d" /><Relationship Type="http://schemas.openxmlformats.org/officeDocument/2006/relationships/image" Target="/ppt/media/image5.png" Id="R0d7ec2f3206a4230" /><Relationship Type="http://schemas.openxmlformats.org/officeDocument/2006/relationships/notesSlide" Target="/ppt/notesSlides/notesSlide2.xml" Id="R14e1cc42d00d4c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9851c3369eb44b1" /><Relationship Type="http://schemas.openxmlformats.org/officeDocument/2006/relationships/image" Target="/ppt/media/image6.png" Id="Rd02e6902740f4ebc" /><Relationship Type="http://schemas.openxmlformats.org/officeDocument/2006/relationships/image" Target="/ppt/media/image7.png" Id="Rec71180166da43b5" /><Relationship Type="http://schemas.openxmlformats.org/officeDocument/2006/relationships/notesSlide" Target="/ppt/notesSlides/notesSlide3.xml" Id="R523a6fa36c604f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0ce54311c5284c00" /><Relationship Type="http://schemas.openxmlformats.org/officeDocument/2006/relationships/image" Target="/ppt/media/image8.png" Id="R784b83e9c16c469c" /><Relationship Type="http://schemas.openxmlformats.org/officeDocument/2006/relationships/image" Target="/ppt/media/image9.png" Id="Ra9fdb0caf7474f33" /><Relationship Type="http://schemas.openxmlformats.org/officeDocument/2006/relationships/notesSlide" Target="/ppt/notesSlides/notesSlide4.xml" Id="Ra7b0dd7dd17d4b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32cbc7337a04ade" /><Relationship Type="http://schemas.openxmlformats.org/officeDocument/2006/relationships/image" Target="/ppt/media/image10.png" Id="Rbf798c3866f8428b" /><Relationship Type="http://schemas.openxmlformats.org/officeDocument/2006/relationships/image" Target="/ppt/media/image11.png" Id="R574c4ceb819d4360" /><Relationship Type="http://schemas.openxmlformats.org/officeDocument/2006/relationships/notesSlide" Target="/ppt/notesSlides/notesSlide5.xml" Id="R8093acd818c148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e23ce1881d74c29" /><Relationship Type="http://schemas.openxmlformats.org/officeDocument/2006/relationships/image" Target="/ppt/media/image12.png" Id="Rc2ece3f5ebd24fe5" /><Relationship Type="http://schemas.openxmlformats.org/officeDocument/2006/relationships/image" Target="/ppt/media/image13.png" Id="Rbeed63a30d0f4fac" /><Relationship Type="http://schemas.openxmlformats.org/officeDocument/2006/relationships/notesSlide" Target="/ppt/notesSlides/notesSlide6.xml" Id="R9a46d3f82814459b"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ddbca00f15b94184" /><Relationship Type="http://schemas.openxmlformats.org/officeDocument/2006/relationships/image" Target="/ppt/media/image14.png" Id="Ra631f00faeaf4c02" /><Relationship Type="http://schemas.openxmlformats.org/officeDocument/2006/relationships/image" Target="/ppt/media/image15.png" Id="R10a74bd82ac04420" /><Relationship Type="http://schemas.openxmlformats.org/officeDocument/2006/relationships/notesSlide" Target="/ppt/notesSlides/notesSlide7.xml" Id="R74d0ffe3faeb41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4e4b9f412c754b37" /><Relationship Type="http://schemas.openxmlformats.org/officeDocument/2006/relationships/image" Target="/ppt/media/image16.png" Id="Rff654d4a8743448f" /><Relationship Type="http://schemas.openxmlformats.org/officeDocument/2006/relationships/image" Target="/ppt/media/image17.png" Id="R5c41366022e64f00" /><Relationship Type="http://schemas.openxmlformats.org/officeDocument/2006/relationships/notesSlide" Target="/ppt/notesSlides/notesSlide8.xml" Id="R4f0bbe7a85ed48e4"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844ba98b9eec4691" /><Relationship Type="http://schemas.openxmlformats.org/officeDocument/2006/relationships/image" Target="/ppt/media/image18.png" Id="R1b35e4f4cb434234" /><Relationship Type="http://schemas.openxmlformats.org/officeDocument/2006/relationships/image" Target="/ppt/media/image19.png" Id="Rb1f59fb9a1af4329" /><Relationship Type="http://schemas.openxmlformats.org/officeDocument/2006/relationships/image" Target="/ppt/media/image20.png" Id="Re7508540a2b04031" /><Relationship Type="http://schemas.openxmlformats.org/officeDocument/2006/relationships/notesSlide" Target="/ppt/notesSlides/notesSlide9.xml" Id="R45d2e0b7b2e741b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6e59beae734a4a90" /><Relationship Type="http://schemas.openxmlformats.org/officeDocument/2006/relationships/image" Target="/ppt/media/image21.png" Id="R8302aec9c10341ed" /><Relationship Type="http://schemas.openxmlformats.org/officeDocument/2006/relationships/notesSlide" Target="/ppt/notesSlides/notesSlide10.xml" Id="R095f40b71f7240c6" /></Relationships>
</file>

<file path=ppt/slides/slide1.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F90C066-991A-4E26-8025-CBED733C71E5}"/>
              </a:ext>
            </a:extLst>
          </p:cNvPr>
          <p:cNvSpPr>
            <a:spLocks xmlns:a="http://schemas.openxmlformats.org/drawingml/2006/main" noGrp="1"/>
          </p:cNvSpPr>
          <p:nvPr/>
        </p:nvSpPr>
        <p:spPr>
          <a:xfrm xmlns:a="http://schemas.openxmlformats.org/drawingml/2006/main">
            <a:off x="4826000" y="0"/>
            <a:ext cx="6096000" cy="3810000"/>
          </a:xfrm>
          <a:prstGeom xmlns:a="http://schemas.openxmlformats.org/drawingml/2006/main" prst="rect">
            <a:avLst/>
          </a:prstGeom>
          <a:gradFill xmlns:a="http://schemas.openxmlformats.org/drawingml/2006/main" rotWithShape="1">
            <a:gsLst>
              <a:gs pos="0">
                <a:srgbClr val="070B1F"/>
              </a:gs>
              <a:gs pos="22000">
                <a:srgbClr val="0F1F4D"/>
              </a:gs>
              <a:gs pos="44000">
                <a:srgbClr val="2A5BC0"/>
              </a:gs>
              <a:gs pos="62000">
                <a:srgbClr val="9BBDF3"/>
              </a:gs>
              <a:gs pos="78000">
                <a:srgbClr val="9BBDF3">
                  <a:alpha val="0"/>
                </a:srgbClr>
              </a:gs>
            </a:gsLst>
            <a:path path="circle">
              <a:fillToRect l="50000" t="0" r="50000" b="100000"/>
            </a:path>
          </a:gradFill>
        </p:spPr>
      </p:sp>
      <p:sp>
        <p:nvSpPr>
          <p:cNvPr id="3" name="Shape 1">
            <a:extLst xmlns:a="http://schemas.openxmlformats.org/drawingml/2006/main">
              <a:ext uri="{FF2B5EF4-FFF2-40B4-BE49-F238E27FC236}">
                <a16:creationId xmlns:a16="http://schemas.microsoft.com/office/drawing/2014/main" id="{3D724BF6-7A0D-487D-8B36-370FE2DEF507}"/>
              </a:ext>
            </a:extLst>
          </p:cNvPr>
          <p:cNvSpPr>
            <a:spLocks xmlns:a="http://schemas.openxmlformats.org/drawingml/2006/main" noGrp="1"/>
          </p:cNvSpPr>
          <p:nvPr/>
        </p:nvSpPr>
        <p:spPr>
          <a:xfrm xmlns:a="http://schemas.openxmlformats.org/drawingml/2006/main">
            <a:off x="0" y="4826000"/>
            <a:ext cx="4318000" cy="2032000"/>
          </a:xfrm>
          <a:prstGeom xmlns:a="http://schemas.openxmlformats.org/drawingml/2006/main" prst="rect">
            <a:avLst/>
          </a:prstGeom>
          <a:gradFill xmlns:a="http://schemas.openxmlformats.org/drawingml/2006/main" rotWithShape="1">
            <a:gsLst>
              <a:gs pos="0">
                <a:srgbClr val="070B1F"/>
              </a:gs>
              <a:gs pos="22000">
                <a:srgbClr val="0F1F4D"/>
              </a:gs>
              <a:gs pos="44000">
                <a:srgbClr val="2A5BC0"/>
              </a:gs>
              <a:gs pos="62000">
                <a:srgbClr val="9BBDF3"/>
              </a:gs>
              <a:gs pos="78000">
                <a:srgbClr val="9BBDF3">
                  <a:alpha val="0"/>
                </a:srgbClr>
              </a:gs>
            </a:gsLst>
            <a:path path="circle">
              <a:fillToRect l="40000" t="100000" r="60000" b="0"/>
            </a:path>
          </a:gradFill>
        </p:spPr>
      </p:sp>
      <p:pic>
        <p:nvPicPr>
          <p:cNvPr id="4" name="Image 0">
            <a:extLst xmlns:a="http://schemas.openxmlformats.org/drawingml/2006/main">
              <a:ext uri="{FF2B5EF4-FFF2-40B4-BE49-F238E27FC236}">
                <a16:creationId xmlns:a16="http://schemas.microsoft.com/office/drawing/2014/main" id="{8E65A851-E648-4BAC-A052-D3FA7473020B}"/>
              </a:ext>
            </a:extLst>
          </p:cNvPr>
          <p:cNvPicPr>
            <a:picLocks xmlns:a="http://schemas.openxmlformats.org/drawingml/2006/main" noChangeAspect="1"/>
          </p:cNvPicPr>
          <p:nvPr/>
        </p:nvPicPr>
        <p:blipFill>
          <a:blip xmlns:r="http://schemas.openxmlformats.org/officeDocument/2006/relationships" xmlns:a="http://schemas.openxmlformats.org/drawingml/2006/main" r:embed="R5eb565aa38af497b"/>
          <a:srcRect xmlns:a="http://schemas.openxmlformats.org/drawingml/2006/main" l="-111" t="0" r="-111" b="0"/>
          <a:stretch xmlns:a="http://schemas.openxmlformats.org/drawingml/2006/main"/>
        </p:blipFill>
        <p:spPr>
          <a:xfrm xmlns:a="http://schemas.openxmlformats.org/drawingml/2006/main">
            <a:off x="812800" y="431800"/>
            <a:ext cx="1435100" cy="254000"/>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53C03F69-063A-4BB1-BFEC-0691BFF0BB5B}"/>
              </a:ext>
            </a:extLst>
          </p:cNvPr>
          <p:cNvSpPr>
            <a:spLocks xmlns:a="http://schemas.openxmlformats.org/drawingml/2006/main" noGrp="1"/>
          </p:cNvSpPr>
          <p:nvPr/>
        </p:nvSpPr>
        <p:spPr>
          <a:xfrm xmlns:a="http://schemas.openxmlformats.org/drawingml/2006/main">
            <a:off x="10330855" y="416586"/>
            <a:ext cx="667345" cy="284427"/>
          </a:xfrm>
          <a:prstGeom xmlns:a="http://schemas.openxmlformats.org/drawingml/2006/main" prst="roundRect">
            <a:avLst>
              <a:gd name="adj" fmla="val 50000"/>
            </a:avLst>
          </a:prstGeom>
          <a:solidFill xmlns:a="http://schemas.openxmlformats.org/drawingml/2006/main">
            <a:srgbClr val="111214"/>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440"/>
              </a:lnSpc>
              <a:buNone/>
            </a:pPr>
            <a:r>
              <a:rPr sz="1200" b="1">
                <a:solidFill>
                  <a:srgbClr val="FAFAF8"/>
                </a:solidFill>
                <a:latin typeface="Inter"/>
                <a:ea typeface="Inter"/>
                <a:cs typeface="Inter"/>
              </a:rPr>
              <a:t>2026</a:t>
            </a:r>
            <a:endParaRPr sz="1200"/>
          </a:p>
        </p:txBody>
      </p:sp>
      <p:sp>
        <p:nvSpPr>
          <p:cNvPr id="6" name="Shape 3">
            <a:extLst xmlns:a="http://schemas.openxmlformats.org/drawingml/2006/main">
              <a:ext uri="{FF2B5EF4-FFF2-40B4-BE49-F238E27FC236}">
                <a16:creationId xmlns:a16="http://schemas.microsoft.com/office/drawing/2014/main" id="{63F84933-28A0-4CC6-BCBB-F09CC02A76AE}"/>
              </a:ext>
            </a:extLst>
          </p:cNvPr>
          <p:cNvSpPr>
            <a:spLocks xmlns:a="http://schemas.openxmlformats.org/drawingml/2006/main" noGrp="1"/>
          </p:cNvSpPr>
          <p:nvPr/>
        </p:nvSpPr>
        <p:spPr>
          <a:xfrm xmlns:a="http://schemas.openxmlformats.org/drawingml/2006/main">
            <a:off x="11074400" y="406400"/>
            <a:ext cx="304800" cy="304800"/>
          </a:xfrm>
          <a:prstGeom xmlns:a="http://schemas.openxmlformats.org/drawingml/2006/main" prst="roundRect">
            <a:avLst>
              <a:gd name="adj" fmla="val 50000"/>
            </a:avLst>
          </a:prstGeom>
          <a:solidFill xmlns:a="http://schemas.openxmlformats.org/drawingml/2006/main">
            <a:srgbClr val="4F8BEA"/>
          </a:solidFill>
        </p:spPr>
      </p:sp>
      <p:pic>
        <p:nvPicPr>
          <p:cNvPr id="7" name="Image 1">
            <a:extLst xmlns:a="http://schemas.openxmlformats.org/drawingml/2006/main">
              <a:ext uri="{FF2B5EF4-FFF2-40B4-BE49-F238E27FC236}">
                <a16:creationId xmlns:a16="http://schemas.microsoft.com/office/drawing/2014/main" id="{81F8EBEC-FDE1-4D27-B827-E744DE15D5DF}"/>
              </a:ext>
            </a:extLst>
          </p:cNvPr>
          <p:cNvPicPr>
            <a:picLocks xmlns:a="http://schemas.openxmlformats.org/drawingml/2006/main" noChangeAspect="1"/>
          </p:cNvPicPr>
          <p:nvPr/>
        </p:nvPicPr>
        <p:blipFill>
          <a:blip xmlns:r="http://schemas.openxmlformats.org/officeDocument/2006/relationships" xmlns:a="http://schemas.openxmlformats.org/drawingml/2006/main" r:embed="Rf7af1fbbecce4bad"/>
          <a:srcRect xmlns:a="http://schemas.openxmlformats.org/drawingml/2006/main" l="0" t="0" r="0" b="0"/>
          <a:stretch xmlns:a="http://schemas.openxmlformats.org/drawingml/2006/main"/>
        </p:blipFill>
        <p:spPr>
          <a:xfrm xmlns:a="http://schemas.openxmlformats.org/drawingml/2006/main">
            <a:off x="11156950" y="514350"/>
            <a:ext cx="139700" cy="88900"/>
          </a:xfrm>
          <a:prstGeom xmlns:a="http://schemas.openxmlformats.org/drawingml/2006/main" prst="rect">
            <a:avLst/>
          </a:prstGeom>
        </p:spPr>
      </p:pic>
      <p:sp>
        <p:nvSpPr>
          <p:cNvPr id="8" name="Text 4">
            <a:extLst xmlns:a="http://schemas.openxmlformats.org/drawingml/2006/main">
              <a:ext uri="{FF2B5EF4-FFF2-40B4-BE49-F238E27FC236}">
                <a16:creationId xmlns:a16="http://schemas.microsoft.com/office/drawing/2014/main" id="{1AD5DA40-CA67-4FB9-8697-C1D6235385D9}"/>
              </a:ext>
            </a:extLst>
          </p:cNvPr>
          <p:cNvSpPr>
            <a:spLocks xmlns:a="http://schemas.openxmlformats.org/drawingml/2006/main" noGrp="1"/>
          </p:cNvSpPr>
          <p:nvPr/>
        </p:nvSpPr>
        <p:spPr>
          <a:xfrm xmlns:a="http://schemas.openxmlformats.org/drawingml/2006/main">
            <a:off x="812800" y="2211520"/>
            <a:ext cx="10883392" cy="29970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60"/>
              </a:lnSpc>
              <a:buNone/>
            </a:pPr>
            <a:r>
              <a:rPr sz="1800" b="1">
                <a:solidFill>
                  <a:srgbClr val="111214"/>
                </a:solidFill>
                <a:latin typeface="Inter"/>
                <a:ea typeface="Inter"/>
                <a:cs typeface="Inter"/>
              </a:rPr>
              <a:t>Smart SME Challenge</a:t>
            </a:r>
            <a:endParaRPr sz="1800"/>
          </a:p>
        </p:txBody>
      </p:sp>
      <p:pic>
        <p:nvPicPr>
          <p:cNvPr id="9" name="Image 2">
            <a:extLst xmlns:a="http://schemas.openxmlformats.org/drawingml/2006/main">
              <a:ext uri="{FF2B5EF4-FFF2-40B4-BE49-F238E27FC236}">
                <a16:creationId xmlns:a16="http://schemas.microsoft.com/office/drawing/2014/main" id="{09FF7CA2-D979-45BF-A8C4-35CAA0C07645}"/>
              </a:ext>
            </a:extLst>
          </p:cNvPr>
          <p:cNvPicPr>
            <a:picLocks xmlns:a="http://schemas.openxmlformats.org/drawingml/2006/main" noChangeAspect="1"/>
          </p:cNvPicPr>
          <p:nvPr/>
        </p:nvPicPr>
        <p:blipFill>
          <a:blip xmlns:r="http://schemas.openxmlformats.org/officeDocument/2006/relationships" xmlns:a="http://schemas.openxmlformats.org/drawingml/2006/main" r:embed="R47af493214374a8f"/>
          <a:srcRect xmlns:a="http://schemas.openxmlformats.org/drawingml/2006/main" l="0" t="-78" r="0" b="-78"/>
          <a:stretch xmlns:a="http://schemas.openxmlformats.org/drawingml/2006/main"/>
        </p:blipFill>
        <p:spPr>
          <a:xfrm xmlns:a="http://schemas.openxmlformats.org/drawingml/2006/main">
            <a:off x="812800" y="2835077"/>
            <a:ext cx="1473200" cy="1397000"/>
          </a:xfrm>
          <a:prstGeom xmlns:a="http://schemas.openxmlformats.org/drawingml/2006/main" prst="rect">
            <a:avLst/>
          </a:prstGeom>
        </p:spPr>
      </p:pic>
      <p:sp>
        <p:nvSpPr>
          <p:cNvPr id="10" name="Text 5">
            <a:extLst xmlns:a="http://schemas.openxmlformats.org/drawingml/2006/main">
              <a:ext uri="{FF2B5EF4-FFF2-40B4-BE49-F238E27FC236}">
                <a16:creationId xmlns:a16="http://schemas.microsoft.com/office/drawing/2014/main" id="{1E569A0F-88AF-4D1B-8265-C87953F9C68A}"/>
              </a:ext>
            </a:extLst>
          </p:cNvPr>
          <p:cNvSpPr>
            <a:spLocks xmlns:a="http://schemas.openxmlformats.org/drawingml/2006/main" noGrp="1"/>
          </p:cNvSpPr>
          <p:nvPr>
            <p:ph type="title" idx="0"/>
          </p:nvPr>
        </p:nvSpPr>
        <p:spPr>
          <a:xfrm xmlns:a="http://schemas.openxmlformats.org/drawingml/2006/main">
            <a:off x="2641600" y="2689027"/>
            <a:ext cx="9550400" cy="171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3300"/>
              </a:lnSpc>
              <a:buNone/>
            </a:pPr>
            <a:r>
              <a:rPr sz="14000" b="0" i="0">
                <a:solidFill>
                  <a:srgbClr val="111214"/>
                </a:solidFill>
                <a:latin typeface="Inter Tight"/>
                <a:ea typeface="Inter Tight"/>
                <a:cs typeface="Inter Tight"/>
              </a:rPr>
              <a:t>WAREORB</a:t>
            </a:r>
            <a:endParaRPr sz="14000"/>
          </a:p>
        </p:txBody>
      </p:sp>
      <p:sp>
        <p:nvSpPr>
          <p:cNvPr id="11" name="Shape 6">
            <a:extLst xmlns:a="http://schemas.openxmlformats.org/drawingml/2006/main">
              <a:ext uri="{FF2B5EF4-FFF2-40B4-BE49-F238E27FC236}">
                <a16:creationId xmlns:a16="http://schemas.microsoft.com/office/drawing/2014/main" id="{A17DE6AE-6831-4B14-97E9-A8EAE352978A}"/>
              </a:ext>
            </a:extLst>
          </p:cNvPr>
          <p:cNvSpPr>
            <a:spLocks xmlns:a="http://schemas.openxmlformats.org/drawingml/2006/main" noGrp="1"/>
          </p:cNvSpPr>
          <p:nvPr/>
        </p:nvSpPr>
        <p:spPr>
          <a:xfrm xmlns:a="http://schemas.openxmlformats.org/drawingml/2006/main">
            <a:off x="812800" y="4584502"/>
            <a:ext cx="5715000" cy="0"/>
          </a:xfrm>
          <a:prstGeom xmlns:a="http://schemas.openxmlformats.org/drawingml/2006/main" prst="line">
            <a:avLst/>
          </a:prstGeom>
          <a:noFill xmlns:a="http://schemas.openxmlformats.org/drawingml/2006/main"/>
          <a:ln xmlns:a="http://schemas.openxmlformats.org/drawingml/2006/main" w="6350">
            <a:solidFill>
              <a:srgbClr val="DAD7D0"/>
            </a:solidFill>
            <a:prstDash val="solid"/>
          </a:ln>
        </p:spPr>
      </p:sp>
      <p:sp>
        <p:nvSpPr>
          <p:cNvPr id="12" name="Text 7">
            <a:extLst xmlns:a="http://schemas.openxmlformats.org/drawingml/2006/main">
              <a:ext uri="{FF2B5EF4-FFF2-40B4-BE49-F238E27FC236}">
                <a16:creationId xmlns:a16="http://schemas.microsoft.com/office/drawing/2014/main" id="{68F5D3F0-C501-4207-8E1F-0A13C18D6615}"/>
              </a:ext>
            </a:extLst>
          </p:cNvPr>
          <p:cNvSpPr>
            <a:spLocks xmlns:a="http://schemas.openxmlformats.org/drawingml/2006/main" noGrp="1"/>
          </p:cNvSpPr>
          <p:nvPr/>
        </p:nvSpPr>
        <p:spPr>
          <a:xfrm xmlns:a="http://schemas.openxmlformats.org/drawingml/2006/main">
            <a:off x="812800" y="4788760"/>
            <a:ext cx="5886450" cy="289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080"/>
              </a:lnSpc>
              <a:buNone/>
            </a:pPr>
            <a:r>
              <a:rPr sz="1600" b="1">
                <a:solidFill>
                  <a:srgbClr val="111214"/>
                </a:solidFill>
                <a:latin typeface="Inter"/>
                <a:ea typeface="Inter"/>
                <a:cs typeface="Inter"/>
              </a:rPr>
              <a:t>Make room for stock that sells</a:t>
            </a:r>
            <a:endParaRPr sz="1600"/>
          </a:p>
        </p:txBody>
      </p:sp>
    </p:spTree>
    <p:extLst>
      <p:ext uri="{BB962C8B-B14F-4D97-AF65-F5344CB8AC3E}">
        <p14:creationId xmlns:p14="http://schemas.microsoft.com/office/powerpoint/2010/main" val="1557544437"/>
      </p:ext>
    </p:extLst>
  </p:cSld>
</p:sld>
</file>

<file path=ppt/slides/slide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75473B21-7D68-4D15-AD5E-1B297E680B1D}"/>
              </a:ext>
            </a:extLst>
          </p:cNvPr>
          <p:cNvPicPr>
            <a:picLocks xmlns:a="http://schemas.openxmlformats.org/drawingml/2006/main" noChangeAspect="1"/>
          </p:cNvPicPr>
          <p:nvPr/>
        </p:nvPicPr>
        <p:blipFill>
          <a:blip xmlns:r="http://schemas.openxmlformats.org/officeDocument/2006/relationships" xmlns:a="http://schemas.openxmlformats.org/drawingml/2006/main" r:embed="R5a3bf62ea48d438d"/>
          <a:srcRect xmlns:a="http://schemas.openxmlformats.org/drawingml/2006/main" l="-111" t="0" r="-111" b="0"/>
          <a:stretch xmlns:a="http://schemas.openxmlformats.org/drawingml/2006/main"/>
        </p:blipFill>
        <p:spPr>
          <a:xfrm xmlns:a="http://schemas.openxmlformats.org/drawingml/2006/main">
            <a:off x="812800" y="431800"/>
            <a:ext cx="1435100" cy="254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36D1FA72-5A50-48C8-B0F1-422B7BC0810D}"/>
              </a:ext>
            </a:extLst>
          </p:cNvPr>
          <p:cNvSpPr>
            <a:spLocks xmlns:a="http://schemas.openxmlformats.org/drawingml/2006/main" noGrp="1"/>
          </p:cNvSpPr>
          <p:nvPr/>
        </p:nvSpPr>
        <p:spPr>
          <a:xfrm xmlns:a="http://schemas.openxmlformats.org/drawingml/2006/main">
            <a:off x="11074400" y="406400"/>
            <a:ext cx="304800" cy="304800"/>
          </a:xfrm>
          <a:prstGeom xmlns:a="http://schemas.openxmlformats.org/drawingml/2006/main" prst="roundRect">
            <a:avLst>
              <a:gd name="adj" fmla="val 50000"/>
            </a:avLst>
          </a:prstGeom>
          <a:solidFill xmlns:a="http://schemas.openxmlformats.org/drawingml/2006/main">
            <a:srgbClr val="4F8BEA"/>
          </a:solidFill>
        </p:spPr>
      </p:sp>
      <p:pic>
        <p:nvPicPr>
          <p:cNvPr id="4" name="Image 1">
            <a:extLst xmlns:a="http://schemas.openxmlformats.org/drawingml/2006/main">
              <a:ext uri="{FF2B5EF4-FFF2-40B4-BE49-F238E27FC236}">
                <a16:creationId xmlns:a16="http://schemas.microsoft.com/office/drawing/2014/main" id="{C99DB099-2AB6-4A4C-9E94-6CCBBA343E75}"/>
              </a:ext>
            </a:extLst>
          </p:cNvPr>
          <p:cNvPicPr>
            <a:picLocks xmlns:a="http://schemas.openxmlformats.org/drawingml/2006/main" noChangeAspect="1"/>
          </p:cNvPicPr>
          <p:nvPr/>
        </p:nvPicPr>
        <p:blipFill>
          <a:blip xmlns:r="http://schemas.openxmlformats.org/officeDocument/2006/relationships" xmlns:a="http://schemas.openxmlformats.org/drawingml/2006/main" r:embed="R0d7ec2f3206a4230"/>
          <a:srcRect xmlns:a="http://schemas.openxmlformats.org/drawingml/2006/main" l="0" t="0" r="0" b="0"/>
          <a:stretch xmlns:a="http://schemas.openxmlformats.org/drawingml/2006/main"/>
        </p:blipFill>
        <p:spPr>
          <a:xfrm xmlns:a="http://schemas.openxmlformats.org/drawingml/2006/main">
            <a:off x="11156950" y="514350"/>
            <a:ext cx="139700" cy="88900"/>
          </a:xfrm>
          <a:prstGeom xmlns:a="http://schemas.openxmlformats.org/drawingml/2006/main" prst="rect">
            <a:avLst/>
          </a:prstGeom>
        </p:spPr>
      </p:pic>
      <p:sp>
        <p:nvSpPr>
          <p:cNvPr id="5" name="Text 1">
            <a:extLst xmlns:a="http://schemas.openxmlformats.org/drawingml/2006/main">
              <a:ext uri="{FF2B5EF4-FFF2-40B4-BE49-F238E27FC236}">
                <a16:creationId xmlns:a16="http://schemas.microsoft.com/office/drawing/2014/main" id="{E2EA1676-85CE-49D0-89D1-F14729C64D0C}"/>
              </a:ext>
            </a:extLst>
          </p:cNvPr>
          <p:cNvSpPr>
            <a:spLocks xmlns:a="http://schemas.openxmlformats.org/drawingml/2006/main" noGrp="1"/>
          </p:cNvSpPr>
          <p:nvPr>
            <p:ph type="title" idx="0"/>
          </p:nvPr>
        </p:nvSpPr>
        <p:spPr>
          <a:xfrm xmlns:a="http://schemas.openxmlformats.org/drawingml/2006/main">
            <a:off x="812800" y="1219200"/>
            <a:ext cx="10883392" cy="66542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4650"/>
            </a:defPPr>
            <a:lvl1pPr>
              <a:defRPr sz="4650"/>
            </a:lvl1pPr>
            <a:lvl2pPr>
              <a:defRPr sz="4650"/>
            </a:lvl2pPr>
            <a:lvl3pPr>
              <a:defRPr sz="4650"/>
            </a:lvl3pPr>
            <a:lvl4pPr>
              <a:defRPr sz="4650"/>
            </a:lvl4pPr>
            <a:lvl5pPr>
              <a:defRPr sz="4650"/>
            </a:lvl5pPr>
            <a:lvl6pPr>
              <a:defRPr sz="4650"/>
            </a:lvl6pPr>
            <a:lvl7pPr>
              <a:defRPr sz="4650"/>
            </a:lvl7pPr>
            <a:lvl8pPr>
              <a:defRPr sz="4650"/>
            </a:lvl8pPr>
            <a:lvl9pPr>
              <a:defRPr sz="4650"/>
            </a:lvl9pPr>
          </a:lstStyle>
          <a:p xmlns:a="http://schemas.openxmlformats.org/drawingml/2006/main">
            <a:pPr marL="0" indent="0" algn="l">
              <a:lnSpc>
                <a:spcPts val="5040"/>
              </a:lnSpc>
              <a:buNone/>
            </a:pPr>
            <a:r>
              <a:rPr sz="4650" b="0" i="0">
                <a:solidFill>
                  <a:srgbClr val="111214"/>
                </a:solidFill>
                <a:latin typeface="Inter Tight"/>
                <a:ea typeface="Inter Tight"/>
                <a:cs typeface="Inter Tight"/>
              </a:rPr>
              <a:t>Slow stock ties up space and cash</a:t>
            </a:r>
            <a:endParaRPr sz="4800"/>
          </a:p>
        </p:txBody>
      </p:sp>
      <p:sp>
        <p:nvSpPr>
          <p:cNvPr id="6" name="Shape 2">
            <a:extLst xmlns:a="http://schemas.openxmlformats.org/drawingml/2006/main">
              <a:ext uri="{FF2B5EF4-FFF2-40B4-BE49-F238E27FC236}">
                <a16:creationId xmlns:a16="http://schemas.microsoft.com/office/drawing/2014/main" id="{4F093A8F-4E6B-488B-A67F-A48A1A13B514}"/>
              </a:ext>
            </a:extLst>
          </p:cNvPr>
          <p:cNvSpPr>
            <a:spLocks xmlns:a="http://schemas.openxmlformats.org/drawingml/2006/main" noGrp="1"/>
          </p:cNvSpPr>
          <p:nvPr/>
        </p:nvSpPr>
        <p:spPr>
          <a:xfrm xmlns:a="http://schemas.openxmlformats.org/drawingml/2006/main">
            <a:off x="812800" y="2784806"/>
            <a:ext cx="5486400" cy="0"/>
          </a:xfrm>
          <a:prstGeom xmlns:a="http://schemas.openxmlformats.org/drawingml/2006/main" prst="line">
            <a:avLst/>
          </a:prstGeom>
          <a:noFill xmlns:a="http://schemas.openxmlformats.org/drawingml/2006/main"/>
          <a:ln xmlns:a="http://schemas.openxmlformats.org/drawingml/2006/main" w="6350">
            <a:solidFill>
              <a:srgbClr val="DAD7D0"/>
            </a:solidFill>
            <a:prstDash val="solid"/>
          </a:ln>
        </p:spPr>
      </p:sp>
      <p:sp>
        <p:nvSpPr>
          <p:cNvPr id="7" name="Text 3">
            <a:extLst xmlns:a="http://schemas.openxmlformats.org/drawingml/2006/main">
              <a:ext uri="{FF2B5EF4-FFF2-40B4-BE49-F238E27FC236}">
                <a16:creationId xmlns:a16="http://schemas.microsoft.com/office/drawing/2014/main" id="{94DB3D10-E4BB-48AC-94E8-C783E9048EDF}"/>
              </a:ext>
            </a:extLst>
          </p:cNvPr>
          <p:cNvSpPr>
            <a:spLocks xmlns:a="http://schemas.openxmlformats.org/drawingml/2006/main" noGrp="1"/>
          </p:cNvSpPr>
          <p:nvPr/>
        </p:nvSpPr>
        <p:spPr>
          <a:xfrm xmlns:a="http://schemas.openxmlformats.org/drawingml/2006/main">
            <a:off x="812800" y="2341828"/>
            <a:ext cx="21583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A64C8"/>
                </a:solidFill>
                <a:latin typeface="Inter"/>
                <a:ea typeface="Inter"/>
                <a:cs typeface="Inter"/>
              </a:rPr>
              <a:t>01</a:t>
            </a:r>
            <a:endParaRPr sz="1200"/>
          </a:p>
        </p:txBody>
      </p:sp>
      <p:sp>
        <p:nvSpPr>
          <p:cNvPr id="8" name="Text 4">
            <a:extLst xmlns:a="http://schemas.openxmlformats.org/drawingml/2006/main">
              <a:ext uri="{FF2B5EF4-FFF2-40B4-BE49-F238E27FC236}">
                <a16:creationId xmlns:a16="http://schemas.microsoft.com/office/drawing/2014/main" id="{17BEB36E-A88C-41C4-9EC0-6A2726AE4F9B}"/>
              </a:ext>
            </a:extLst>
          </p:cNvPr>
          <p:cNvSpPr>
            <a:spLocks xmlns:a="http://schemas.openxmlformats.org/drawingml/2006/main" noGrp="1"/>
          </p:cNvSpPr>
          <p:nvPr/>
        </p:nvSpPr>
        <p:spPr>
          <a:xfrm xmlns:a="http://schemas.openxmlformats.org/drawingml/2006/main">
            <a:off x="1155634" y="2265628"/>
            <a:ext cx="4953000" cy="3911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880"/>
              </a:lnSpc>
              <a:buNone/>
            </a:pPr>
            <a:r>
              <a:rPr sz="2400">
                <a:solidFill>
                  <a:srgbClr val="111214"/>
                </a:solidFill>
                <a:latin typeface="Inter Tight"/>
                <a:ea typeface="Inter Tight"/>
                <a:cs typeface="Inter Tight"/>
              </a:rPr>
              <a:t>Capital tied up</a:t>
            </a:r>
            <a:endParaRPr sz="2400"/>
          </a:p>
        </p:txBody>
      </p:sp>
      <p:sp>
        <p:nvSpPr>
          <p:cNvPr id="9" name="Shape 5">
            <a:extLst xmlns:a="http://schemas.openxmlformats.org/drawingml/2006/main">
              <a:ext uri="{FF2B5EF4-FFF2-40B4-BE49-F238E27FC236}">
                <a16:creationId xmlns:a16="http://schemas.microsoft.com/office/drawing/2014/main" id="{CADADDEB-36D6-4922-9F41-0772A5CC260E}"/>
              </a:ext>
            </a:extLst>
          </p:cNvPr>
          <p:cNvSpPr>
            <a:spLocks xmlns:a="http://schemas.openxmlformats.org/drawingml/2006/main" noGrp="1"/>
          </p:cNvSpPr>
          <p:nvPr/>
        </p:nvSpPr>
        <p:spPr>
          <a:xfrm xmlns:a="http://schemas.openxmlformats.org/drawingml/2006/main">
            <a:off x="812800" y="3459560"/>
            <a:ext cx="5486400" cy="0"/>
          </a:xfrm>
          <a:prstGeom xmlns:a="http://schemas.openxmlformats.org/drawingml/2006/main" prst="line">
            <a:avLst/>
          </a:prstGeom>
          <a:noFill xmlns:a="http://schemas.openxmlformats.org/drawingml/2006/main"/>
          <a:ln xmlns:a="http://schemas.openxmlformats.org/drawingml/2006/main" w="6350">
            <a:solidFill>
              <a:srgbClr val="DAD7D0"/>
            </a:solidFill>
            <a:prstDash val="solid"/>
          </a:ln>
        </p:spPr>
      </p:sp>
      <p:sp>
        <p:nvSpPr>
          <p:cNvPr id="10" name="Text 6">
            <a:extLst xmlns:a="http://schemas.openxmlformats.org/drawingml/2006/main">
              <a:ext uri="{FF2B5EF4-FFF2-40B4-BE49-F238E27FC236}">
                <a16:creationId xmlns:a16="http://schemas.microsoft.com/office/drawing/2014/main" id="{A8272797-5E4C-4A3C-8487-04E4C45E949A}"/>
              </a:ext>
            </a:extLst>
          </p:cNvPr>
          <p:cNvSpPr>
            <a:spLocks xmlns:a="http://schemas.openxmlformats.org/drawingml/2006/main" noGrp="1"/>
          </p:cNvSpPr>
          <p:nvPr/>
        </p:nvSpPr>
        <p:spPr>
          <a:xfrm xmlns:a="http://schemas.openxmlformats.org/drawingml/2006/main">
            <a:off x="812800" y="3016581"/>
            <a:ext cx="24632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A64C8"/>
                </a:solidFill>
                <a:latin typeface="Inter"/>
                <a:ea typeface="Inter"/>
                <a:cs typeface="Inter"/>
              </a:rPr>
              <a:t>02</a:t>
            </a:r>
            <a:endParaRPr sz="1200"/>
          </a:p>
        </p:txBody>
      </p:sp>
      <p:sp>
        <p:nvSpPr>
          <p:cNvPr id="11" name="Text 7">
            <a:extLst xmlns:a="http://schemas.openxmlformats.org/drawingml/2006/main">
              <a:ext uri="{FF2B5EF4-FFF2-40B4-BE49-F238E27FC236}">
                <a16:creationId xmlns:a16="http://schemas.microsoft.com/office/drawing/2014/main" id="{E2A95D09-9DE4-426C-B85F-DE98170992BE}"/>
              </a:ext>
            </a:extLst>
          </p:cNvPr>
          <p:cNvSpPr>
            <a:spLocks xmlns:a="http://schemas.openxmlformats.org/drawingml/2006/main" noGrp="1"/>
          </p:cNvSpPr>
          <p:nvPr/>
        </p:nvSpPr>
        <p:spPr>
          <a:xfrm xmlns:a="http://schemas.openxmlformats.org/drawingml/2006/main">
            <a:off x="1186127" y="2940381"/>
            <a:ext cx="4953000" cy="3911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880"/>
              </a:lnSpc>
              <a:buNone/>
            </a:pPr>
            <a:r>
              <a:rPr sz="2400">
                <a:solidFill>
                  <a:srgbClr val="111214"/>
                </a:solidFill>
                <a:latin typeface="Inter Tight"/>
                <a:ea typeface="Inter Tight"/>
                <a:cs typeface="Inter Tight"/>
              </a:rPr>
              <a:t>Usable space occupied</a:t>
            </a:r>
            <a:endParaRPr sz="2400"/>
          </a:p>
        </p:txBody>
      </p:sp>
      <p:sp>
        <p:nvSpPr>
          <p:cNvPr id="12" name="Shape 8">
            <a:extLst xmlns:a="http://schemas.openxmlformats.org/drawingml/2006/main">
              <a:ext uri="{FF2B5EF4-FFF2-40B4-BE49-F238E27FC236}">
                <a16:creationId xmlns:a16="http://schemas.microsoft.com/office/drawing/2014/main" id="{FC40C094-3444-48F1-B35A-B084B3DC71AD}"/>
              </a:ext>
            </a:extLst>
          </p:cNvPr>
          <p:cNvSpPr>
            <a:spLocks xmlns:a="http://schemas.openxmlformats.org/drawingml/2006/main" noGrp="1"/>
          </p:cNvSpPr>
          <p:nvPr/>
        </p:nvSpPr>
        <p:spPr>
          <a:xfrm xmlns:a="http://schemas.openxmlformats.org/drawingml/2006/main">
            <a:off x="812800" y="4134313"/>
            <a:ext cx="5486400" cy="0"/>
          </a:xfrm>
          <a:prstGeom xmlns:a="http://schemas.openxmlformats.org/drawingml/2006/main" prst="line">
            <a:avLst/>
          </a:prstGeom>
          <a:noFill xmlns:a="http://schemas.openxmlformats.org/drawingml/2006/main"/>
          <a:ln xmlns:a="http://schemas.openxmlformats.org/drawingml/2006/main" w="6350">
            <a:solidFill>
              <a:srgbClr val="DAD7D0"/>
            </a:solidFill>
            <a:prstDash val="solid"/>
          </a:ln>
        </p:spPr>
      </p:sp>
      <p:sp>
        <p:nvSpPr>
          <p:cNvPr id="13" name="Text 9">
            <a:extLst xmlns:a="http://schemas.openxmlformats.org/drawingml/2006/main">
              <a:ext uri="{FF2B5EF4-FFF2-40B4-BE49-F238E27FC236}">
                <a16:creationId xmlns:a16="http://schemas.microsoft.com/office/drawing/2014/main" id="{C74EE322-B629-4F9C-A8FB-DA01BE984F38}"/>
              </a:ext>
            </a:extLst>
          </p:cNvPr>
          <p:cNvSpPr>
            <a:spLocks xmlns:a="http://schemas.openxmlformats.org/drawingml/2006/main" noGrp="1"/>
          </p:cNvSpPr>
          <p:nvPr/>
        </p:nvSpPr>
        <p:spPr>
          <a:xfrm xmlns:a="http://schemas.openxmlformats.org/drawingml/2006/main">
            <a:off x="812800" y="3691334"/>
            <a:ext cx="2483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A64C8"/>
                </a:solidFill>
                <a:latin typeface="Inter"/>
                <a:ea typeface="Inter"/>
                <a:cs typeface="Inter"/>
              </a:rPr>
              <a:t>03</a:t>
            </a:r>
            <a:endParaRPr sz="1200"/>
          </a:p>
        </p:txBody>
      </p:sp>
      <p:sp>
        <p:nvSpPr>
          <p:cNvPr id="14" name="Text 10">
            <a:extLst xmlns:a="http://schemas.openxmlformats.org/drawingml/2006/main">
              <a:ext uri="{FF2B5EF4-FFF2-40B4-BE49-F238E27FC236}">
                <a16:creationId xmlns:a16="http://schemas.microsoft.com/office/drawing/2014/main" id="{987DC978-BE11-4556-993D-AAB26DA1EEEF}"/>
              </a:ext>
            </a:extLst>
          </p:cNvPr>
          <p:cNvSpPr>
            <a:spLocks xmlns:a="http://schemas.openxmlformats.org/drawingml/2006/main" noGrp="1"/>
          </p:cNvSpPr>
          <p:nvPr/>
        </p:nvSpPr>
        <p:spPr>
          <a:xfrm xmlns:a="http://schemas.openxmlformats.org/drawingml/2006/main">
            <a:off x="1188111" y="3615134"/>
            <a:ext cx="4953000" cy="3911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880"/>
              </a:lnSpc>
              <a:buNone/>
            </a:pPr>
            <a:r>
              <a:rPr sz="2400">
                <a:solidFill>
                  <a:srgbClr val="111214"/>
                </a:solidFill>
                <a:latin typeface="Inter Tight"/>
                <a:ea typeface="Inter Tight"/>
                <a:cs typeface="Inter Tight"/>
              </a:rPr>
              <a:t>Proven sellers delayed</a:t>
            </a:r>
            <a:endParaRPr sz="2400"/>
          </a:p>
        </p:txBody>
      </p:sp>
      <p:sp>
        <p:nvSpPr>
          <p:cNvPr id="15" name="Text 11">
            <a:extLst xmlns:a="http://schemas.openxmlformats.org/drawingml/2006/main">
              <a:ext uri="{FF2B5EF4-FFF2-40B4-BE49-F238E27FC236}">
                <a16:creationId xmlns:a16="http://schemas.microsoft.com/office/drawing/2014/main" id="{A48B1DB1-9727-4213-975E-75FC18880C61}"/>
              </a:ext>
            </a:extLst>
          </p:cNvPr>
          <p:cNvSpPr>
            <a:spLocks xmlns:a="http://schemas.openxmlformats.org/drawingml/2006/main" noGrp="1"/>
          </p:cNvSpPr>
          <p:nvPr/>
        </p:nvSpPr>
        <p:spPr>
          <a:xfrm xmlns:a="http://schemas.openxmlformats.org/drawingml/2006/main">
            <a:off x="812800" y="4391489"/>
            <a:ext cx="5650992" cy="25651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820"/>
              </a:lnSpc>
              <a:buNone/>
            </a:pPr>
            <a:r>
              <a:rPr sz="1300" b="1">
                <a:solidFill>
                  <a:srgbClr val="2A64C8"/>
                </a:solidFill>
                <a:latin typeface="Inter"/>
                <a:ea typeface="Inter"/>
                <a:cs typeface="Inter"/>
              </a:rPr>
              <a:t>Clearing stock is a business decision</a:t>
            </a:r>
            <a:endParaRPr sz="1300"/>
          </a:p>
        </p:txBody>
      </p:sp>
      <p:sp>
        <p:nvSpPr>
          <p:cNvPr id="16" name="Text 12">
            <a:extLst xmlns:a="http://schemas.openxmlformats.org/drawingml/2006/main">
              <a:ext uri="{FF2B5EF4-FFF2-40B4-BE49-F238E27FC236}">
                <a16:creationId xmlns:a16="http://schemas.microsoft.com/office/drawing/2014/main" id="{EFB3072A-7EEF-4E7C-8DB0-CEFA528C805F}"/>
              </a:ext>
            </a:extLst>
          </p:cNvPr>
          <p:cNvSpPr>
            <a:spLocks xmlns:a="http://schemas.openxmlformats.org/drawingml/2006/main" noGrp="1"/>
          </p:cNvSpPr>
          <p:nvPr/>
        </p:nvSpPr>
        <p:spPr>
          <a:xfrm xmlns:a="http://schemas.openxmlformats.org/drawingml/2006/main">
            <a:off x="812800" y="4673402"/>
            <a:ext cx="5650992" cy="29970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500"/>
            </a:defPPr>
            <a:lvl1pPr>
              <a:defRPr sz="1500"/>
            </a:lvl1pPr>
            <a:lvl2pPr>
              <a:defRPr sz="1500"/>
            </a:lvl2pPr>
            <a:lvl3pPr>
              <a:defRPr sz="1500"/>
            </a:lvl3pPr>
            <a:lvl4pPr>
              <a:defRPr sz="1500"/>
            </a:lvl4pPr>
            <a:lvl5pPr>
              <a:defRPr sz="1500"/>
            </a:lvl5pPr>
            <a:lvl6pPr>
              <a:defRPr sz="1500"/>
            </a:lvl6pPr>
            <a:lvl7pPr>
              <a:defRPr sz="1500"/>
            </a:lvl7pPr>
            <a:lvl8pPr>
              <a:defRPr sz="1500"/>
            </a:lvl8pPr>
            <a:lvl9pPr>
              <a:defRPr sz="1500"/>
            </a:lvl9pPr>
          </a:lstStyle>
          <a:p xmlns:a="http://schemas.openxmlformats.org/drawingml/2006/main">
            <a:pPr marL="0" indent="0" algn="l">
              <a:lnSpc>
                <a:spcPts val="2160"/>
              </a:lnSpc>
              <a:buNone/>
            </a:pPr>
            <a:r>
              <a:rPr sz="1500">
                <a:solidFill>
                  <a:srgbClr val="111214"/>
                </a:solidFill>
                <a:latin typeface="Inter"/>
                <a:ea typeface="Inter"/>
                <a:cs typeface="Inter"/>
              </a:rPr>
              <a:t>Net recovery, collection timing and restock costs</a:t>
            </a:r>
            <a:endParaRPr sz="1600"/>
          </a:p>
        </p:txBody>
      </p:sp>
      <p:sp>
        <p:nvSpPr>
          <p:cNvPr id="17" name="Shape 13">
            <a:extLst xmlns:a="http://schemas.openxmlformats.org/drawingml/2006/main">
              <a:ext uri="{FF2B5EF4-FFF2-40B4-BE49-F238E27FC236}">
                <a16:creationId xmlns:a16="http://schemas.microsoft.com/office/drawing/2014/main" id="{E36CD547-ACC1-42ED-B7EB-AD3B1E87BAF9}"/>
              </a:ext>
            </a:extLst>
          </p:cNvPr>
          <p:cNvSpPr>
            <a:spLocks xmlns:a="http://schemas.openxmlformats.org/drawingml/2006/main" noGrp="1"/>
          </p:cNvSpPr>
          <p:nvPr/>
        </p:nvSpPr>
        <p:spPr>
          <a:xfrm xmlns:a="http://schemas.openxmlformats.org/drawingml/2006/main">
            <a:off x="6813550" y="2271978"/>
            <a:ext cx="4559300" cy="2844800"/>
          </a:xfrm>
          <a:prstGeom xmlns:a="http://schemas.openxmlformats.org/drawingml/2006/main" prst="roundRect">
            <a:avLst>
              <a:gd name="adj" fmla="val 4241"/>
            </a:avLst>
          </a:prstGeom>
          <a:solidFill xmlns:a="http://schemas.openxmlformats.org/drawingml/2006/main">
            <a:srgbClr val="ECE9E2"/>
          </a:solidFill>
          <a:ln xmlns:a="http://schemas.openxmlformats.org/drawingml/2006/main" w="12700">
            <a:solidFill>
              <a:srgbClr val="C9C5BC"/>
            </a:solidFill>
            <a:prstDash val="dash"/>
          </a:ln>
        </p:spPr>
      </p:sp>
      <p:sp>
        <p:nvSpPr>
          <p:cNvPr id="18" name="Text 14">
            <a:extLst xmlns:a="http://schemas.openxmlformats.org/drawingml/2006/main">
              <a:ext uri="{FF2B5EF4-FFF2-40B4-BE49-F238E27FC236}">
                <a16:creationId xmlns:a16="http://schemas.microsoft.com/office/drawing/2014/main" id="{EE830969-4C45-45B4-B7A2-5B4A85884C1D}"/>
              </a:ext>
            </a:extLst>
          </p:cNvPr>
          <p:cNvSpPr>
            <a:spLocks xmlns:a="http://schemas.openxmlformats.org/drawingml/2006/main" noGrp="1"/>
          </p:cNvSpPr>
          <p:nvPr/>
        </p:nvSpPr>
        <p:spPr>
          <a:xfrm xmlns:a="http://schemas.openxmlformats.org/drawingml/2006/main">
            <a:off x="8170546" y="3422584"/>
            <a:ext cx="18453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5B6070"/>
                </a:solidFill>
                <a:latin typeface="Inter"/>
                <a:ea typeface="Inter"/>
                <a:cs typeface="Inter"/>
              </a:rPr>
              <a:t>SCREENSHOT · 16:10</a:t>
            </a:r>
            <a:endParaRPr sz="1200"/>
          </a:p>
        </p:txBody>
      </p:sp>
      <p:sp>
        <p:nvSpPr>
          <p:cNvPr id="19" name="Text 15">
            <a:extLst xmlns:a="http://schemas.openxmlformats.org/drawingml/2006/main">
              <a:ext uri="{FF2B5EF4-FFF2-40B4-BE49-F238E27FC236}">
                <a16:creationId xmlns:a16="http://schemas.microsoft.com/office/drawing/2014/main" id="{F567CC89-122D-428B-8376-66742CBC4A50}"/>
              </a:ext>
            </a:extLst>
          </p:cNvPr>
          <p:cNvSpPr>
            <a:spLocks xmlns:a="http://schemas.openxmlformats.org/drawingml/2006/main" noGrp="1"/>
          </p:cNvSpPr>
          <p:nvPr/>
        </p:nvSpPr>
        <p:spPr>
          <a:xfrm xmlns:a="http://schemas.openxmlformats.org/drawingml/2006/main">
            <a:off x="7310207" y="3699404"/>
            <a:ext cx="3565922"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2100"/>
              </a:lnSpc>
              <a:buNone/>
            </a:pPr>
            <a:r>
              <a:rPr sz="1500">
                <a:solidFill>
                  <a:srgbClr val="111214"/>
                </a:solidFill>
                <a:latin typeface="Inter"/>
                <a:ea typeface="Inter"/>
                <a:cs typeface="Inter"/>
              </a:rPr>
              <a:t>Warehouse · slow batch selected</a:t>
            </a:r>
            <a:endParaRPr sz="1500"/>
          </a:p>
        </p:txBody>
      </p:sp>
      <p:sp>
        <p:nvSpPr>
          <p:cNvPr id="20" name="stock-context">
            <a:extLst xmlns:a="http://schemas.openxmlformats.org/drawingml/2006/main">
              <a:ext uri="{FF2B5EF4-FFF2-40B4-BE49-F238E27FC236}">
                <a16:creationId xmlns:a16="http://schemas.microsoft.com/office/drawing/2014/main" id="{1CD42ECE-E9C9-4ADF-96DB-F8E7D12D0629}"/>
              </a:ext>
            </a:extLst>
          </p:cNvPr>
          <p:cNvSpPr>
            <a:spLocks xmlns:a="http://schemas.openxmlformats.org/drawingml/2006/main" noGrp="1"/>
          </p:cNvSpPr>
          <p:nvPr/>
        </p:nvSpPr>
        <p:spPr>
          <a:xfrm xmlns:a="http://schemas.openxmlformats.org/drawingml/2006/main">
            <a:off x="812768" y="5295900"/>
            <a:ext cx="5667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5E6576"/>
                </a:solidFill>
                <a:latin typeface="Inter"/>
                <a:ea typeface="Inter"/>
                <a:cs typeface="Inter"/>
              </a:defRPr>
            </a:defPPr>
            <a:lvl1pPr>
              <a:defRPr sz="1650" b="0">
                <a:solidFill>
                  <a:srgbClr val="5E6576"/>
                </a:solidFill>
                <a:latin typeface="Inter"/>
                <a:ea typeface="Inter"/>
                <a:cs typeface="Inter"/>
              </a:defRPr>
            </a:lvl1pPr>
            <a:lvl2pPr>
              <a:defRPr sz="1650" b="0">
                <a:solidFill>
                  <a:srgbClr val="5E6576"/>
                </a:solidFill>
                <a:latin typeface="Inter"/>
                <a:ea typeface="Inter"/>
                <a:cs typeface="Inter"/>
              </a:defRPr>
            </a:lvl2pPr>
            <a:lvl3pPr>
              <a:defRPr sz="1650" b="0">
                <a:solidFill>
                  <a:srgbClr val="5E6576"/>
                </a:solidFill>
                <a:latin typeface="Inter"/>
                <a:ea typeface="Inter"/>
                <a:cs typeface="Inter"/>
              </a:defRPr>
            </a:lvl3pPr>
            <a:lvl4pPr>
              <a:defRPr sz="1650" b="0">
                <a:solidFill>
                  <a:srgbClr val="5E6576"/>
                </a:solidFill>
                <a:latin typeface="Inter"/>
                <a:ea typeface="Inter"/>
                <a:cs typeface="Inter"/>
              </a:defRPr>
            </a:lvl4pPr>
            <a:lvl5pPr>
              <a:defRPr sz="1650" b="0">
                <a:solidFill>
                  <a:srgbClr val="5E6576"/>
                </a:solidFill>
                <a:latin typeface="Inter"/>
                <a:ea typeface="Inter"/>
                <a:cs typeface="Inter"/>
              </a:defRPr>
            </a:lvl5pPr>
            <a:lvl6pPr>
              <a:defRPr sz="1650" b="0">
                <a:solidFill>
                  <a:srgbClr val="5E6576"/>
                </a:solidFill>
                <a:latin typeface="Inter"/>
                <a:ea typeface="Inter"/>
                <a:cs typeface="Inter"/>
              </a:defRPr>
            </a:lvl6pPr>
            <a:lvl7pPr>
              <a:defRPr sz="1650" b="0">
                <a:solidFill>
                  <a:srgbClr val="5E6576"/>
                </a:solidFill>
                <a:latin typeface="Inter"/>
                <a:ea typeface="Inter"/>
                <a:cs typeface="Inter"/>
              </a:defRPr>
            </a:lvl7pPr>
            <a:lvl8pPr>
              <a:defRPr sz="1650" b="0">
                <a:solidFill>
                  <a:srgbClr val="5E6576"/>
                </a:solidFill>
                <a:latin typeface="Inter"/>
                <a:ea typeface="Inter"/>
                <a:cs typeface="Inter"/>
              </a:defRPr>
            </a:lvl8pPr>
            <a:lvl9pPr>
              <a:defRPr sz="1650" b="0">
                <a:solidFill>
                  <a:srgbClr val="5E6576"/>
                </a:solidFill>
                <a:latin typeface="Inter"/>
                <a:ea typeface="Inter"/>
                <a:cs typeface="Inter"/>
              </a:defRPr>
            </a:lvl9pPr>
          </a:lstStyle>
          <a:p xmlns:a="http://schemas.openxmlformats.org/drawingml/2006/main">
            <a:pPr>
              <a:defRPr sz="1650" b="0">
                <a:solidFill>
                  <a:srgbClr val="5E6576"/>
                </a:solidFill>
                <a:latin typeface="Inter"/>
                <a:ea typeface="Inter"/>
                <a:cs typeface="Inter"/>
              </a:defRPr>
            </a:pPr>
            <a:r>
              <a:rPr sz="1650" b="0">
                <a:solidFill>
                  <a:srgbClr val="5E6576"/>
                </a:solidFill>
                <a:latin typeface="Inter"/>
                <a:ea typeface="Inter"/>
                <a:cs typeface="Inter"/>
              </a:rPr>
              <a:t>Sales rate and supplier lead time differ by product.</a:t>
            </a:r>
          </a:p>
        </p:txBody>
      </p:sp>
    </p:spTree>
    <p:extLst>
      <p:ext uri="{BB962C8B-B14F-4D97-AF65-F5344CB8AC3E}">
        <p14:creationId xmlns:p14="http://schemas.microsoft.com/office/powerpoint/2010/main" val="450150415"/>
      </p:ext>
    </p:extLst>
  </p:cSld>
</p:sld>
</file>

<file path=ppt/slides/slide3.xml><?xml version="1.0" encoding="utf-8"?>
<p:sld xmlns:p="http://schemas.openxmlformats.org/presentationml/2006/main">
  <p:cSld>
    <p:bg>
      <p:bgPr>
        <a:solidFill xmlns:a="http://schemas.openxmlformats.org/drawingml/2006/main">
          <a:srgbClr val="16171B"/>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8A672CB7-E173-4C78-A505-4A3D61725862}"/>
              </a:ext>
            </a:extLst>
          </p:cNvPr>
          <p:cNvPicPr>
            <a:picLocks xmlns:a="http://schemas.openxmlformats.org/drawingml/2006/main" noChangeAspect="1"/>
          </p:cNvPicPr>
          <p:nvPr/>
        </p:nvPicPr>
        <p:blipFill>
          <a:blip xmlns:r="http://schemas.openxmlformats.org/officeDocument/2006/relationships" xmlns:a="http://schemas.openxmlformats.org/drawingml/2006/main" r:embed="Rd02e6902740f4ebc"/>
          <a:srcRect xmlns:a="http://schemas.openxmlformats.org/drawingml/2006/main" l="-111" t="0" r="-111" b="0"/>
          <a:stretch xmlns:a="http://schemas.openxmlformats.org/drawingml/2006/main"/>
        </p:blipFill>
        <p:spPr>
          <a:xfrm xmlns:a="http://schemas.openxmlformats.org/drawingml/2006/main">
            <a:off x="812800" y="431800"/>
            <a:ext cx="1435100" cy="254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DFE38353-3808-4997-A46F-8A6929779DC0}"/>
              </a:ext>
            </a:extLst>
          </p:cNvPr>
          <p:cNvSpPr>
            <a:spLocks xmlns:a="http://schemas.openxmlformats.org/drawingml/2006/main" noGrp="1"/>
          </p:cNvSpPr>
          <p:nvPr/>
        </p:nvSpPr>
        <p:spPr>
          <a:xfrm xmlns:a="http://schemas.openxmlformats.org/drawingml/2006/main">
            <a:off x="11074400" y="406400"/>
            <a:ext cx="304800" cy="304800"/>
          </a:xfrm>
          <a:prstGeom xmlns:a="http://schemas.openxmlformats.org/drawingml/2006/main" prst="roundRect">
            <a:avLst>
              <a:gd name="adj" fmla="val 50000"/>
            </a:avLst>
          </a:prstGeom>
          <a:solidFill xmlns:a="http://schemas.openxmlformats.org/drawingml/2006/main">
            <a:srgbClr val="4F8BEA"/>
          </a:solidFill>
        </p:spPr>
      </p:sp>
      <p:pic>
        <p:nvPicPr>
          <p:cNvPr id="4" name="Image 1">
            <a:extLst xmlns:a="http://schemas.openxmlformats.org/drawingml/2006/main">
              <a:ext uri="{FF2B5EF4-FFF2-40B4-BE49-F238E27FC236}">
                <a16:creationId xmlns:a16="http://schemas.microsoft.com/office/drawing/2014/main" id="{084AE31C-37A2-42D1-9177-E8E5D69E81A7}"/>
              </a:ext>
            </a:extLst>
          </p:cNvPr>
          <p:cNvPicPr>
            <a:picLocks xmlns:a="http://schemas.openxmlformats.org/drawingml/2006/main" noChangeAspect="1"/>
          </p:cNvPicPr>
          <p:nvPr/>
        </p:nvPicPr>
        <p:blipFill>
          <a:blip xmlns:r="http://schemas.openxmlformats.org/officeDocument/2006/relationships" xmlns:a="http://schemas.openxmlformats.org/drawingml/2006/main" r:embed="Rec71180166da43b5"/>
          <a:srcRect xmlns:a="http://schemas.openxmlformats.org/drawingml/2006/main" l="0" t="0" r="0" b="0"/>
          <a:stretch xmlns:a="http://schemas.openxmlformats.org/drawingml/2006/main"/>
        </p:blipFill>
        <p:spPr>
          <a:xfrm xmlns:a="http://schemas.openxmlformats.org/drawingml/2006/main">
            <a:off x="11156950" y="514350"/>
            <a:ext cx="139700" cy="88900"/>
          </a:xfrm>
          <a:prstGeom xmlns:a="http://schemas.openxmlformats.org/drawingml/2006/main" prst="rect">
            <a:avLst/>
          </a:prstGeom>
        </p:spPr>
      </p:pic>
      <p:sp>
        <p:nvSpPr>
          <p:cNvPr id="5" name="Text 1">
            <a:extLst xmlns:a="http://schemas.openxmlformats.org/drawingml/2006/main">
              <a:ext uri="{FF2B5EF4-FFF2-40B4-BE49-F238E27FC236}">
                <a16:creationId xmlns:a16="http://schemas.microsoft.com/office/drawing/2014/main" id="{62CF4241-2EB4-4E28-822E-C95401CC4DF5}"/>
              </a:ext>
            </a:extLst>
          </p:cNvPr>
          <p:cNvSpPr>
            <a:spLocks xmlns:a="http://schemas.openxmlformats.org/drawingml/2006/main" noGrp="1"/>
          </p:cNvSpPr>
          <p:nvPr>
            <p:ph type="title" idx="0"/>
          </p:nvPr>
        </p:nvSpPr>
        <p:spPr>
          <a:xfrm xmlns:a="http://schemas.openxmlformats.org/drawingml/2006/main">
            <a:off x="812800" y="1219200"/>
            <a:ext cx="10883392" cy="66542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5040"/>
              </a:lnSpc>
              <a:buNone/>
            </a:pPr>
            <a:r>
              <a:rPr sz="4800" b="0" i="0">
                <a:solidFill>
                  <a:srgbClr val="EDEDEF"/>
                </a:solidFill>
                <a:latin typeface="Inter Tight"/>
                <a:ea typeface="Inter Tight"/>
                <a:cs typeface="Inter Tight"/>
              </a:rPr>
              <a:t>Capacity reallocation</a:t>
            </a:r>
            <a:endParaRPr sz="4800"/>
          </a:p>
        </p:txBody>
      </p:sp>
      <p:sp>
        <p:nvSpPr>
          <p:cNvPr id="6" name="Text 2">
            <a:extLst xmlns:a="http://schemas.openxmlformats.org/drawingml/2006/main">
              <a:ext uri="{FF2B5EF4-FFF2-40B4-BE49-F238E27FC236}">
                <a16:creationId xmlns:a16="http://schemas.microsoft.com/office/drawing/2014/main" id="{F3E313BC-2514-4855-80A5-87975D7DCC83}"/>
              </a:ext>
            </a:extLst>
          </p:cNvPr>
          <p:cNvSpPr>
            <a:spLocks xmlns:a="http://schemas.openxmlformats.org/drawingml/2006/main" noGrp="1"/>
          </p:cNvSpPr>
          <p:nvPr/>
        </p:nvSpPr>
        <p:spPr>
          <a:xfrm xmlns:a="http://schemas.openxmlformats.org/drawingml/2006/main">
            <a:off x="812800" y="2389056"/>
            <a:ext cx="6226556" cy="72641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760"/>
              </a:lnSpc>
              <a:buNone/>
            </a:pPr>
            <a:r>
              <a:rPr sz="2400">
                <a:solidFill>
                  <a:srgbClr val="EDEDEF"/>
                </a:solidFill>
                <a:latin typeface="Inter Tight"/>
                <a:ea typeface="Inter Tight"/>
                <a:cs typeface="Inter Tight"/>
              </a:rPr>
              <a:t>Keep the slow batch, or clear it and </a:t>
            </a:r>
            <a:r>
              <a:rPr sz="2400">
                <a:solidFill>
                  <a:srgbClr val="8FB6F5"/>
                </a:solidFill>
                <a:latin typeface="Inter Tight"/>
                <a:ea typeface="Inter Tight"/>
                <a:cs typeface="Inter Tight"/>
              </a:rPr>
              <a:t>restock a proven seller?</a:t>
            </a:r>
            <a:endParaRPr sz="2400"/>
          </a:p>
        </p:txBody>
      </p:sp>
      <p:sp>
        <p:nvSpPr>
          <p:cNvPr id="7" name="Text 3">
            <a:extLst xmlns:a="http://schemas.openxmlformats.org/drawingml/2006/main">
              <a:ext uri="{FF2B5EF4-FFF2-40B4-BE49-F238E27FC236}">
                <a16:creationId xmlns:a16="http://schemas.microsoft.com/office/drawing/2014/main" id="{ED9B65D6-8768-4E49-9FEF-4140F8C8B384}"/>
              </a:ext>
            </a:extLst>
          </p:cNvPr>
          <p:cNvSpPr>
            <a:spLocks xmlns:a="http://schemas.openxmlformats.org/drawingml/2006/main" noGrp="1"/>
          </p:cNvSpPr>
          <p:nvPr/>
        </p:nvSpPr>
        <p:spPr>
          <a:xfrm xmlns:a="http://schemas.openxmlformats.org/drawingml/2006/main">
            <a:off x="816007" y="3347244"/>
            <a:ext cx="1485900" cy="311944"/>
          </a:xfrm>
          <a:prstGeom xmlns:a="http://schemas.openxmlformats.org/drawingml/2006/main" prst="roundRect">
            <a:avLst>
              <a:gd name="adj" fmla="val 50000"/>
            </a:avLst>
          </a:prstGeom>
          <a:noFill xmlns:a="http://schemas.openxmlformats.org/drawingml/2006/main"/>
          <a:ln xmlns:a="http://schemas.openxmlformats.org/drawingml/2006/main" w="6350">
            <a:solidFill>
              <a:srgbClr val="3A3C45"/>
            </a:solid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marL="0" indent="0" algn="ctr">
              <a:lnSpc>
                <a:spcPts val="1440"/>
              </a:lnSpc>
              <a:buNone/>
            </a:pPr>
            <a:r>
              <a:rPr sz="1200">
                <a:solidFill>
                  <a:srgbClr val="EDEDEF"/>
                </a:solidFill>
                <a:latin typeface="Inter"/>
                <a:ea typeface="Inter"/>
                <a:cs typeface="Inter"/>
              </a:rPr>
              <a:t>Sales + lead time</a:t>
            </a:r>
            <a:endParaRPr sz="1200"/>
          </a:p>
        </p:txBody>
      </p:sp>
      <p:sp>
        <p:nvSpPr>
          <p:cNvPr id="8" name="Text 4">
            <a:extLst xmlns:a="http://schemas.openxmlformats.org/drawingml/2006/main">
              <a:ext uri="{FF2B5EF4-FFF2-40B4-BE49-F238E27FC236}">
                <a16:creationId xmlns:a16="http://schemas.microsoft.com/office/drawing/2014/main" id="{00FE3BBB-D22E-4C74-83DD-A4EAC3D58C4F}"/>
              </a:ext>
            </a:extLst>
          </p:cNvPr>
          <p:cNvSpPr>
            <a:spLocks xmlns:a="http://schemas.openxmlformats.org/drawingml/2006/main" noGrp="1"/>
          </p:cNvSpPr>
          <p:nvPr/>
        </p:nvSpPr>
        <p:spPr>
          <a:xfrm xmlns:a="http://schemas.openxmlformats.org/drawingml/2006/main">
            <a:off x="2378107" y="3347244"/>
            <a:ext cx="1314450" cy="311944"/>
          </a:xfrm>
          <a:prstGeom xmlns:a="http://schemas.openxmlformats.org/drawingml/2006/main" prst="roundRect">
            <a:avLst>
              <a:gd name="adj" fmla="val 50000"/>
            </a:avLst>
          </a:prstGeom>
          <a:noFill xmlns:a="http://schemas.openxmlformats.org/drawingml/2006/main"/>
          <a:ln xmlns:a="http://schemas.openxmlformats.org/drawingml/2006/main" w="6350">
            <a:solidFill>
              <a:srgbClr val="3A3C45"/>
            </a:solid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marL="0" indent="0" algn="ctr">
              <a:lnSpc>
                <a:spcPts val="1440"/>
              </a:lnSpc>
              <a:buNone/>
            </a:pPr>
            <a:r>
              <a:rPr sz="1200">
                <a:solidFill>
                  <a:srgbClr val="EDEDEF"/>
                </a:solidFill>
                <a:latin typeface="Inter"/>
                <a:ea typeface="Inter"/>
                <a:cs typeface="Inter"/>
              </a:rPr>
              <a:t>Net clearance</a:t>
            </a:r>
            <a:endParaRPr sz="1200"/>
          </a:p>
        </p:txBody>
      </p:sp>
      <p:sp>
        <p:nvSpPr>
          <p:cNvPr id="9" name="Text 5">
            <a:extLst xmlns:a="http://schemas.openxmlformats.org/drawingml/2006/main">
              <a:ext uri="{FF2B5EF4-FFF2-40B4-BE49-F238E27FC236}">
                <a16:creationId xmlns:a16="http://schemas.microsoft.com/office/drawing/2014/main" id="{2FEB852B-0889-4E68-BEE7-66DB1D625727}"/>
              </a:ext>
            </a:extLst>
          </p:cNvPr>
          <p:cNvSpPr>
            <a:spLocks xmlns:a="http://schemas.openxmlformats.org/drawingml/2006/main" noGrp="1"/>
          </p:cNvSpPr>
          <p:nvPr/>
        </p:nvSpPr>
        <p:spPr>
          <a:xfrm xmlns:a="http://schemas.openxmlformats.org/drawingml/2006/main">
            <a:off x="3768757" y="3347244"/>
            <a:ext cx="895350" cy="311944"/>
          </a:xfrm>
          <a:prstGeom xmlns:a="http://schemas.openxmlformats.org/drawingml/2006/main" prst="roundRect">
            <a:avLst>
              <a:gd name="adj" fmla="val 50000"/>
            </a:avLst>
          </a:prstGeom>
          <a:noFill xmlns:a="http://schemas.openxmlformats.org/drawingml/2006/main"/>
          <a:ln xmlns:a="http://schemas.openxmlformats.org/drawingml/2006/main" w="6350">
            <a:solidFill>
              <a:srgbClr val="3A3C45"/>
            </a:solid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marL="0" indent="0" algn="ctr">
              <a:lnSpc>
                <a:spcPts val="1440"/>
              </a:lnSpc>
              <a:buNone/>
            </a:pPr>
            <a:r>
              <a:rPr sz="1200">
                <a:solidFill>
                  <a:srgbClr val="EDEDEF"/>
                </a:solidFill>
                <a:latin typeface="Inter"/>
                <a:ea typeface="Inter"/>
                <a:cs typeface="Inter"/>
              </a:rPr>
              <a:t>Space fit</a:t>
            </a:r>
            <a:endParaRPr sz="1200"/>
          </a:p>
        </p:txBody>
      </p:sp>
      <p:sp>
        <p:nvSpPr>
          <p:cNvPr id="10" name="Text 6">
            <a:extLst xmlns:a="http://schemas.openxmlformats.org/drawingml/2006/main">
              <a:ext uri="{FF2B5EF4-FFF2-40B4-BE49-F238E27FC236}">
                <a16:creationId xmlns:a16="http://schemas.microsoft.com/office/drawing/2014/main" id="{C7947613-0597-4513-9604-638EA2E8E7F9}"/>
              </a:ext>
            </a:extLst>
          </p:cNvPr>
          <p:cNvSpPr>
            <a:spLocks xmlns:a="http://schemas.openxmlformats.org/drawingml/2006/main" noGrp="1"/>
          </p:cNvSpPr>
          <p:nvPr/>
        </p:nvSpPr>
        <p:spPr>
          <a:xfrm xmlns:a="http://schemas.openxmlformats.org/drawingml/2006/main">
            <a:off x="4740307" y="3347244"/>
            <a:ext cx="742950" cy="311944"/>
          </a:xfrm>
          <a:prstGeom xmlns:a="http://schemas.openxmlformats.org/drawingml/2006/main" prst="roundRect">
            <a:avLst>
              <a:gd name="adj" fmla="val 50000"/>
            </a:avLst>
          </a:prstGeom>
          <a:noFill xmlns:a="http://schemas.openxmlformats.org/drawingml/2006/main"/>
          <a:ln xmlns:a="http://schemas.openxmlformats.org/drawingml/2006/main" w="6350">
            <a:solidFill>
              <a:srgbClr val="3A3C45"/>
            </a:solid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marL="0" indent="0" algn="ctr">
              <a:lnSpc>
                <a:spcPts val="1440"/>
              </a:lnSpc>
              <a:buNone/>
            </a:pPr>
            <a:r>
              <a:rPr sz="1200">
                <a:solidFill>
                  <a:srgbClr val="EDEDEF"/>
                </a:solidFill>
                <a:latin typeface="Inter"/>
                <a:ea typeface="Inter"/>
                <a:cs typeface="Inter"/>
              </a:rPr>
              <a:t>Timing</a:t>
            </a:r>
            <a:endParaRPr sz="1200"/>
          </a:p>
        </p:txBody>
      </p:sp>
      <p:sp>
        <p:nvSpPr>
          <p:cNvPr id="11" name="Text 7">
            <a:extLst xmlns:a="http://schemas.openxmlformats.org/drawingml/2006/main">
              <a:ext uri="{FF2B5EF4-FFF2-40B4-BE49-F238E27FC236}">
                <a16:creationId xmlns:a16="http://schemas.microsoft.com/office/drawing/2014/main" id="{24C62451-1A68-4F8A-B29B-22A78DB1A0D1}"/>
              </a:ext>
            </a:extLst>
          </p:cNvPr>
          <p:cNvSpPr>
            <a:spLocks xmlns:a="http://schemas.openxmlformats.org/drawingml/2006/main" noGrp="1"/>
          </p:cNvSpPr>
          <p:nvPr/>
        </p:nvSpPr>
        <p:spPr>
          <a:xfrm xmlns:a="http://schemas.openxmlformats.org/drawingml/2006/main">
            <a:off x="5559457" y="3347244"/>
            <a:ext cx="619125" cy="311944"/>
          </a:xfrm>
          <a:prstGeom xmlns:a="http://schemas.openxmlformats.org/drawingml/2006/main" prst="roundRect">
            <a:avLst>
              <a:gd name="adj" fmla="val 50000"/>
            </a:avLst>
          </a:prstGeom>
          <a:noFill xmlns:a="http://schemas.openxmlformats.org/drawingml/2006/main"/>
          <a:ln xmlns:a="http://schemas.openxmlformats.org/drawingml/2006/main" w="6350">
            <a:solidFill>
              <a:srgbClr val="3A3C45"/>
            </a:solid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marL="0" indent="0" algn="ctr">
              <a:lnSpc>
                <a:spcPts val="1440"/>
              </a:lnSpc>
              <a:buNone/>
            </a:pPr>
            <a:r>
              <a:rPr sz="1200">
                <a:solidFill>
                  <a:srgbClr val="EDEDEF"/>
                </a:solidFill>
                <a:latin typeface="Inter"/>
                <a:ea typeface="Inter"/>
                <a:cs typeface="Inter"/>
              </a:rPr>
              <a:t>Cash</a:t>
            </a:r>
            <a:endParaRPr sz="1200"/>
          </a:p>
        </p:txBody>
      </p:sp>
      <p:sp>
        <p:nvSpPr>
          <p:cNvPr id="12" name="Shape 8">
            <a:extLst xmlns:a="http://schemas.openxmlformats.org/drawingml/2006/main">
              <a:ext uri="{FF2B5EF4-FFF2-40B4-BE49-F238E27FC236}">
                <a16:creationId xmlns:a16="http://schemas.microsoft.com/office/drawing/2014/main" id="{CBC46CB1-0DC9-43BD-944E-D2F1507DB000}"/>
              </a:ext>
            </a:extLst>
          </p:cNvPr>
          <p:cNvSpPr>
            <a:spLocks xmlns:a="http://schemas.openxmlformats.org/drawingml/2006/main" noGrp="1"/>
          </p:cNvSpPr>
          <p:nvPr/>
        </p:nvSpPr>
        <p:spPr>
          <a:xfrm xmlns:a="http://schemas.openxmlformats.org/drawingml/2006/main">
            <a:off x="825500" y="3916362"/>
            <a:ext cx="0" cy="664170"/>
          </a:xfrm>
          <a:prstGeom xmlns:a="http://schemas.openxmlformats.org/drawingml/2006/main" prst="line">
            <a:avLst/>
          </a:prstGeom>
          <a:noFill xmlns:a="http://schemas.openxmlformats.org/drawingml/2006/main"/>
          <a:ln xmlns:a="http://schemas.openxmlformats.org/drawingml/2006/main" w="25400">
            <a:solidFill>
              <a:srgbClr val="8FB6F5"/>
            </a:solidFill>
            <a:prstDash val="solid"/>
          </a:ln>
        </p:spPr>
      </p:sp>
      <p:sp>
        <p:nvSpPr>
          <p:cNvPr id="13" name="Text 9">
            <a:extLst xmlns:a="http://schemas.openxmlformats.org/drawingml/2006/main">
              <a:ext uri="{FF2B5EF4-FFF2-40B4-BE49-F238E27FC236}">
                <a16:creationId xmlns:a16="http://schemas.microsoft.com/office/drawing/2014/main" id="{0F6BC4CA-9345-43EE-BAB2-FF3EF320855E}"/>
              </a:ext>
            </a:extLst>
          </p:cNvPr>
          <p:cNvSpPr>
            <a:spLocks xmlns:a="http://schemas.openxmlformats.org/drawingml/2006/main" noGrp="1"/>
          </p:cNvSpPr>
          <p:nvPr/>
        </p:nvSpPr>
        <p:spPr>
          <a:xfrm xmlns:a="http://schemas.openxmlformats.org/drawingml/2006/main">
            <a:off x="1016000" y="3967163"/>
            <a:ext cx="6017260" cy="3111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50"/>
              </a:lnSpc>
              <a:buNone/>
            </a:pPr>
            <a:r>
              <a:rPr sz="1800" b="1">
                <a:solidFill>
                  <a:srgbClr val="8FB6F5"/>
                </a:solidFill>
                <a:latin typeface="Inter"/>
                <a:ea typeface="Inter"/>
                <a:cs typeface="Inter"/>
              </a:rPr>
              <a:t>Space frees up only after confirmed dispatch</a:t>
            </a:r>
            <a:endParaRPr sz="1800"/>
          </a:p>
        </p:txBody>
      </p:sp>
      <p:sp>
        <p:nvSpPr>
          <p:cNvPr id="14" name="Text 10">
            <a:extLst xmlns:a="http://schemas.openxmlformats.org/drawingml/2006/main">
              <a:ext uri="{FF2B5EF4-FFF2-40B4-BE49-F238E27FC236}">
                <a16:creationId xmlns:a16="http://schemas.microsoft.com/office/drawing/2014/main" id="{9075C17A-117C-45AE-ADE0-F160D7819CD4}"/>
              </a:ext>
            </a:extLst>
          </p:cNvPr>
          <p:cNvSpPr>
            <a:spLocks xmlns:a="http://schemas.openxmlformats.org/drawingml/2006/main" noGrp="1"/>
          </p:cNvSpPr>
          <p:nvPr/>
        </p:nvSpPr>
        <p:spPr>
          <a:xfrm xmlns:a="http://schemas.openxmlformats.org/drawingml/2006/main">
            <a:off x="1016000" y="4316413"/>
            <a:ext cx="601726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200"/>
            </a:defPPr>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xmlns:a="http://schemas.openxmlformats.org/drawingml/2006/main">
            <a:pPr marL="0" indent="0" algn="l">
              <a:lnSpc>
                <a:spcPts val="1680"/>
              </a:lnSpc>
              <a:buNone/>
            </a:pPr>
            <a:r>
              <a:rPr sz="1200">
                <a:solidFill>
                  <a:srgbClr val="A3A7B3"/>
                </a:solidFill>
                <a:latin typeface="Inter"/>
                <a:ea typeface="Inter"/>
                <a:cs typeface="Inter"/>
              </a:rPr>
              <a:t>Owner reviews the plan. Staff confirm the physical movement.</a:t>
            </a:r>
            <a:endParaRPr sz="1200"/>
          </a:p>
        </p:txBody>
      </p:sp>
      <p:sp>
        <p:nvSpPr>
          <p:cNvPr id="15" name="Shape 11">
            <a:extLst xmlns:a="http://schemas.openxmlformats.org/drawingml/2006/main">
              <a:ext uri="{FF2B5EF4-FFF2-40B4-BE49-F238E27FC236}">
                <a16:creationId xmlns:a16="http://schemas.microsoft.com/office/drawing/2014/main" id="{A44B12F1-143A-4033-8651-3405F2DC4703}"/>
              </a:ext>
            </a:extLst>
          </p:cNvPr>
          <p:cNvSpPr>
            <a:spLocks xmlns:a="http://schemas.openxmlformats.org/drawingml/2006/main" noGrp="1"/>
          </p:cNvSpPr>
          <p:nvPr/>
        </p:nvSpPr>
        <p:spPr>
          <a:xfrm xmlns:a="http://schemas.openxmlformats.org/drawingml/2006/main">
            <a:off x="7321550" y="2221178"/>
            <a:ext cx="4051300" cy="2527300"/>
          </a:xfrm>
          <a:prstGeom xmlns:a="http://schemas.openxmlformats.org/drawingml/2006/main" prst="roundRect">
            <a:avLst>
              <a:gd name="adj" fmla="val 4774"/>
            </a:avLst>
          </a:prstGeom>
          <a:solidFill xmlns:a="http://schemas.openxmlformats.org/drawingml/2006/main">
            <a:srgbClr val="202127"/>
          </a:solidFill>
          <a:ln xmlns:a="http://schemas.openxmlformats.org/drawingml/2006/main" w="12700">
            <a:solidFill>
              <a:srgbClr val="3A3C45"/>
            </a:solidFill>
            <a:prstDash val="dash"/>
          </a:ln>
        </p:spPr>
      </p:sp>
      <p:sp>
        <p:nvSpPr>
          <p:cNvPr id="16" name="Text 12">
            <a:extLst xmlns:a="http://schemas.openxmlformats.org/drawingml/2006/main">
              <a:ext uri="{FF2B5EF4-FFF2-40B4-BE49-F238E27FC236}">
                <a16:creationId xmlns:a16="http://schemas.microsoft.com/office/drawing/2014/main" id="{2DF9A942-F4DA-4B5E-B22A-FBCB3D9C1997}"/>
              </a:ext>
            </a:extLst>
          </p:cNvPr>
          <p:cNvSpPr>
            <a:spLocks xmlns:a="http://schemas.openxmlformats.org/drawingml/2006/main" noGrp="1"/>
          </p:cNvSpPr>
          <p:nvPr/>
        </p:nvSpPr>
        <p:spPr>
          <a:xfrm xmlns:a="http://schemas.openxmlformats.org/drawingml/2006/main">
            <a:off x="8424546" y="3074657"/>
            <a:ext cx="18453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A3A7B3"/>
                </a:solidFill>
                <a:latin typeface="Inter"/>
                <a:ea typeface="Inter"/>
                <a:cs typeface="Inter"/>
              </a:rPr>
              <a:t>SCREENSHOT · 16:10</a:t>
            </a:r>
            <a:endParaRPr sz="1200"/>
          </a:p>
        </p:txBody>
      </p:sp>
      <p:sp>
        <p:nvSpPr>
          <p:cNvPr id="17" name="Text 13">
            <a:extLst xmlns:a="http://schemas.openxmlformats.org/drawingml/2006/main">
              <a:ext uri="{FF2B5EF4-FFF2-40B4-BE49-F238E27FC236}">
                <a16:creationId xmlns:a16="http://schemas.microsoft.com/office/drawing/2014/main" id="{0CE7C21A-8B8E-4355-93B2-5E0C545068CA}"/>
              </a:ext>
            </a:extLst>
          </p:cNvPr>
          <p:cNvSpPr>
            <a:spLocks xmlns:a="http://schemas.openxmlformats.org/drawingml/2006/main" noGrp="1"/>
          </p:cNvSpPr>
          <p:nvPr/>
        </p:nvSpPr>
        <p:spPr>
          <a:xfrm xmlns:a="http://schemas.openxmlformats.org/drawingml/2006/main">
            <a:off x="8185157" y="3351478"/>
            <a:ext cx="2324021"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2100"/>
              </a:lnSpc>
              <a:buNone/>
            </a:pPr>
            <a:r>
              <a:rPr sz="1500">
                <a:solidFill>
                  <a:srgbClr val="EDEDEF"/>
                </a:solidFill>
                <a:latin typeface="Inter"/>
                <a:ea typeface="Inter"/>
                <a:cs typeface="Inter"/>
              </a:rPr>
              <a:t>Reallocation proposal</a:t>
            </a:r>
            <a:endParaRPr sz="1500"/>
          </a:p>
        </p:txBody>
      </p:sp>
      <p:sp>
        <p:nvSpPr>
          <p:cNvPr id="18" name="Text 14">
            <a:extLst xmlns:a="http://schemas.openxmlformats.org/drawingml/2006/main">
              <a:ext uri="{FF2B5EF4-FFF2-40B4-BE49-F238E27FC236}">
                <a16:creationId xmlns:a16="http://schemas.microsoft.com/office/drawing/2014/main" id="{32D86903-CAE2-477C-A4BE-E226CCD50FB8}"/>
              </a:ext>
            </a:extLst>
          </p:cNvPr>
          <p:cNvSpPr>
            <a:spLocks xmlns:a="http://schemas.openxmlformats.org/drawingml/2006/main" noGrp="1"/>
          </p:cNvSpPr>
          <p:nvPr/>
        </p:nvSpPr>
        <p:spPr>
          <a:xfrm xmlns:a="http://schemas.openxmlformats.org/drawingml/2006/main">
            <a:off x="7940437" y="3681678"/>
            <a:ext cx="281352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A3A7B3"/>
                </a:solidFill>
                <a:latin typeface="Inter"/>
                <a:ea typeface="Inter"/>
                <a:cs typeface="Inter"/>
              </a:rPr>
              <a:t>Capture after feature completion</a:t>
            </a:r>
            <a:endParaRPr sz="1200"/>
          </a:p>
        </p:txBody>
      </p:sp>
      <p:sp>
        <p:nvSpPr>
          <p:cNvPr id="19" name="stock-risk-explanation">
            <a:extLst xmlns:a="http://schemas.openxmlformats.org/drawingml/2006/main">
              <a:ext uri="{FF2B5EF4-FFF2-40B4-BE49-F238E27FC236}">
                <a16:creationId xmlns:a16="http://schemas.microsoft.com/office/drawing/2014/main" id="{5244BE2B-3C04-41C0-90E6-AEE955DD6849}"/>
              </a:ext>
            </a:extLst>
          </p:cNvPr>
          <p:cNvSpPr>
            <a:spLocks xmlns:a="http://schemas.openxmlformats.org/drawingml/2006/main" noGrp="1"/>
          </p:cNvSpPr>
          <p:nvPr/>
        </p:nvSpPr>
        <p:spPr>
          <a:xfrm xmlns:a="http://schemas.openxmlformats.org/drawingml/2006/main">
            <a:off x="812768" y="4905375"/>
            <a:ext cx="62293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B5B8C1"/>
                </a:solidFill>
                <a:latin typeface="Inter"/>
                <a:ea typeface="Inter"/>
                <a:cs typeface="Inter"/>
              </a:defRPr>
            </a:defPPr>
            <a:lvl1pPr>
              <a:defRPr sz="1650" b="0">
                <a:solidFill>
                  <a:srgbClr val="B5B8C1"/>
                </a:solidFill>
                <a:latin typeface="Inter"/>
                <a:ea typeface="Inter"/>
                <a:cs typeface="Inter"/>
              </a:defRPr>
            </a:lvl1pPr>
            <a:lvl2pPr>
              <a:defRPr sz="1650" b="0">
                <a:solidFill>
                  <a:srgbClr val="B5B8C1"/>
                </a:solidFill>
                <a:latin typeface="Inter"/>
                <a:ea typeface="Inter"/>
                <a:cs typeface="Inter"/>
              </a:defRPr>
            </a:lvl2pPr>
            <a:lvl3pPr>
              <a:defRPr sz="1650" b="0">
                <a:solidFill>
                  <a:srgbClr val="B5B8C1"/>
                </a:solidFill>
                <a:latin typeface="Inter"/>
                <a:ea typeface="Inter"/>
                <a:cs typeface="Inter"/>
              </a:defRPr>
            </a:lvl3pPr>
            <a:lvl4pPr>
              <a:defRPr sz="1650" b="0">
                <a:solidFill>
                  <a:srgbClr val="B5B8C1"/>
                </a:solidFill>
                <a:latin typeface="Inter"/>
                <a:ea typeface="Inter"/>
                <a:cs typeface="Inter"/>
              </a:defRPr>
            </a:lvl4pPr>
            <a:lvl5pPr>
              <a:defRPr sz="1650" b="0">
                <a:solidFill>
                  <a:srgbClr val="B5B8C1"/>
                </a:solidFill>
                <a:latin typeface="Inter"/>
                <a:ea typeface="Inter"/>
                <a:cs typeface="Inter"/>
              </a:defRPr>
            </a:lvl5pPr>
            <a:lvl6pPr>
              <a:defRPr sz="1650" b="0">
                <a:solidFill>
                  <a:srgbClr val="B5B8C1"/>
                </a:solidFill>
                <a:latin typeface="Inter"/>
                <a:ea typeface="Inter"/>
                <a:cs typeface="Inter"/>
              </a:defRPr>
            </a:lvl6pPr>
            <a:lvl7pPr>
              <a:defRPr sz="1650" b="0">
                <a:solidFill>
                  <a:srgbClr val="B5B8C1"/>
                </a:solidFill>
                <a:latin typeface="Inter"/>
                <a:ea typeface="Inter"/>
                <a:cs typeface="Inter"/>
              </a:defRPr>
            </a:lvl7pPr>
            <a:lvl8pPr>
              <a:defRPr sz="1650" b="0">
                <a:solidFill>
                  <a:srgbClr val="B5B8C1"/>
                </a:solidFill>
                <a:latin typeface="Inter"/>
                <a:ea typeface="Inter"/>
                <a:cs typeface="Inter"/>
              </a:defRPr>
            </a:lvl8pPr>
            <a:lvl9pPr>
              <a:defRPr sz="1650" b="0">
                <a:solidFill>
                  <a:srgbClr val="B5B8C1"/>
                </a:solidFill>
                <a:latin typeface="Inter"/>
                <a:ea typeface="Inter"/>
                <a:cs typeface="Inter"/>
              </a:defRPr>
            </a:lvl9pPr>
          </a:lstStyle>
          <a:p xmlns:a="http://schemas.openxmlformats.org/drawingml/2006/main">
            <a:pPr>
              <a:defRPr sz="1650" b="0">
                <a:solidFill>
                  <a:srgbClr val="B5B8C1"/>
                </a:solidFill>
                <a:latin typeface="Inter"/>
                <a:ea typeface="Inter"/>
                <a:cs typeface="Inter"/>
              </a:defRPr>
            </a:pPr>
            <a:r>
              <a:rPr sz="1650" b="0">
                <a:solidFill>
                  <a:srgbClr val="B5B8C1"/>
                </a:solidFill>
                <a:latin typeface="Inter"/>
                <a:ea typeface="Inter"/>
                <a:cs typeface="Inter"/>
              </a:rPr>
              <a:t>Stock decisions consider sales rate, supplier lead time and a safety buffer.</a:t>
            </a:r>
          </a:p>
        </p:txBody>
      </p:sp>
    </p:spTree>
    <p:extLst>
      <p:ext uri="{BB962C8B-B14F-4D97-AF65-F5344CB8AC3E}">
        <p14:creationId xmlns:p14="http://schemas.microsoft.com/office/powerpoint/2010/main" val="2092814708"/>
      </p:ext>
    </p:extLst>
  </p:cSld>
</p:sld>
</file>

<file path=ppt/slides/slide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981A8F0C-1563-4C0C-982C-7A2881F8A465}"/>
              </a:ext>
            </a:extLst>
          </p:cNvPr>
          <p:cNvPicPr>
            <a:picLocks xmlns:a="http://schemas.openxmlformats.org/drawingml/2006/main" noChangeAspect="1"/>
          </p:cNvPicPr>
          <p:nvPr/>
        </p:nvPicPr>
        <p:blipFill>
          <a:blip xmlns:r="http://schemas.openxmlformats.org/officeDocument/2006/relationships" xmlns:a="http://schemas.openxmlformats.org/drawingml/2006/main" r:embed="R784b83e9c16c469c"/>
          <a:srcRect xmlns:a="http://schemas.openxmlformats.org/drawingml/2006/main" l="-111" t="0" r="-111" b="0"/>
          <a:stretch xmlns:a="http://schemas.openxmlformats.org/drawingml/2006/main"/>
        </p:blipFill>
        <p:spPr>
          <a:xfrm xmlns:a="http://schemas.openxmlformats.org/drawingml/2006/main">
            <a:off x="812800" y="431800"/>
            <a:ext cx="1435100" cy="254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E7B92F43-7437-4736-857B-C75081B0CBB8}"/>
              </a:ext>
            </a:extLst>
          </p:cNvPr>
          <p:cNvSpPr>
            <a:spLocks xmlns:a="http://schemas.openxmlformats.org/drawingml/2006/main" noGrp="1"/>
          </p:cNvSpPr>
          <p:nvPr/>
        </p:nvSpPr>
        <p:spPr>
          <a:xfrm xmlns:a="http://schemas.openxmlformats.org/drawingml/2006/main">
            <a:off x="11074400" y="406400"/>
            <a:ext cx="304800" cy="304800"/>
          </a:xfrm>
          <a:prstGeom xmlns:a="http://schemas.openxmlformats.org/drawingml/2006/main" prst="roundRect">
            <a:avLst>
              <a:gd name="adj" fmla="val 50000"/>
            </a:avLst>
          </a:prstGeom>
          <a:solidFill xmlns:a="http://schemas.openxmlformats.org/drawingml/2006/main">
            <a:srgbClr val="4F8BEA"/>
          </a:solidFill>
        </p:spPr>
      </p:sp>
      <p:pic>
        <p:nvPicPr>
          <p:cNvPr id="4" name="Image 1">
            <a:extLst xmlns:a="http://schemas.openxmlformats.org/drawingml/2006/main">
              <a:ext uri="{FF2B5EF4-FFF2-40B4-BE49-F238E27FC236}">
                <a16:creationId xmlns:a16="http://schemas.microsoft.com/office/drawing/2014/main" id="{4678445E-C738-429C-AC9B-6A206A2585BC}"/>
              </a:ext>
            </a:extLst>
          </p:cNvPr>
          <p:cNvPicPr>
            <a:picLocks xmlns:a="http://schemas.openxmlformats.org/drawingml/2006/main" noChangeAspect="1"/>
          </p:cNvPicPr>
          <p:nvPr/>
        </p:nvPicPr>
        <p:blipFill>
          <a:blip xmlns:r="http://schemas.openxmlformats.org/officeDocument/2006/relationships" xmlns:a="http://schemas.openxmlformats.org/drawingml/2006/main" r:embed="Ra9fdb0caf7474f33"/>
          <a:srcRect xmlns:a="http://schemas.openxmlformats.org/drawingml/2006/main" l="0" t="0" r="0" b="0"/>
          <a:stretch xmlns:a="http://schemas.openxmlformats.org/drawingml/2006/main"/>
        </p:blipFill>
        <p:spPr>
          <a:xfrm xmlns:a="http://schemas.openxmlformats.org/drawingml/2006/main">
            <a:off x="11156950" y="514350"/>
            <a:ext cx="139700" cy="88900"/>
          </a:xfrm>
          <a:prstGeom xmlns:a="http://schemas.openxmlformats.org/drawingml/2006/main" prst="rect">
            <a:avLst/>
          </a:prstGeom>
        </p:spPr>
      </p:pic>
      <p:sp>
        <p:nvSpPr>
          <p:cNvPr id="5" name="Text 1">
            <a:extLst xmlns:a="http://schemas.openxmlformats.org/drawingml/2006/main">
              <a:ext uri="{FF2B5EF4-FFF2-40B4-BE49-F238E27FC236}">
                <a16:creationId xmlns:a16="http://schemas.microsoft.com/office/drawing/2014/main" id="{E34526DF-7F15-4E31-B68A-8B1D89592280}"/>
              </a:ext>
            </a:extLst>
          </p:cNvPr>
          <p:cNvSpPr>
            <a:spLocks xmlns:a="http://schemas.openxmlformats.org/drawingml/2006/main" noGrp="1"/>
          </p:cNvSpPr>
          <p:nvPr>
            <p:ph type="title" idx="0"/>
          </p:nvPr>
        </p:nvSpPr>
        <p:spPr>
          <a:xfrm xmlns:a="http://schemas.openxmlformats.org/drawingml/2006/main">
            <a:off x="812800" y="1219200"/>
            <a:ext cx="10883392" cy="66542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4575"/>
            </a:defPPr>
            <a:lvl1pPr>
              <a:defRPr sz="4575"/>
            </a:lvl1pPr>
            <a:lvl2pPr>
              <a:defRPr sz="4575"/>
            </a:lvl2pPr>
            <a:lvl3pPr>
              <a:defRPr sz="4575"/>
            </a:lvl3pPr>
            <a:lvl4pPr>
              <a:defRPr sz="4575"/>
            </a:lvl4pPr>
            <a:lvl5pPr>
              <a:defRPr sz="4575"/>
            </a:lvl5pPr>
            <a:lvl6pPr>
              <a:defRPr sz="4575"/>
            </a:lvl6pPr>
            <a:lvl7pPr>
              <a:defRPr sz="4575"/>
            </a:lvl7pPr>
            <a:lvl8pPr>
              <a:defRPr sz="4575"/>
            </a:lvl8pPr>
            <a:lvl9pPr>
              <a:defRPr sz="4575"/>
            </a:lvl9pPr>
          </a:lstStyle>
          <a:p xmlns:a="http://schemas.openxmlformats.org/drawingml/2006/main">
            <a:pPr marL="0" indent="0" algn="l">
              <a:lnSpc>
                <a:spcPts val="5040"/>
              </a:lnSpc>
              <a:buNone/>
            </a:pPr>
            <a:r>
              <a:rPr sz="4575" b="0" i="0">
                <a:solidFill>
                  <a:srgbClr val="111214"/>
                </a:solidFill>
                <a:latin typeface="Inter Tight"/>
                <a:ea typeface="Inter Tight"/>
                <a:cs typeface="Inter Tight"/>
              </a:rPr>
              <a:t>RM400 projected improvement</a:t>
            </a:r>
            <a:endParaRPr sz="4800"/>
          </a:p>
        </p:txBody>
      </p:sp>
      <p:graphicFrame>
        <p:nvGraphicFramePr>
          <p:cNvPr id="6" name="Table 0">
            <a:extLst xmlns:a="http://schemas.openxmlformats.org/drawingml/2006/main">
              <a:ext uri="{FF2B5EF4-FFF2-40B4-BE49-F238E27FC236}">
                <a16:creationId xmlns:a16="http://schemas.microsoft.com/office/drawing/2014/main" id="{2BC77BF0-5326-4399-80BF-0FC5E3C38285}"/>
              </a:ext>
            </a:extLst>
          </p:cNvPr>
          <p:cNvGraphicFramePr/>
          <p:nvPr/>
        </p:nvGraphicFramePr>
        <p:xfrm>
          <a:off xmlns:a="http://schemas.openxmlformats.org/drawingml/2006/main" x="825500" y="2227528"/>
          <a:ext xmlns:a="http://schemas.openxmlformats.org/drawingml/2006/main" cx="10553700" cy="2315766"/>
        </p:xfrm>
        <a:graphic xmlns:a="http://schemas.openxmlformats.org/drawingml/2006/main">
          <a:graphicData uri="http://schemas.openxmlformats.org/drawingml/2006/table">
            <a:tbl>
              <a:tblPr/>
              <a:tblGrid>
                <a:gridCol w="3271647"/>
                <a:gridCol w="2005203"/>
                <a:gridCol w="2638425"/>
                <a:gridCol w="2638425"/>
              </a:tblGrid>
              <a:tr h="385961">
                <a:tc>
                  <a:txBody>
                    <a:bodyPr/>
                    <a:lstStyle/>
                    <a:p>
                      <a:pPr marL="0" indent="0">
                        <a:lnSpc>
                          <a:spcPts val="1960"/>
                        </a:lnSpc>
                        <a:buNone/>
                      </a:pP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B5B4B0"/>
                      </a:solidFill>
                      <a:prstDash val="solid"/>
                    </a:lnR>
                    <a:lnT w="12700" cmpd="sng">
                      <a:solidFill>
                        <a:srgbClr val="C4C2BE"/>
                      </a:solidFill>
                      <a:prstDash val="solid"/>
                    </a:lnT>
                    <a:lnB w="12700" cmpd="sng">
                      <a:solidFill>
                        <a:srgbClr val="B5B4B0"/>
                      </a:solidFill>
                      <a:prstDash val="solid"/>
                    </a:lnB>
                    <a:solidFill>
                      <a:srgbClr val="E3E1DC"/>
                    </a:solidFill>
                  </a:tcPr>
                </a:tc>
                <a:tc>
                  <a:txBody>
                    <a:bodyPr/>
                    <a:lstStyle/>
                    <a:p>
                      <a:pPr marL="0" indent="0" algn="r">
                        <a:lnSpc>
                          <a:spcPts val="1960"/>
                        </a:lnSpc>
                        <a:buNone/>
                      </a:pPr>
                      <a:r>
                        <a:rPr sz="1400" b="1">
                          <a:solidFill>
                            <a:srgbClr val="5B6070"/>
                          </a:solidFill>
                          <a:latin typeface="Inter"/>
                          <a:ea typeface="Inter"/>
                          <a:cs typeface="Inter"/>
                        </a:rPr>
                        <a:t>Keep stock</a:t>
                      </a:r>
                      <a:endParaRPr sz="1400">
                        <a:latin typeface="Inter"/>
                        <a:ea typeface="Inter"/>
                        <a:cs typeface="Inter"/>
                      </a:endParaRPr>
                    </a:p>
                  </a:txBody>
                  <a:tcPr marL="62230" marR="62230" marT="62230" marB="62230" anchor="t">
                    <a:lnL w="12700" cmpd="sng">
                      <a:solidFill>
                        <a:srgbClr val="B5B4B0"/>
                      </a:solidFill>
                      <a:prstDash val="solid"/>
                    </a:lnL>
                    <a:lnR w="12700" cmpd="sng">
                      <a:solidFill>
                        <a:srgbClr val="B5B4B0"/>
                      </a:solidFill>
                      <a:prstDash val="solid"/>
                    </a:lnR>
                    <a:lnT w="12700" cmpd="sng">
                      <a:solidFill>
                        <a:srgbClr val="C4C2BE"/>
                      </a:solidFill>
                      <a:prstDash val="solid"/>
                    </a:lnT>
                    <a:lnB w="12700" cmpd="sng">
                      <a:solidFill>
                        <a:srgbClr val="B5B4B0"/>
                      </a:solidFill>
                      <a:prstDash val="solid"/>
                    </a:lnB>
                    <a:solidFill>
                      <a:srgbClr val="E3E1DC"/>
                    </a:solidFill>
                  </a:tcPr>
                </a:tc>
                <a:tc>
                  <a:txBody>
                    <a:bodyPr/>
                    <a:lstStyle/>
                    <a:p>
                      <a:pPr marL="0" indent="0" algn="r">
                        <a:lnSpc>
                          <a:spcPts val="1960"/>
                        </a:lnSpc>
                        <a:buNone/>
                      </a:pPr>
                      <a:r>
                        <a:rPr sz="1400" b="1">
                          <a:solidFill>
                            <a:srgbClr val="5B6070"/>
                          </a:solidFill>
                          <a:latin typeface="Inter"/>
                          <a:ea typeface="Inter"/>
                          <a:cs typeface="Inter"/>
                        </a:rPr>
                        <a:t>Buyer A + restock</a:t>
                      </a:r>
                      <a:endParaRPr sz="1400">
                        <a:latin typeface="Inter"/>
                        <a:ea typeface="Inter"/>
                        <a:cs typeface="Inter"/>
                      </a:endParaRPr>
                    </a:p>
                  </a:txBody>
                  <a:tcPr marL="62230" marR="62230" marT="62230" marB="62230" anchor="t">
                    <a:lnL w="12700" cmpd="sng">
                      <a:solidFill>
                        <a:srgbClr val="B5B4B0"/>
                      </a:solidFill>
                      <a:prstDash val="solid"/>
                    </a:lnL>
                    <a:lnR w="12700" cmpd="sng">
                      <a:solidFill>
                        <a:srgbClr val="B5B4B0"/>
                      </a:solidFill>
                      <a:prstDash val="solid"/>
                    </a:lnR>
                    <a:lnT w="12700" cmpd="sng">
                      <a:solidFill>
                        <a:srgbClr val="C4C2BE"/>
                      </a:solidFill>
                      <a:prstDash val="solid"/>
                    </a:lnT>
                    <a:lnB w="12700" cmpd="sng">
                      <a:solidFill>
                        <a:srgbClr val="B5B4B0"/>
                      </a:solidFill>
                      <a:prstDash val="solid"/>
                    </a:lnB>
                    <a:solidFill>
                      <a:srgbClr val="E3E1DC"/>
                    </a:solidFill>
                  </a:tcPr>
                </a:tc>
                <a:tc>
                  <a:txBody>
                    <a:bodyPr/>
                    <a:lstStyle/>
                    <a:p>
                      <a:pPr marL="0" indent="0" algn="r">
                        <a:lnSpc>
                          <a:spcPts val="1960"/>
                        </a:lnSpc>
                        <a:buNone/>
                      </a:pPr>
                      <a:r>
                        <a:rPr sz="1400" b="1">
                          <a:solidFill>
                            <a:srgbClr val="2A64C8"/>
                          </a:solidFill>
                          <a:latin typeface="Inter"/>
                          <a:ea typeface="Inter"/>
                          <a:cs typeface="Inter"/>
                        </a:rPr>
                        <a:t>Buyer B + restock</a:t>
                      </a:r>
                      <a:endParaRPr sz="1400">
                        <a:latin typeface="Inter"/>
                        <a:ea typeface="Inter"/>
                        <a:cs typeface="Inter"/>
                      </a:endParaRPr>
                    </a:p>
                  </a:txBody>
                  <a:tcPr marL="62230" marR="62230" marT="62230" marB="62230" anchor="t">
                    <a:lnL w="12700" cmpd="sng">
                      <a:solidFill>
                        <a:srgbClr val="B5B4B0"/>
                      </a:solidFill>
                      <a:prstDash val="solid"/>
                    </a:lnL>
                    <a:lnR w="12700" cmpd="sng">
                      <a:solidFill>
                        <a:srgbClr val="B5B4B0"/>
                      </a:solidFill>
                      <a:prstDash val="solid"/>
                    </a:lnR>
                    <a:lnT w="12700" cmpd="sng">
                      <a:solidFill>
                        <a:srgbClr val="C4C2BE"/>
                      </a:solidFill>
                      <a:prstDash val="solid"/>
                    </a:lnT>
                    <a:lnB w="12700" cmpd="sng">
                      <a:solidFill>
                        <a:srgbClr val="B5B4B0"/>
                      </a:solidFill>
                      <a:prstDash val="solid"/>
                    </a:lnB>
                    <a:solidFill>
                      <a:srgbClr val="E3E1DC"/>
                    </a:solidFill>
                  </a:tcPr>
                </a:tc>
              </a:tr>
              <a:tr h="385961">
                <a:tc>
                  <a:txBody>
                    <a:bodyPr/>
                    <a:lstStyle/>
                    <a:p>
                      <a:pPr marL="0" indent="0">
                        <a:lnSpc>
                          <a:spcPts val="1960"/>
                        </a:lnSpc>
                        <a:buNone/>
                      </a:pPr>
                      <a:r>
                        <a:rPr sz="1400">
                          <a:solidFill>
                            <a:srgbClr val="111214"/>
                          </a:solidFill>
                          <a:latin typeface="Inter"/>
                          <a:ea typeface="Inter"/>
                          <a:cs typeface="Inter"/>
                        </a:rPr>
                        <a:t>Offer − clearance costs</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B5B4B0"/>
                      </a:solidFill>
                      <a:prstDash val="solid"/>
                    </a:lnT>
                    <a:lnB w="12700" cmpd="sng">
                      <a:solidFill>
                        <a:srgbClr val="C4C2BE"/>
                      </a:solidFill>
                      <a:prstDash val="solid"/>
                    </a:lnB>
                  </a:tcPr>
                </a:tc>
                <a:tc>
                  <a:txBody>
                    <a:bodyPr/>
                    <a:lstStyle/>
                    <a:p>
                      <a:pPr marL="0" indent="0" algn="r">
                        <a:lnSpc>
                          <a:spcPts val="1960"/>
                        </a:lnSpc>
                        <a:buNone/>
                      </a:pPr>
                      <a:r>
                        <a:rPr sz="1400">
                          <a:solidFill>
                            <a:srgbClr val="111214"/>
                          </a:solidFill>
                          <a:latin typeface="Inter"/>
                          <a:ea typeface="Inter"/>
                          <a:cs typeface="Inter"/>
                        </a:rPr>
                        <a:t>RM1,000 by day 30</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B5B4B0"/>
                      </a:solidFill>
                      <a:prstDash val="solid"/>
                    </a:lnT>
                    <a:lnB w="12700" cmpd="sng">
                      <a:solidFill>
                        <a:srgbClr val="C4C2BE"/>
                      </a:solidFill>
                      <a:prstDash val="solid"/>
                    </a:lnB>
                  </a:tcPr>
                </a:tc>
                <a:tc>
                  <a:txBody>
                    <a:bodyPr/>
                    <a:lstStyle/>
                    <a:p>
                      <a:pPr marL="0" indent="0" algn="r">
                        <a:lnSpc>
                          <a:spcPts val="1960"/>
                        </a:lnSpc>
                        <a:buNone/>
                      </a:pPr>
                      <a:r>
                        <a:rPr sz="1400">
                          <a:solidFill>
                            <a:srgbClr val="111214"/>
                          </a:solidFill>
                          <a:latin typeface="Inter"/>
                          <a:ea typeface="Inter"/>
                          <a:cs typeface="Inter"/>
                        </a:rPr>
                        <a:t>RM1,200 − RM1,000</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B5B4B0"/>
                      </a:solidFill>
                      <a:prstDash val="solid"/>
                    </a:lnT>
                    <a:lnB w="12700" cmpd="sng">
                      <a:solidFill>
                        <a:srgbClr val="C4C2BE"/>
                      </a:solidFill>
                      <a:prstDash val="solid"/>
                    </a:lnB>
                  </a:tcPr>
                </a:tc>
                <a:tc>
                  <a:txBody>
                    <a:bodyPr/>
                    <a:lstStyle/>
                    <a:p>
                      <a:pPr marL="0" indent="0" algn="r">
                        <a:lnSpc>
                          <a:spcPts val="1960"/>
                        </a:lnSpc>
                        <a:buNone/>
                      </a:pPr>
                      <a:r>
                        <a:rPr sz="1400">
                          <a:solidFill>
                            <a:srgbClr val="111214"/>
                          </a:solidFill>
                          <a:latin typeface="Inter"/>
                          <a:ea typeface="Inter"/>
                          <a:cs typeface="Inter"/>
                        </a:rPr>
                        <a:t>RM1,000 − RM200</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B5B4B0"/>
                      </a:solidFill>
                      <a:prstDash val="solid"/>
                    </a:lnT>
                    <a:lnB w="12700" cmpd="sng">
                      <a:solidFill>
                        <a:srgbClr val="C4C2BE"/>
                      </a:solidFill>
                      <a:prstDash val="solid"/>
                    </a:lnB>
                  </a:tcPr>
                </a:tc>
              </a:tr>
              <a:tr h="385961">
                <a:tc>
                  <a:txBody>
                    <a:bodyPr/>
                    <a:lstStyle/>
                    <a:p>
                      <a:pPr marL="0" indent="0">
                        <a:lnSpc>
                          <a:spcPts val="1960"/>
                        </a:lnSpc>
                        <a:buNone/>
                      </a:pPr>
                      <a:r>
                        <a:rPr sz="1400">
                          <a:solidFill>
                            <a:srgbClr val="111214"/>
                          </a:solidFill>
                          <a:latin typeface="Inter"/>
                          <a:ea typeface="Inter"/>
                          <a:cs typeface="Inter"/>
                        </a:rPr>
                        <a:t>Net recovery</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gn="r">
                        <a:lnSpc>
                          <a:spcPts val="1960"/>
                        </a:lnSpc>
                        <a:buNone/>
                      </a:pPr>
                      <a:r>
                        <a:rPr sz="1400">
                          <a:solidFill>
                            <a:srgbClr val="111214"/>
                          </a:solidFill>
                          <a:latin typeface="Inter"/>
                          <a:ea typeface="Inter"/>
                          <a:cs typeface="Inter"/>
                        </a:rPr>
                        <a:t>RM1,000</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gn="r">
                        <a:lnSpc>
                          <a:spcPts val="1960"/>
                        </a:lnSpc>
                        <a:buNone/>
                      </a:pPr>
                      <a:r>
                        <a:rPr sz="1400">
                          <a:solidFill>
                            <a:srgbClr val="111214"/>
                          </a:solidFill>
                          <a:latin typeface="Inter"/>
                          <a:ea typeface="Inter"/>
                          <a:cs typeface="Inter"/>
                        </a:rPr>
                        <a:t>RM200</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gn="r">
                        <a:lnSpc>
                          <a:spcPts val="1960"/>
                        </a:lnSpc>
                        <a:buNone/>
                      </a:pPr>
                      <a:r>
                        <a:rPr sz="1400">
                          <a:solidFill>
                            <a:srgbClr val="111214"/>
                          </a:solidFill>
                          <a:latin typeface="Inter"/>
                          <a:ea typeface="Inter"/>
                          <a:cs typeface="Inter"/>
                        </a:rPr>
                        <a:t>RM800</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r>
              <a:tr h="385961">
                <a:tc>
                  <a:txBody>
                    <a:bodyPr/>
                    <a:lstStyle/>
                    <a:p>
                      <a:pPr marL="0" indent="0">
                        <a:lnSpc>
                          <a:spcPts val="1960"/>
                        </a:lnSpc>
                        <a:buNone/>
                      </a:pPr>
                      <a:r>
                        <a:rPr sz="1400">
                          <a:solidFill>
                            <a:srgbClr val="111214"/>
                          </a:solidFill>
                          <a:latin typeface="Inter"/>
                          <a:ea typeface="Inter"/>
                          <a:cs typeface="Inter"/>
                        </a:rPr>
                        <a:t>Restock contribution</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gn="r">
                        <a:lnSpc>
                          <a:spcPts val="1960"/>
                        </a:lnSpc>
                        <a:buNone/>
                      </a:pPr>
                      <a:r>
                        <a:rPr sz="1400">
                          <a:solidFill>
                            <a:srgbClr val="111214"/>
                          </a:solidFill>
                          <a:latin typeface="Inter"/>
                          <a:ea typeface="Inter"/>
                          <a:cs typeface="Inter"/>
                        </a:rPr>
                        <a:t>RM0</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gn="r">
                        <a:lnSpc>
                          <a:spcPts val="1960"/>
                        </a:lnSpc>
                        <a:buNone/>
                      </a:pPr>
                      <a:r>
                        <a:rPr sz="1400">
                          <a:solidFill>
                            <a:srgbClr val="111214"/>
                          </a:solidFill>
                          <a:latin typeface="Inter"/>
                          <a:ea typeface="Inter"/>
                          <a:cs typeface="Inter"/>
                        </a:rPr>
                        <a:t>RM600</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gn="r">
                        <a:lnSpc>
                          <a:spcPts val="1960"/>
                        </a:lnSpc>
                        <a:buNone/>
                      </a:pPr>
                      <a:r>
                        <a:rPr sz="1400">
                          <a:solidFill>
                            <a:srgbClr val="111214"/>
                          </a:solidFill>
                          <a:latin typeface="Inter"/>
                          <a:ea typeface="Inter"/>
                          <a:cs typeface="Inter"/>
                        </a:rPr>
                        <a:t>RM600</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r>
              <a:tr h="385961">
                <a:tc>
                  <a:txBody>
                    <a:bodyPr/>
                    <a:lstStyle/>
                    <a:p>
                      <a:pPr marL="0" indent="0">
                        <a:lnSpc>
                          <a:spcPts val="1960"/>
                        </a:lnSpc>
                        <a:buNone/>
                      </a:pPr>
                      <a:r>
                        <a:rPr sz="1400">
                          <a:solidFill>
                            <a:srgbClr val="111214"/>
                          </a:solidFill>
                          <a:latin typeface="Inter"/>
                          <a:ea typeface="Inter"/>
                          <a:cs typeface="Inter"/>
                        </a:rPr>
                        <a:t>Projected outcome</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gn="r">
                        <a:lnSpc>
                          <a:spcPts val="1960"/>
                        </a:lnSpc>
                        <a:buNone/>
                      </a:pPr>
                      <a:r>
                        <a:rPr sz="1400">
                          <a:solidFill>
                            <a:srgbClr val="111214"/>
                          </a:solidFill>
                          <a:latin typeface="Inter"/>
                          <a:ea typeface="Inter"/>
                          <a:cs typeface="Inter"/>
                        </a:rPr>
                        <a:t>RM1,000</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gn="r">
                        <a:lnSpc>
                          <a:spcPts val="1960"/>
                        </a:lnSpc>
                        <a:buNone/>
                      </a:pPr>
                      <a:r>
                        <a:rPr sz="1400">
                          <a:solidFill>
                            <a:srgbClr val="111214"/>
                          </a:solidFill>
                          <a:latin typeface="Inter"/>
                          <a:ea typeface="Inter"/>
                          <a:cs typeface="Inter"/>
                        </a:rPr>
                        <a:t>RM800</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gn="r">
                        <a:lnSpc>
                          <a:spcPts val="1960"/>
                        </a:lnSpc>
                        <a:buNone/>
                      </a:pPr>
                      <a:r>
                        <a:rPr sz="1400">
                          <a:solidFill>
                            <a:srgbClr val="2A64C8"/>
                          </a:solidFill>
                          <a:latin typeface="Inter"/>
                          <a:ea typeface="Inter"/>
                          <a:cs typeface="Inter"/>
                        </a:rPr>
                        <a:t>RM1,400</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r>
              <a:tr h="385961">
                <a:tc>
                  <a:txBody>
                    <a:bodyPr/>
                    <a:lstStyle/>
                    <a:p>
                      <a:pPr marL="0" indent="0">
                        <a:lnSpc>
                          <a:spcPts val="1960"/>
                        </a:lnSpc>
                        <a:buNone/>
                      </a:pPr>
                      <a:r>
                        <a:rPr sz="1400">
                          <a:solidFill>
                            <a:srgbClr val="111214"/>
                          </a:solidFill>
                          <a:latin typeface="Inter"/>
                          <a:ea typeface="Inter"/>
                          <a:cs typeface="Inter"/>
                        </a:rPr>
                        <a:t>vs keeping stock</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B5BCC7"/>
                      </a:solidFill>
                      <a:prstDash val="solid"/>
                    </a:lnR>
                    <a:lnT w="12700" cmpd="sng">
                      <a:solidFill>
                        <a:srgbClr val="C4C2BE"/>
                      </a:solidFill>
                      <a:prstDash val="solid"/>
                    </a:lnT>
                    <a:lnB w="12700" cmpd="sng">
                      <a:solidFill>
                        <a:srgbClr val="B5BCC7"/>
                      </a:solidFill>
                      <a:prstDash val="solid"/>
                    </a:lnB>
                    <a:solidFill>
                      <a:srgbClr val="E2EBFA"/>
                    </a:solidFill>
                  </a:tcPr>
                </a:tc>
                <a:tc>
                  <a:txBody>
                    <a:bodyPr/>
                    <a:lstStyle/>
                    <a:p>
                      <a:pPr marL="0" indent="0" algn="r">
                        <a:lnSpc>
                          <a:spcPts val="1960"/>
                        </a:lnSpc>
                        <a:buNone/>
                      </a:pPr>
                      <a:r>
                        <a:rPr sz="1400">
                          <a:solidFill>
                            <a:srgbClr val="111214"/>
                          </a:solidFill>
                          <a:latin typeface="Inter"/>
                          <a:ea typeface="Inter"/>
                          <a:cs typeface="Inter"/>
                        </a:rPr>
                        <a:t>RM0</a:t>
                      </a:r>
                      <a:endParaRPr sz="1400">
                        <a:latin typeface="Inter"/>
                        <a:ea typeface="Inter"/>
                        <a:cs typeface="Inter"/>
                      </a:endParaRPr>
                    </a:p>
                  </a:txBody>
                  <a:tcPr marL="62230" marR="62230" marT="62230" marB="62230" anchor="t">
                    <a:lnL w="12700" cmpd="sng">
                      <a:solidFill>
                        <a:srgbClr val="B5BCC7"/>
                      </a:solidFill>
                      <a:prstDash val="solid"/>
                    </a:lnL>
                    <a:lnR w="12700" cmpd="sng">
                      <a:solidFill>
                        <a:srgbClr val="B5BCC7"/>
                      </a:solidFill>
                      <a:prstDash val="solid"/>
                    </a:lnR>
                    <a:lnT w="12700" cmpd="sng">
                      <a:solidFill>
                        <a:srgbClr val="C4C2BE"/>
                      </a:solidFill>
                      <a:prstDash val="solid"/>
                    </a:lnT>
                    <a:lnB w="12700" cmpd="sng">
                      <a:solidFill>
                        <a:srgbClr val="B5BCC7"/>
                      </a:solidFill>
                      <a:prstDash val="solid"/>
                    </a:lnB>
                    <a:solidFill>
                      <a:srgbClr val="E2EBFA"/>
                    </a:solidFill>
                  </a:tcPr>
                </a:tc>
                <a:tc>
                  <a:txBody>
                    <a:bodyPr/>
                    <a:lstStyle/>
                    <a:p>
                      <a:pPr marL="0" indent="0" algn="r">
                        <a:lnSpc>
                          <a:spcPts val="1960"/>
                        </a:lnSpc>
                        <a:buNone/>
                      </a:pPr>
                      <a:r>
                        <a:rPr sz="1400">
                          <a:solidFill>
                            <a:srgbClr val="111214"/>
                          </a:solidFill>
                          <a:latin typeface="Inter"/>
                          <a:ea typeface="Inter"/>
                          <a:cs typeface="Inter"/>
                        </a:rPr>
                        <a:t>−RM200</a:t>
                      </a:r>
                      <a:endParaRPr sz="1400">
                        <a:latin typeface="Inter"/>
                        <a:ea typeface="Inter"/>
                        <a:cs typeface="Inter"/>
                      </a:endParaRPr>
                    </a:p>
                  </a:txBody>
                  <a:tcPr marL="62230" marR="62230" marT="62230" marB="62230" anchor="t">
                    <a:lnL w="12700" cmpd="sng">
                      <a:solidFill>
                        <a:srgbClr val="B5BCC7"/>
                      </a:solidFill>
                      <a:prstDash val="solid"/>
                    </a:lnL>
                    <a:lnR w="12700" cmpd="sng">
                      <a:solidFill>
                        <a:srgbClr val="B5BCC7"/>
                      </a:solidFill>
                      <a:prstDash val="solid"/>
                    </a:lnR>
                    <a:lnT w="12700" cmpd="sng">
                      <a:solidFill>
                        <a:srgbClr val="C4C2BE"/>
                      </a:solidFill>
                      <a:prstDash val="solid"/>
                    </a:lnT>
                    <a:lnB w="12700" cmpd="sng">
                      <a:solidFill>
                        <a:srgbClr val="B5BCC7"/>
                      </a:solidFill>
                      <a:prstDash val="solid"/>
                    </a:lnB>
                    <a:solidFill>
                      <a:srgbClr val="E2EBFA"/>
                    </a:solidFill>
                  </a:tcPr>
                </a:tc>
                <a:tc>
                  <a:txBody>
                    <a:bodyPr/>
                    <a:lstStyle/>
                    <a:p>
                      <a:pPr marL="0" indent="0" algn="r">
                        <a:lnSpc>
                          <a:spcPts val="1960"/>
                        </a:lnSpc>
                        <a:buNone/>
                      </a:pPr>
                      <a:r>
                        <a:rPr sz="1400">
                          <a:solidFill>
                            <a:srgbClr val="2A64C8"/>
                          </a:solidFill>
                          <a:latin typeface="Inter"/>
                          <a:ea typeface="Inter"/>
                          <a:cs typeface="Inter"/>
                        </a:rPr>
                        <a:t>+RM400</a:t>
                      </a:r>
                      <a:endParaRPr sz="1400">
                        <a:latin typeface="Inter"/>
                        <a:ea typeface="Inter"/>
                        <a:cs typeface="Inter"/>
                      </a:endParaRPr>
                    </a:p>
                  </a:txBody>
                  <a:tcPr marL="62230" marR="62230" marT="62230" marB="62230" anchor="t">
                    <a:lnL w="12700" cmpd="sng">
                      <a:solidFill>
                        <a:srgbClr val="B5BCC7"/>
                      </a:solidFill>
                      <a:prstDash val="solid"/>
                    </a:lnL>
                    <a:lnR w="12700" cmpd="sng">
                      <a:solidFill>
                        <a:srgbClr val="B5BCC7"/>
                      </a:solidFill>
                      <a:prstDash val="solid"/>
                    </a:lnR>
                    <a:lnT w="12700" cmpd="sng">
                      <a:solidFill>
                        <a:srgbClr val="C4C2BE"/>
                      </a:solidFill>
                      <a:prstDash val="solid"/>
                    </a:lnT>
                    <a:lnB w="12700" cmpd="sng">
                      <a:solidFill>
                        <a:srgbClr val="B5BCC7"/>
                      </a:solidFill>
                      <a:prstDash val="solid"/>
                    </a:lnB>
                    <a:solidFill>
                      <a:srgbClr val="E2EBFA"/>
                    </a:solidFill>
                  </a:tcPr>
                </a:tc>
              </a:tr>
            </a:tbl>
          </a:graphicData>
        </a:graphic>
      </p:graphicFrame>
      <p:sp>
        <p:nvSpPr>
          <p:cNvPr id="7" name="Text 2">
            <a:extLst xmlns:a="http://schemas.openxmlformats.org/drawingml/2006/main">
              <a:ext uri="{FF2B5EF4-FFF2-40B4-BE49-F238E27FC236}">
                <a16:creationId xmlns:a16="http://schemas.microsoft.com/office/drawing/2014/main" id="{5C973A94-5C4F-4851-BE13-E229805E4A5D}"/>
              </a:ext>
            </a:extLst>
          </p:cNvPr>
          <p:cNvSpPr>
            <a:spLocks xmlns:a="http://schemas.openxmlformats.org/drawingml/2006/main" noGrp="1"/>
          </p:cNvSpPr>
          <p:nvPr/>
        </p:nvSpPr>
        <p:spPr>
          <a:xfrm xmlns:a="http://schemas.openxmlformats.org/drawingml/2006/main">
            <a:off x="812800" y="6253494"/>
            <a:ext cx="10883392" cy="22350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200"/>
            </a:defPPr>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xmlns:a="http://schemas.openxmlformats.org/drawingml/2006/main">
            <a:pPr marL="0" indent="0" algn="l">
              <a:lnSpc>
                <a:spcPts val="1560"/>
              </a:lnSpc>
              <a:buNone/>
            </a:pPr>
            <a:r>
              <a:rPr sz="1200">
                <a:solidFill>
                  <a:srgbClr val="5B6070"/>
                </a:solidFill>
                <a:latin typeface="Inter"/>
                <a:ea typeface="Inter"/>
                <a:cs typeface="Inter"/>
              </a:rPr>
              <a:t>Synthetic 30-day case. Projected outcomes depend on costs, sales, capacity and timing.</a:t>
            </a:r>
            <a:endParaRPr sz="1200"/>
          </a:p>
        </p:txBody>
      </p:sp>
      <p:sp>
        <p:nvSpPr>
          <p:cNvPr id="8" name="financial-case-takeaway">
            <a:extLst xmlns:a="http://schemas.openxmlformats.org/drawingml/2006/main">
              <a:ext uri="{FF2B5EF4-FFF2-40B4-BE49-F238E27FC236}">
                <a16:creationId xmlns:a16="http://schemas.microsoft.com/office/drawing/2014/main" id="{F960CAAF-414F-408B-BAFB-07FD33B7D3EA}"/>
              </a:ext>
            </a:extLst>
          </p:cNvPr>
          <p:cNvSpPr>
            <a:spLocks xmlns:a="http://schemas.openxmlformats.org/drawingml/2006/main" noGrp="1"/>
          </p:cNvSpPr>
          <p:nvPr/>
        </p:nvSpPr>
        <p:spPr>
          <a:xfrm xmlns:a="http://schemas.openxmlformats.org/drawingml/2006/main">
            <a:off x="812768" y="50101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1">
                <a:solidFill>
                  <a:srgbClr val="2469E9"/>
                </a:solidFill>
                <a:latin typeface="Inter"/>
                <a:ea typeface="Inter"/>
                <a:cs typeface="Inter"/>
              </a:defRPr>
            </a:defPPr>
            <a:lvl1pPr>
              <a:defRPr sz="1950" b="1">
                <a:solidFill>
                  <a:srgbClr val="2469E9"/>
                </a:solidFill>
                <a:latin typeface="Inter"/>
                <a:ea typeface="Inter"/>
                <a:cs typeface="Inter"/>
              </a:defRPr>
            </a:lvl1pPr>
            <a:lvl2pPr>
              <a:defRPr sz="1950" b="1">
                <a:solidFill>
                  <a:srgbClr val="2469E9"/>
                </a:solidFill>
                <a:latin typeface="Inter"/>
                <a:ea typeface="Inter"/>
                <a:cs typeface="Inter"/>
              </a:defRPr>
            </a:lvl2pPr>
            <a:lvl3pPr>
              <a:defRPr sz="1950" b="1">
                <a:solidFill>
                  <a:srgbClr val="2469E9"/>
                </a:solidFill>
                <a:latin typeface="Inter"/>
                <a:ea typeface="Inter"/>
                <a:cs typeface="Inter"/>
              </a:defRPr>
            </a:lvl3pPr>
            <a:lvl4pPr>
              <a:defRPr sz="1950" b="1">
                <a:solidFill>
                  <a:srgbClr val="2469E9"/>
                </a:solidFill>
                <a:latin typeface="Inter"/>
                <a:ea typeface="Inter"/>
                <a:cs typeface="Inter"/>
              </a:defRPr>
            </a:lvl4pPr>
            <a:lvl5pPr>
              <a:defRPr sz="1950" b="1">
                <a:solidFill>
                  <a:srgbClr val="2469E9"/>
                </a:solidFill>
                <a:latin typeface="Inter"/>
                <a:ea typeface="Inter"/>
                <a:cs typeface="Inter"/>
              </a:defRPr>
            </a:lvl5pPr>
            <a:lvl6pPr>
              <a:defRPr sz="1950" b="1">
                <a:solidFill>
                  <a:srgbClr val="2469E9"/>
                </a:solidFill>
                <a:latin typeface="Inter"/>
                <a:ea typeface="Inter"/>
                <a:cs typeface="Inter"/>
              </a:defRPr>
            </a:lvl6pPr>
            <a:lvl7pPr>
              <a:defRPr sz="1950" b="1">
                <a:solidFill>
                  <a:srgbClr val="2469E9"/>
                </a:solidFill>
                <a:latin typeface="Inter"/>
                <a:ea typeface="Inter"/>
                <a:cs typeface="Inter"/>
              </a:defRPr>
            </a:lvl7pPr>
            <a:lvl8pPr>
              <a:defRPr sz="1950" b="1">
                <a:solidFill>
                  <a:srgbClr val="2469E9"/>
                </a:solidFill>
                <a:latin typeface="Inter"/>
                <a:ea typeface="Inter"/>
                <a:cs typeface="Inter"/>
              </a:defRPr>
            </a:lvl8pPr>
            <a:lvl9pPr>
              <a:defRPr sz="1950" b="1">
                <a:solidFill>
                  <a:srgbClr val="2469E9"/>
                </a:solidFill>
                <a:latin typeface="Inter"/>
                <a:ea typeface="Inter"/>
                <a:cs typeface="Inter"/>
              </a:defRPr>
            </a:lvl9pPr>
          </a:lstStyle>
          <a:p xmlns:a="http://schemas.openxmlformats.org/drawingml/2006/main">
            <a:pPr>
              <a:defRPr sz="1950" b="1">
                <a:solidFill>
                  <a:srgbClr val="2469E9"/>
                </a:solidFill>
                <a:latin typeface="Inter"/>
                <a:ea typeface="Inter"/>
                <a:cs typeface="Inter"/>
              </a:defRPr>
            </a:pPr>
            <a:r>
              <a:rPr sz="1950" b="1">
                <a:solidFill>
                  <a:srgbClr val="2469E9"/>
                </a:solidFill>
                <a:latin typeface="Inter"/>
                <a:ea typeface="Inter"/>
                <a:cs typeface="Inter"/>
              </a:rPr>
              <a:t>Buyer B leaves more value after clearance and replenishment costs.</a:t>
            </a:r>
          </a:p>
        </p:txBody>
      </p:sp>
    </p:spTree>
    <p:extLst>
      <p:ext uri="{BB962C8B-B14F-4D97-AF65-F5344CB8AC3E}">
        <p14:creationId xmlns:p14="http://schemas.microsoft.com/office/powerpoint/2010/main" val="384548064"/>
      </p:ext>
    </p:extLst>
  </p:cSld>
</p:sld>
</file>

<file path=ppt/slides/slide5.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50F94417-4434-4C26-B7D8-444CCDD41EE0}"/>
              </a:ext>
            </a:extLst>
          </p:cNvPr>
          <p:cNvPicPr>
            <a:picLocks xmlns:a="http://schemas.openxmlformats.org/drawingml/2006/main" noChangeAspect="1"/>
          </p:cNvPicPr>
          <p:nvPr/>
        </p:nvPicPr>
        <p:blipFill>
          <a:blip xmlns:r="http://schemas.openxmlformats.org/officeDocument/2006/relationships" xmlns:a="http://schemas.openxmlformats.org/drawingml/2006/main" r:embed="Rbf798c3866f8428b"/>
          <a:srcRect xmlns:a="http://schemas.openxmlformats.org/drawingml/2006/main" l="-111" t="0" r="-111" b="0"/>
          <a:stretch xmlns:a="http://schemas.openxmlformats.org/drawingml/2006/main"/>
        </p:blipFill>
        <p:spPr>
          <a:xfrm xmlns:a="http://schemas.openxmlformats.org/drawingml/2006/main">
            <a:off x="812800" y="431800"/>
            <a:ext cx="1435100" cy="254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FFD90723-3DF9-42A0-9651-D2D72623E7AF}"/>
              </a:ext>
            </a:extLst>
          </p:cNvPr>
          <p:cNvSpPr>
            <a:spLocks xmlns:a="http://schemas.openxmlformats.org/drawingml/2006/main" noGrp="1"/>
          </p:cNvSpPr>
          <p:nvPr/>
        </p:nvSpPr>
        <p:spPr>
          <a:xfrm xmlns:a="http://schemas.openxmlformats.org/drawingml/2006/main">
            <a:off x="11074400" y="406400"/>
            <a:ext cx="304800" cy="304800"/>
          </a:xfrm>
          <a:prstGeom xmlns:a="http://schemas.openxmlformats.org/drawingml/2006/main" prst="roundRect">
            <a:avLst>
              <a:gd name="adj" fmla="val 50000"/>
            </a:avLst>
          </a:prstGeom>
          <a:solidFill xmlns:a="http://schemas.openxmlformats.org/drawingml/2006/main">
            <a:srgbClr val="4F8BEA"/>
          </a:solidFill>
        </p:spPr>
      </p:sp>
      <p:pic>
        <p:nvPicPr>
          <p:cNvPr id="4" name="Image 1">
            <a:extLst xmlns:a="http://schemas.openxmlformats.org/drawingml/2006/main">
              <a:ext uri="{FF2B5EF4-FFF2-40B4-BE49-F238E27FC236}">
                <a16:creationId xmlns:a16="http://schemas.microsoft.com/office/drawing/2014/main" id="{C15E1571-BB51-4B31-868F-FBDA9CA50E0D}"/>
              </a:ext>
            </a:extLst>
          </p:cNvPr>
          <p:cNvPicPr>
            <a:picLocks xmlns:a="http://schemas.openxmlformats.org/drawingml/2006/main" noChangeAspect="1"/>
          </p:cNvPicPr>
          <p:nvPr/>
        </p:nvPicPr>
        <p:blipFill>
          <a:blip xmlns:r="http://schemas.openxmlformats.org/officeDocument/2006/relationships" xmlns:a="http://schemas.openxmlformats.org/drawingml/2006/main" r:embed="R574c4ceb819d4360"/>
          <a:srcRect xmlns:a="http://schemas.openxmlformats.org/drawingml/2006/main" l="0" t="0" r="0" b="0"/>
          <a:stretch xmlns:a="http://schemas.openxmlformats.org/drawingml/2006/main"/>
        </p:blipFill>
        <p:spPr>
          <a:xfrm xmlns:a="http://schemas.openxmlformats.org/drawingml/2006/main">
            <a:off x="11156950" y="514350"/>
            <a:ext cx="139700" cy="88900"/>
          </a:xfrm>
          <a:prstGeom xmlns:a="http://schemas.openxmlformats.org/drawingml/2006/main" prst="rect">
            <a:avLst/>
          </a:prstGeom>
        </p:spPr>
      </p:pic>
      <p:sp>
        <p:nvSpPr>
          <p:cNvPr id="5" name="Text 1">
            <a:extLst xmlns:a="http://schemas.openxmlformats.org/drawingml/2006/main">
              <a:ext uri="{FF2B5EF4-FFF2-40B4-BE49-F238E27FC236}">
                <a16:creationId xmlns:a16="http://schemas.microsoft.com/office/drawing/2014/main" id="{9AEF4014-EF2D-46B6-9272-21AD111BCD21}"/>
              </a:ext>
            </a:extLst>
          </p:cNvPr>
          <p:cNvSpPr>
            <a:spLocks xmlns:a="http://schemas.openxmlformats.org/drawingml/2006/main" noGrp="1"/>
          </p:cNvSpPr>
          <p:nvPr>
            <p:ph type="title" idx="0"/>
          </p:nvPr>
        </p:nvSpPr>
        <p:spPr>
          <a:xfrm xmlns:a="http://schemas.openxmlformats.org/drawingml/2006/main">
            <a:off x="812800" y="1219200"/>
            <a:ext cx="10883392" cy="66542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4575"/>
            </a:defPPr>
            <a:lvl1pPr>
              <a:defRPr sz="4575"/>
            </a:lvl1pPr>
            <a:lvl2pPr>
              <a:defRPr sz="4575"/>
            </a:lvl2pPr>
            <a:lvl3pPr>
              <a:defRPr sz="4575"/>
            </a:lvl3pPr>
            <a:lvl4pPr>
              <a:defRPr sz="4575"/>
            </a:lvl4pPr>
            <a:lvl5pPr>
              <a:defRPr sz="4575"/>
            </a:lvl5pPr>
            <a:lvl6pPr>
              <a:defRPr sz="4575"/>
            </a:lvl6pPr>
            <a:lvl7pPr>
              <a:defRPr sz="4575"/>
            </a:lvl7pPr>
            <a:lvl8pPr>
              <a:defRPr sz="4575"/>
            </a:lvl8pPr>
            <a:lvl9pPr>
              <a:defRPr sz="4575"/>
            </a:lvl9pPr>
          </a:lstStyle>
          <a:p xmlns:a="http://schemas.openxmlformats.org/drawingml/2006/main">
            <a:pPr marL="0" indent="0" algn="l">
              <a:lnSpc>
                <a:spcPts val="5040"/>
              </a:lnSpc>
              <a:buNone/>
            </a:pPr>
            <a:r>
              <a:rPr sz="4575" b="0" i="0">
                <a:solidFill>
                  <a:srgbClr val="111214"/>
                </a:solidFill>
                <a:latin typeface="Inter Tight"/>
                <a:ea typeface="Inter Tight"/>
                <a:cs typeface="Inter Tight"/>
              </a:rPr>
              <a:t>Why use WareOrb alongside Excel?</a:t>
            </a:r>
            <a:endParaRPr sz="4800"/>
          </a:p>
        </p:txBody>
      </p:sp>
      <p:sp>
        <p:nvSpPr>
          <p:cNvPr id="6" name="Text 2">
            <a:extLst xmlns:a="http://schemas.openxmlformats.org/drawingml/2006/main">
              <a:ext uri="{FF2B5EF4-FFF2-40B4-BE49-F238E27FC236}">
                <a16:creationId xmlns:a16="http://schemas.microsoft.com/office/drawing/2014/main" id="{8D750633-F93F-449D-8B3E-F0FFEEFB4EF3}"/>
              </a:ext>
            </a:extLst>
          </p:cNvPr>
          <p:cNvSpPr>
            <a:spLocks xmlns:a="http://schemas.openxmlformats.org/drawingml/2006/main" noGrp="1"/>
          </p:cNvSpPr>
          <p:nvPr/>
        </p:nvSpPr>
        <p:spPr>
          <a:xfrm xmlns:a="http://schemas.openxmlformats.org/drawingml/2006/main">
            <a:off x="812800" y="2265629"/>
            <a:ext cx="4458918" cy="25651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5B6070"/>
                </a:solidFill>
                <a:latin typeface="Inter"/>
                <a:ea typeface="Inter"/>
                <a:cs typeface="Inter"/>
              </a:rPr>
              <a:t>Excel already</a:t>
            </a:r>
            <a:endParaRPr sz="1300"/>
          </a:p>
        </p:txBody>
      </p:sp>
      <p:sp>
        <p:nvSpPr>
          <p:cNvPr id="7" name="Text 3">
            <a:extLst xmlns:a="http://schemas.openxmlformats.org/drawingml/2006/main">
              <a:ext uri="{FF2B5EF4-FFF2-40B4-BE49-F238E27FC236}">
                <a16:creationId xmlns:a16="http://schemas.microsoft.com/office/drawing/2014/main" id="{D12F4214-DCC3-4977-A944-530801265E64}"/>
              </a:ext>
            </a:extLst>
          </p:cNvPr>
          <p:cNvSpPr>
            <a:spLocks xmlns:a="http://schemas.openxmlformats.org/drawingml/2006/main" noGrp="1"/>
          </p:cNvSpPr>
          <p:nvPr/>
        </p:nvSpPr>
        <p:spPr>
          <a:xfrm xmlns:a="http://schemas.openxmlformats.org/drawingml/2006/main">
            <a:off x="812800" y="2623741"/>
            <a:ext cx="4458918" cy="1168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00"/>
              </a:lnSpc>
              <a:buNone/>
            </a:pPr>
            <a:r>
              <a:rPr sz="2000">
                <a:solidFill>
                  <a:srgbClr val="5B6070"/>
                </a:solidFill>
                <a:latin typeface="Inter Tight"/>
                <a:ea typeface="Inter Tight"/>
                <a:cs typeface="Inter Tight"/>
              </a:rPr>
              <a:t>Records stock</a:t>
            </a:r>
            <a:endParaRPr sz="2000"/>
          </a:p>
          <a:p xmlns:a="http://schemas.openxmlformats.org/drawingml/2006/main">
            <a:pPr marL="0" indent="0" algn="l">
              <a:lnSpc>
                <a:spcPts val="3000"/>
              </a:lnSpc>
              <a:buNone/>
            </a:pPr>
            <a:r>
              <a:rPr sz="2000">
                <a:solidFill>
                  <a:srgbClr val="5B6070"/>
                </a:solidFill>
                <a:latin typeface="Inter Tight"/>
                <a:ea typeface="Inter Tight"/>
                <a:cs typeface="Inter Tight"/>
              </a:rPr>
              <a:t>Calculates margins</a:t>
            </a:r>
            <a:endParaRPr sz="2000"/>
          </a:p>
          <a:p xmlns:a="http://schemas.openxmlformats.org/drawingml/2006/main">
            <a:pPr marL="0" indent="0" algn="l">
              <a:lnSpc>
                <a:spcPts val="3000"/>
              </a:lnSpc>
              <a:buNone/>
            </a:pPr>
            <a:r>
              <a:rPr sz="2000">
                <a:solidFill>
                  <a:srgbClr val="5B6070"/>
                </a:solidFill>
                <a:latin typeface="Inter Tight"/>
                <a:ea typeface="Inter Tight"/>
                <a:cs typeface="Inter Tight"/>
              </a:rPr>
              <a:t>Compares options</a:t>
            </a:r>
            <a:endParaRPr sz="2000"/>
          </a:p>
        </p:txBody>
      </p:sp>
      <p:sp>
        <p:nvSpPr>
          <p:cNvPr id="8" name="Shape 4">
            <a:extLst xmlns:a="http://schemas.openxmlformats.org/drawingml/2006/main">
              <a:ext uri="{FF2B5EF4-FFF2-40B4-BE49-F238E27FC236}">
                <a16:creationId xmlns:a16="http://schemas.microsoft.com/office/drawing/2014/main" id="{AD6997BB-19BB-4C10-BC63-06E705ABFFCF}"/>
              </a:ext>
            </a:extLst>
          </p:cNvPr>
          <p:cNvSpPr>
            <a:spLocks xmlns:a="http://schemas.openxmlformats.org/drawingml/2006/main" noGrp="1"/>
          </p:cNvSpPr>
          <p:nvPr/>
        </p:nvSpPr>
        <p:spPr>
          <a:xfrm xmlns:a="http://schemas.openxmlformats.org/drawingml/2006/main">
            <a:off x="812800" y="3896916"/>
            <a:ext cx="4329047" cy="0"/>
          </a:xfrm>
          <a:prstGeom xmlns:a="http://schemas.openxmlformats.org/drawingml/2006/main" prst="line">
            <a:avLst/>
          </a:prstGeom>
          <a:noFill xmlns:a="http://schemas.openxmlformats.org/drawingml/2006/main"/>
          <a:ln xmlns:a="http://schemas.openxmlformats.org/drawingml/2006/main" w="6350">
            <a:solidFill>
              <a:srgbClr val="DAD7D0"/>
            </a:solidFill>
            <a:prstDash val="solid"/>
          </a:ln>
        </p:spPr>
      </p:sp>
      <p:sp>
        <p:nvSpPr>
          <p:cNvPr id="9" name="Text 5">
            <a:extLst xmlns:a="http://schemas.openxmlformats.org/drawingml/2006/main">
              <a:ext uri="{FF2B5EF4-FFF2-40B4-BE49-F238E27FC236}">
                <a16:creationId xmlns:a16="http://schemas.microsoft.com/office/drawing/2014/main" id="{0073226D-98E1-4D95-BBEE-70247E29E939}"/>
              </a:ext>
            </a:extLst>
          </p:cNvPr>
          <p:cNvSpPr>
            <a:spLocks xmlns:a="http://schemas.openxmlformats.org/drawingml/2006/main" noGrp="1"/>
          </p:cNvSpPr>
          <p:nvPr/>
        </p:nvSpPr>
        <p:spPr>
          <a:xfrm xmlns:a="http://schemas.openxmlformats.org/drawingml/2006/main">
            <a:off x="812800" y="4050374"/>
            <a:ext cx="445891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B6070"/>
                </a:solidFill>
                <a:latin typeface="Inter"/>
                <a:ea typeface="Inter"/>
                <a:cs typeface="Inter"/>
              </a:rPr>
              <a:t>Spreadsheets and POS records stay as inputs</a:t>
            </a:r>
            <a:endParaRPr sz="1200"/>
          </a:p>
        </p:txBody>
      </p:sp>
      <p:sp>
        <p:nvSpPr>
          <p:cNvPr id="10" name="Text 6">
            <a:extLst xmlns:a="http://schemas.openxmlformats.org/drawingml/2006/main">
              <a:ext uri="{FF2B5EF4-FFF2-40B4-BE49-F238E27FC236}">
                <a16:creationId xmlns:a16="http://schemas.microsoft.com/office/drawing/2014/main" id="{CA74B345-F86F-4197-9456-A04C39FDEDEF}"/>
              </a:ext>
            </a:extLst>
          </p:cNvPr>
          <p:cNvSpPr>
            <a:spLocks xmlns:a="http://schemas.openxmlformats.org/drawingml/2006/main" noGrp="1"/>
          </p:cNvSpPr>
          <p:nvPr/>
        </p:nvSpPr>
        <p:spPr>
          <a:xfrm xmlns:a="http://schemas.openxmlformats.org/drawingml/2006/main">
            <a:off x="5751447" y="2265629"/>
            <a:ext cx="5796586" cy="25651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820"/>
              </a:lnSpc>
              <a:buNone/>
            </a:pPr>
            <a:r>
              <a:rPr sz="1300" b="1">
                <a:solidFill>
                  <a:srgbClr val="2A64C8"/>
                </a:solidFill>
                <a:latin typeface="Inter"/>
                <a:ea typeface="Inter"/>
                <a:cs typeface="Inter"/>
              </a:rPr>
              <a:t>Proposed workflow value</a:t>
            </a:r>
            <a:endParaRPr sz="1300"/>
          </a:p>
        </p:txBody>
      </p:sp>
      <p:sp>
        <p:nvSpPr>
          <p:cNvPr id="11" name="Text 7">
            <a:extLst xmlns:a="http://schemas.openxmlformats.org/drawingml/2006/main">
              <a:ext uri="{FF2B5EF4-FFF2-40B4-BE49-F238E27FC236}">
                <a16:creationId xmlns:a16="http://schemas.microsoft.com/office/drawing/2014/main" id="{7166D865-A3E8-41F4-81DE-E72C569FAD9B}"/>
              </a:ext>
            </a:extLst>
          </p:cNvPr>
          <p:cNvSpPr>
            <a:spLocks xmlns:a="http://schemas.openxmlformats.org/drawingml/2006/main" noGrp="1"/>
          </p:cNvSpPr>
          <p:nvPr/>
        </p:nvSpPr>
        <p:spPr>
          <a:xfrm xmlns:a="http://schemas.openxmlformats.org/drawingml/2006/main">
            <a:off x="5751447" y="2623741"/>
            <a:ext cx="5796586" cy="1549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000"/>
              </a:lnSpc>
              <a:buNone/>
            </a:pPr>
            <a:r>
              <a:rPr sz="2000">
                <a:solidFill>
                  <a:srgbClr val="111214"/>
                </a:solidFill>
                <a:latin typeface="Inter Tight"/>
                <a:ea typeface="Inter Tight"/>
                <a:cs typeface="Inter Tight"/>
              </a:rPr>
              <a:t>Standardised transport requests</a:t>
            </a:r>
            <a:endParaRPr sz="2000"/>
          </a:p>
          <a:p xmlns:a="http://schemas.openxmlformats.org/drawingml/2006/main">
            <a:pPr marL="0" indent="0" algn="l">
              <a:lnSpc>
                <a:spcPts val="3000"/>
              </a:lnSpc>
              <a:buNone/>
            </a:pPr>
            <a:r>
              <a:rPr sz="2000">
                <a:solidFill>
                  <a:srgbClr val="111214"/>
                </a:solidFill>
                <a:latin typeface="Inter Tight"/>
                <a:ea typeface="Inter Tight"/>
                <a:cs typeface="Inter Tight"/>
              </a:rPr>
              <a:t>Complete costs in one comparison</a:t>
            </a:r>
            <a:endParaRPr sz="2000"/>
          </a:p>
          <a:p xmlns:a="http://schemas.openxmlformats.org/drawingml/2006/main">
            <a:pPr marL="0" indent="0" algn="l">
              <a:lnSpc>
                <a:spcPts val="3000"/>
              </a:lnSpc>
              <a:buNone/>
            </a:pPr>
            <a:r>
              <a:rPr sz="2000">
                <a:solidFill>
                  <a:srgbClr val="111214"/>
                </a:solidFill>
                <a:latin typeface="Inter Tight"/>
                <a:ea typeface="Inter Tight"/>
                <a:cs typeface="Inter Tight"/>
              </a:rPr>
              <a:t>Approval tied to actual dispatch</a:t>
            </a:r>
            <a:endParaRPr sz="2000"/>
          </a:p>
          <a:p xmlns:a="http://schemas.openxmlformats.org/drawingml/2006/main">
            <a:pPr marL="0" indent="0" algn="l">
              <a:lnSpc>
                <a:spcPts val="3000"/>
              </a:lnSpc>
              <a:buNone/>
            </a:pPr>
            <a:r>
              <a:rPr sz="2000">
                <a:solidFill>
                  <a:srgbClr val="111214"/>
                </a:solidFill>
                <a:latin typeface="Inter Tight"/>
                <a:ea typeface="Inter Tight"/>
                <a:cs typeface="Inter Tight"/>
              </a:rPr>
              <a:t>Stock and capacity kept consistent</a:t>
            </a:r>
            <a:endParaRPr sz="2000"/>
          </a:p>
        </p:txBody>
      </p:sp>
      <p:sp>
        <p:nvSpPr>
          <p:cNvPr id="12" name="coordination-value">
            <a:extLst xmlns:a="http://schemas.openxmlformats.org/drawingml/2006/main">
              <a:ext uri="{FF2B5EF4-FFF2-40B4-BE49-F238E27FC236}">
                <a16:creationId xmlns:a16="http://schemas.microsoft.com/office/drawing/2014/main" id="{6E6E9033-2DBE-4F1F-B1E2-68F6B02E7EAF}"/>
              </a:ext>
            </a:extLst>
          </p:cNvPr>
          <p:cNvSpPr>
            <a:spLocks xmlns:a="http://schemas.openxmlformats.org/drawingml/2006/main" noGrp="1"/>
          </p:cNvSpPr>
          <p:nvPr/>
        </p:nvSpPr>
        <p:spPr>
          <a:xfrm xmlns:a="http://schemas.openxmlformats.org/drawingml/2006/main">
            <a:off x="812768" y="50387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1">
                <a:solidFill>
                  <a:srgbClr val="2469E9"/>
                </a:solidFill>
                <a:latin typeface="Inter"/>
                <a:ea typeface="Inter"/>
                <a:cs typeface="Inter"/>
              </a:defRPr>
            </a:defPPr>
            <a:lvl1pPr>
              <a:defRPr sz="1875" b="1">
                <a:solidFill>
                  <a:srgbClr val="2469E9"/>
                </a:solidFill>
                <a:latin typeface="Inter"/>
                <a:ea typeface="Inter"/>
                <a:cs typeface="Inter"/>
              </a:defRPr>
            </a:lvl1pPr>
            <a:lvl2pPr>
              <a:defRPr sz="1875" b="1">
                <a:solidFill>
                  <a:srgbClr val="2469E9"/>
                </a:solidFill>
                <a:latin typeface="Inter"/>
                <a:ea typeface="Inter"/>
                <a:cs typeface="Inter"/>
              </a:defRPr>
            </a:lvl2pPr>
            <a:lvl3pPr>
              <a:defRPr sz="1875" b="1">
                <a:solidFill>
                  <a:srgbClr val="2469E9"/>
                </a:solidFill>
                <a:latin typeface="Inter"/>
                <a:ea typeface="Inter"/>
                <a:cs typeface="Inter"/>
              </a:defRPr>
            </a:lvl3pPr>
            <a:lvl4pPr>
              <a:defRPr sz="1875" b="1">
                <a:solidFill>
                  <a:srgbClr val="2469E9"/>
                </a:solidFill>
                <a:latin typeface="Inter"/>
                <a:ea typeface="Inter"/>
                <a:cs typeface="Inter"/>
              </a:defRPr>
            </a:lvl4pPr>
            <a:lvl5pPr>
              <a:defRPr sz="1875" b="1">
                <a:solidFill>
                  <a:srgbClr val="2469E9"/>
                </a:solidFill>
                <a:latin typeface="Inter"/>
                <a:ea typeface="Inter"/>
                <a:cs typeface="Inter"/>
              </a:defRPr>
            </a:lvl5pPr>
            <a:lvl6pPr>
              <a:defRPr sz="1875" b="1">
                <a:solidFill>
                  <a:srgbClr val="2469E9"/>
                </a:solidFill>
                <a:latin typeface="Inter"/>
                <a:ea typeface="Inter"/>
                <a:cs typeface="Inter"/>
              </a:defRPr>
            </a:lvl6pPr>
            <a:lvl7pPr>
              <a:defRPr sz="1875" b="1">
                <a:solidFill>
                  <a:srgbClr val="2469E9"/>
                </a:solidFill>
                <a:latin typeface="Inter"/>
                <a:ea typeface="Inter"/>
                <a:cs typeface="Inter"/>
              </a:defRPr>
            </a:lvl7pPr>
            <a:lvl8pPr>
              <a:defRPr sz="1875" b="1">
                <a:solidFill>
                  <a:srgbClr val="2469E9"/>
                </a:solidFill>
                <a:latin typeface="Inter"/>
                <a:ea typeface="Inter"/>
                <a:cs typeface="Inter"/>
              </a:defRPr>
            </a:lvl8pPr>
            <a:lvl9pPr>
              <a:defRPr sz="1875" b="1">
                <a:solidFill>
                  <a:srgbClr val="2469E9"/>
                </a:solidFill>
                <a:latin typeface="Inter"/>
                <a:ea typeface="Inter"/>
                <a:cs typeface="Inter"/>
              </a:defRPr>
            </a:lvl9pPr>
          </a:lstStyle>
          <a:p xmlns:a="http://schemas.openxmlformats.org/drawingml/2006/main">
            <a:pPr>
              <a:defRPr sz="1875" b="1">
                <a:solidFill>
                  <a:srgbClr val="2469E9"/>
                </a:solidFill>
                <a:latin typeface="Inter"/>
                <a:ea typeface="Inter"/>
                <a:cs typeface="Inter"/>
              </a:defRPr>
            </a:pPr>
            <a:r>
              <a:rPr sz="1875" b="1">
                <a:solidFill>
                  <a:srgbClr val="2469E9"/>
                </a:solidFill>
                <a:latin typeface="Inter"/>
                <a:ea typeface="Inter"/>
                <a:cs typeface="Inter"/>
              </a:rPr>
              <a:t>Less repeated coordination, with an owner-reviewed decision.</a:t>
            </a:r>
          </a:p>
        </p:txBody>
      </p:sp>
    </p:spTree>
    <p:extLst>
      <p:ext uri="{BB962C8B-B14F-4D97-AF65-F5344CB8AC3E}">
        <p14:creationId xmlns:p14="http://schemas.microsoft.com/office/powerpoint/2010/main" val="952758436"/>
      </p:ext>
    </p:extLst>
  </p:cSld>
</p:sld>
</file>

<file path=ppt/slides/slide6.xml><?xml version="1.0" encoding="utf-8"?>
<p:sld xmlns:p="http://schemas.openxmlformats.org/presentationml/2006/main">
  <p:cSld>
    <p:bg>
      <p:bgPr>
        <a:solidFill xmlns:a="http://schemas.openxmlformats.org/drawingml/2006/main">
          <a:srgbClr val="16171B"/>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526EFFCC-2717-46CE-B190-23B14C064F40}"/>
              </a:ext>
            </a:extLst>
          </p:cNvPr>
          <p:cNvPicPr>
            <a:picLocks xmlns:a="http://schemas.openxmlformats.org/drawingml/2006/main" noChangeAspect="1"/>
          </p:cNvPicPr>
          <p:nvPr/>
        </p:nvPicPr>
        <p:blipFill>
          <a:blip xmlns:r="http://schemas.openxmlformats.org/officeDocument/2006/relationships" xmlns:a="http://schemas.openxmlformats.org/drawingml/2006/main" r:embed="Rc2ece3f5ebd24fe5"/>
          <a:srcRect xmlns:a="http://schemas.openxmlformats.org/drawingml/2006/main" l="-111" t="0" r="-111" b="0"/>
          <a:stretch xmlns:a="http://schemas.openxmlformats.org/drawingml/2006/main"/>
        </p:blipFill>
        <p:spPr>
          <a:xfrm xmlns:a="http://schemas.openxmlformats.org/drawingml/2006/main">
            <a:off x="812800" y="431800"/>
            <a:ext cx="1435100" cy="254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952B65EC-5F52-4FB1-A1D7-D6F04E047791}"/>
              </a:ext>
            </a:extLst>
          </p:cNvPr>
          <p:cNvSpPr>
            <a:spLocks xmlns:a="http://schemas.openxmlformats.org/drawingml/2006/main" noGrp="1"/>
          </p:cNvSpPr>
          <p:nvPr/>
        </p:nvSpPr>
        <p:spPr>
          <a:xfrm xmlns:a="http://schemas.openxmlformats.org/drawingml/2006/main">
            <a:off x="11074400" y="406400"/>
            <a:ext cx="304800" cy="304800"/>
          </a:xfrm>
          <a:prstGeom xmlns:a="http://schemas.openxmlformats.org/drawingml/2006/main" prst="roundRect">
            <a:avLst>
              <a:gd name="adj" fmla="val 50000"/>
            </a:avLst>
          </a:prstGeom>
          <a:solidFill xmlns:a="http://schemas.openxmlformats.org/drawingml/2006/main">
            <a:srgbClr val="4F8BEA"/>
          </a:solidFill>
        </p:spPr>
      </p:sp>
      <p:pic>
        <p:nvPicPr>
          <p:cNvPr id="4" name="Image 1">
            <a:extLst xmlns:a="http://schemas.openxmlformats.org/drawingml/2006/main">
              <a:ext uri="{FF2B5EF4-FFF2-40B4-BE49-F238E27FC236}">
                <a16:creationId xmlns:a16="http://schemas.microsoft.com/office/drawing/2014/main" id="{451BD575-54D2-45B2-A3A4-E39DB6A11669}"/>
              </a:ext>
            </a:extLst>
          </p:cNvPr>
          <p:cNvPicPr>
            <a:picLocks xmlns:a="http://schemas.openxmlformats.org/drawingml/2006/main" noChangeAspect="1"/>
          </p:cNvPicPr>
          <p:nvPr/>
        </p:nvPicPr>
        <p:blipFill>
          <a:blip xmlns:r="http://schemas.openxmlformats.org/officeDocument/2006/relationships" xmlns:a="http://schemas.openxmlformats.org/drawingml/2006/main" r:embed="Rbeed63a30d0f4fac"/>
          <a:srcRect xmlns:a="http://schemas.openxmlformats.org/drawingml/2006/main" l="0" t="0" r="0" b="0"/>
          <a:stretch xmlns:a="http://schemas.openxmlformats.org/drawingml/2006/main"/>
        </p:blipFill>
        <p:spPr>
          <a:xfrm xmlns:a="http://schemas.openxmlformats.org/drawingml/2006/main">
            <a:off x="11156950" y="514350"/>
            <a:ext cx="139700" cy="88900"/>
          </a:xfrm>
          <a:prstGeom xmlns:a="http://schemas.openxmlformats.org/drawingml/2006/main" prst="rect">
            <a:avLst/>
          </a:prstGeom>
        </p:spPr>
      </p:pic>
      <p:sp>
        <p:nvSpPr>
          <p:cNvPr id="5" name="Text 1">
            <a:extLst xmlns:a="http://schemas.openxmlformats.org/drawingml/2006/main">
              <a:ext uri="{FF2B5EF4-FFF2-40B4-BE49-F238E27FC236}">
                <a16:creationId xmlns:a16="http://schemas.microsoft.com/office/drawing/2014/main" id="{9A6CA2AA-C923-41DA-851B-7C0D7D372E71}"/>
              </a:ext>
            </a:extLst>
          </p:cNvPr>
          <p:cNvSpPr>
            <a:spLocks xmlns:a="http://schemas.openxmlformats.org/drawingml/2006/main" noGrp="1"/>
          </p:cNvSpPr>
          <p:nvPr>
            <p:ph type="title" idx="0"/>
          </p:nvPr>
        </p:nvSpPr>
        <p:spPr>
          <a:xfrm xmlns:a="http://schemas.openxmlformats.org/drawingml/2006/main">
            <a:off x="812800" y="2443758"/>
            <a:ext cx="10177904" cy="2692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0"/>
              </a:lnSpc>
              <a:buNone/>
            </a:pPr>
            <a:r>
              <a:rPr sz="20000" b="0" i="0">
                <a:solidFill>
                  <a:srgbClr val="EDEDEF"/>
                </a:solidFill>
                <a:latin typeface="Inter Tight"/>
                <a:ea typeface="Inter Tight"/>
                <a:cs typeface="Inter Tight"/>
              </a:rPr>
              <a:t>Demo</a:t>
            </a:r>
            <a:endParaRPr sz="20000"/>
          </a:p>
        </p:txBody>
      </p:sp>
    </p:spTree>
    <p:extLst>
      <p:ext uri="{BB962C8B-B14F-4D97-AF65-F5344CB8AC3E}">
        <p14:creationId xmlns:p14="http://schemas.microsoft.com/office/powerpoint/2010/main" val="894879030"/>
      </p:ext>
    </p:extLst>
  </p:cSld>
</p:sld>
</file>

<file path=ppt/slides/slide7.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542F53D5-731D-483F-BCA0-46734ABE6339}"/>
              </a:ext>
            </a:extLst>
          </p:cNvPr>
          <p:cNvPicPr>
            <a:picLocks xmlns:a="http://schemas.openxmlformats.org/drawingml/2006/main" noChangeAspect="1"/>
          </p:cNvPicPr>
          <p:nvPr/>
        </p:nvPicPr>
        <p:blipFill>
          <a:blip xmlns:r="http://schemas.openxmlformats.org/officeDocument/2006/relationships" xmlns:a="http://schemas.openxmlformats.org/drawingml/2006/main" r:embed="Ra631f00faeaf4c02"/>
          <a:srcRect xmlns:a="http://schemas.openxmlformats.org/drawingml/2006/main" l="-111" t="0" r="-111" b="0"/>
          <a:stretch xmlns:a="http://schemas.openxmlformats.org/drawingml/2006/main"/>
        </p:blipFill>
        <p:spPr>
          <a:xfrm xmlns:a="http://schemas.openxmlformats.org/drawingml/2006/main">
            <a:off x="812800" y="431800"/>
            <a:ext cx="1435100" cy="254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7541E509-7DE6-4CC0-8851-2E3A60C4BBC5}"/>
              </a:ext>
            </a:extLst>
          </p:cNvPr>
          <p:cNvSpPr>
            <a:spLocks xmlns:a="http://schemas.openxmlformats.org/drawingml/2006/main" noGrp="1"/>
          </p:cNvSpPr>
          <p:nvPr/>
        </p:nvSpPr>
        <p:spPr>
          <a:xfrm xmlns:a="http://schemas.openxmlformats.org/drawingml/2006/main">
            <a:off x="11074400" y="406400"/>
            <a:ext cx="304800" cy="304800"/>
          </a:xfrm>
          <a:prstGeom xmlns:a="http://schemas.openxmlformats.org/drawingml/2006/main" prst="roundRect">
            <a:avLst>
              <a:gd name="adj" fmla="val 50000"/>
            </a:avLst>
          </a:prstGeom>
          <a:solidFill xmlns:a="http://schemas.openxmlformats.org/drawingml/2006/main">
            <a:srgbClr val="4F8BEA"/>
          </a:solidFill>
        </p:spPr>
      </p:sp>
      <p:pic>
        <p:nvPicPr>
          <p:cNvPr id="4" name="Image 1">
            <a:extLst xmlns:a="http://schemas.openxmlformats.org/drawingml/2006/main">
              <a:ext uri="{FF2B5EF4-FFF2-40B4-BE49-F238E27FC236}">
                <a16:creationId xmlns:a16="http://schemas.microsoft.com/office/drawing/2014/main" id="{2CE3EA5F-3579-4784-837A-545A7B952908}"/>
              </a:ext>
            </a:extLst>
          </p:cNvPr>
          <p:cNvPicPr>
            <a:picLocks xmlns:a="http://schemas.openxmlformats.org/drawingml/2006/main" noChangeAspect="1"/>
          </p:cNvPicPr>
          <p:nvPr/>
        </p:nvPicPr>
        <p:blipFill>
          <a:blip xmlns:r="http://schemas.openxmlformats.org/officeDocument/2006/relationships" xmlns:a="http://schemas.openxmlformats.org/drawingml/2006/main" r:embed="R10a74bd82ac04420"/>
          <a:srcRect xmlns:a="http://schemas.openxmlformats.org/drawingml/2006/main" l="0" t="0" r="0" b="0"/>
          <a:stretch xmlns:a="http://schemas.openxmlformats.org/drawingml/2006/main"/>
        </p:blipFill>
        <p:spPr>
          <a:xfrm xmlns:a="http://schemas.openxmlformats.org/drawingml/2006/main">
            <a:off x="11156950" y="514350"/>
            <a:ext cx="139700" cy="88900"/>
          </a:xfrm>
          <a:prstGeom xmlns:a="http://schemas.openxmlformats.org/drawingml/2006/main" prst="rect">
            <a:avLst/>
          </a:prstGeom>
        </p:spPr>
      </p:pic>
      <p:sp>
        <p:nvSpPr>
          <p:cNvPr id="5" name="Text 1">
            <a:extLst xmlns:a="http://schemas.openxmlformats.org/drawingml/2006/main">
              <a:ext uri="{FF2B5EF4-FFF2-40B4-BE49-F238E27FC236}">
                <a16:creationId xmlns:a16="http://schemas.microsoft.com/office/drawing/2014/main" id="{05BDB6C1-CFB9-457E-812E-CF4CE31662A7}"/>
              </a:ext>
            </a:extLst>
          </p:cNvPr>
          <p:cNvSpPr>
            <a:spLocks xmlns:a="http://schemas.openxmlformats.org/drawingml/2006/main" noGrp="1"/>
          </p:cNvSpPr>
          <p:nvPr>
            <p:ph type="title" idx="0"/>
          </p:nvPr>
        </p:nvSpPr>
        <p:spPr>
          <a:xfrm xmlns:a="http://schemas.openxmlformats.org/drawingml/2006/main">
            <a:off x="812800" y="1219200"/>
            <a:ext cx="10883392" cy="66542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4650"/>
            </a:defPPr>
            <a:lvl1pPr>
              <a:defRPr sz="4650"/>
            </a:lvl1pPr>
            <a:lvl2pPr>
              <a:defRPr sz="4650"/>
            </a:lvl2pPr>
            <a:lvl3pPr>
              <a:defRPr sz="4650"/>
            </a:lvl3pPr>
            <a:lvl4pPr>
              <a:defRPr sz="4650"/>
            </a:lvl4pPr>
            <a:lvl5pPr>
              <a:defRPr sz="4650"/>
            </a:lvl5pPr>
            <a:lvl6pPr>
              <a:defRPr sz="4650"/>
            </a:lvl6pPr>
            <a:lvl7pPr>
              <a:defRPr sz="4650"/>
            </a:lvl7pPr>
            <a:lvl8pPr>
              <a:defRPr sz="4650"/>
            </a:lvl8pPr>
            <a:lvl9pPr>
              <a:defRPr sz="4650"/>
            </a:lvl9pPr>
          </a:lstStyle>
          <a:p xmlns:a="http://schemas.openxmlformats.org/drawingml/2006/main">
            <a:pPr marL="0" indent="0" algn="l">
              <a:lnSpc>
                <a:spcPts val="5040"/>
              </a:lnSpc>
              <a:buNone/>
            </a:pPr>
            <a:r>
              <a:rPr sz="4650" b="0" i="0">
                <a:solidFill>
                  <a:srgbClr val="111214"/>
                </a:solidFill>
                <a:latin typeface="Inter Tight"/>
                <a:ea typeface="Inter Tight"/>
                <a:cs typeface="Inter Tight"/>
              </a:rPr>
              <a:t>The business case for adoption</a:t>
            </a:r>
            <a:endParaRPr sz="4800"/>
          </a:p>
        </p:txBody>
      </p:sp>
      <p:sp>
        <p:nvSpPr>
          <p:cNvPr id="6" name="Shape 2">
            <a:extLst xmlns:a="http://schemas.openxmlformats.org/drawingml/2006/main">
              <a:ext uri="{FF2B5EF4-FFF2-40B4-BE49-F238E27FC236}">
                <a16:creationId xmlns:a16="http://schemas.microsoft.com/office/drawing/2014/main" id="{DE39337D-6FB7-4F63-AC07-334F1FAAF157}"/>
              </a:ext>
            </a:extLst>
          </p:cNvPr>
          <p:cNvSpPr>
            <a:spLocks xmlns:a="http://schemas.openxmlformats.org/drawingml/2006/main" noGrp="1"/>
          </p:cNvSpPr>
          <p:nvPr/>
        </p:nvSpPr>
        <p:spPr>
          <a:xfrm xmlns:a="http://schemas.openxmlformats.org/drawingml/2006/main">
            <a:off x="812800" y="2275154"/>
            <a:ext cx="3318933" cy="0"/>
          </a:xfrm>
          <a:prstGeom xmlns:a="http://schemas.openxmlformats.org/drawingml/2006/main" prst="line">
            <a:avLst/>
          </a:prstGeom>
          <a:noFill xmlns:a="http://schemas.openxmlformats.org/drawingml/2006/main"/>
          <a:ln xmlns:a="http://schemas.openxmlformats.org/drawingml/2006/main" w="19050">
            <a:solidFill>
              <a:srgbClr val="111214"/>
            </a:solidFill>
            <a:prstDash val="solid"/>
          </a:ln>
        </p:spPr>
      </p:sp>
      <p:sp>
        <p:nvSpPr>
          <p:cNvPr id="7" name="Text 3">
            <a:extLst xmlns:a="http://schemas.openxmlformats.org/drawingml/2006/main">
              <a:ext uri="{FF2B5EF4-FFF2-40B4-BE49-F238E27FC236}">
                <a16:creationId xmlns:a16="http://schemas.microsoft.com/office/drawing/2014/main" id="{06139448-2D21-4136-83C7-4D5DC3B3573D}"/>
              </a:ext>
            </a:extLst>
          </p:cNvPr>
          <p:cNvSpPr>
            <a:spLocks xmlns:a="http://schemas.openxmlformats.org/drawingml/2006/main" noGrp="1"/>
          </p:cNvSpPr>
          <p:nvPr/>
        </p:nvSpPr>
        <p:spPr>
          <a:xfrm xmlns:a="http://schemas.openxmlformats.org/drawingml/2006/main">
            <a:off x="812800" y="2447925"/>
            <a:ext cx="3418501"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lgn="l">
              <a:lnSpc>
                <a:spcPts val="1820"/>
              </a:lnSpc>
              <a:buNone/>
            </a:pPr>
            <a:r>
              <a:rPr sz="1350" b="1">
                <a:solidFill>
                  <a:srgbClr val="111214"/>
                </a:solidFill>
                <a:latin typeface="Inter"/>
                <a:ea typeface="Inter"/>
                <a:cs typeface="Inter"/>
              </a:rPr>
              <a:t>Gain in the worked example</a:t>
            </a:r>
            <a:endParaRPr sz="1300"/>
          </a:p>
        </p:txBody>
      </p:sp>
      <p:sp>
        <p:nvSpPr>
          <p:cNvPr id="8" name="Text 4">
            <a:extLst xmlns:a="http://schemas.openxmlformats.org/drawingml/2006/main">
              <a:ext uri="{FF2B5EF4-FFF2-40B4-BE49-F238E27FC236}">
                <a16:creationId xmlns:a16="http://schemas.microsoft.com/office/drawing/2014/main" id="{4BFC7D94-405D-4791-B48D-D3B3074FAA2A}"/>
              </a:ext>
            </a:extLst>
          </p:cNvPr>
          <p:cNvSpPr>
            <a:spLocks xmlns:a="http://schemas.openxmlformats.org/drawingml/2006/main" noGrp="1"/>
          </p:cNvSpPr>
          <p:nvPr/>
        </p:nvSpPr>
        <p:spPr>
          <a:xfrm xmlns:a="http://schemas.openxmlformats.org/drawingml/2006/main">
            <a:off x="812800" y="3048000"/>
            <a:ext cx="3418501" cy="9048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4800">
                <a:solidFill>
                  <a:srgbClr val="2469E9"/>
                </a:solidFill>
              </a:defRPr>
            </a:defPPr>
            <a:lvl1pPr>
              <a:defRPr sz="4800">
                <a:solidFill>
                  <a:srgbClr val="2469E9"/>
                </a:solidFill>
              </a:defRPr>
            </a:lvl1pPr>
            <a:lvl2pPr>
              <a:defRPr sz="4800">
                <a:solidFill>
                  <a:srgbClr val="2469E9"/>
                </a:solidFill>
              </a:defRPr>
            </a:lvl2pPr>
            <a:lvl3pPr>
              <a:defRPr sz="4800">
                <a:solidFill>
                  <a:srgbClr val="2469E9"/>
                </a:solidFill>
              </a:defRPr>
            </a:lvl3pPr>
            <a:lvl4pPr>
              <a:defRPr sz="4800">
                <a:solidFill>
                  <a:srgbClr val="2469E9"/>
                </a:solidFill>
              </a:defRPr>
            </a:lvl4pPr>
            <a:lvl5pPr>
              <a:defRPr sz="4800">
                <a:solidFill>
                  <a:srgbClr val="2469E9"/>
                </a:solidFill>
              </a:defRPr>
            </a:lvl5pPr>
            <a:lvl6pPr>
              <a:defRPr sz="4800">
                <a:solidFill>
                  <a:srgbClr val="2469E9"/>
                </a:solidFill>
              </a:defRPr>
            </a:lvl6pPr>
            <a:lvl7pPr>
              <a:defRPr sz="4800">
                <a:solidFill>
                  <a:srgbClr val="2469E9"/>
                </a:solidFill>
              </a:defRPr>
            </a:lvl7pPr>
            <a:lvl8pPr>
              <a:defRPr sz="4800">
                <a:solidFill>
                  <a:srgbClr val="2469E9"/>
                </a:solidFill>
              </a:defRPr>
            </a:lvl8pPr>
            <a:lvl9pPr>
              <a:defRPr sz="4800">
                <a:solidFill>
                  <a:srgbClr val="2469E9"/>
                </a:solidFill>
              </a:defRPr>
            </a:lvl9pPr>
          </a:lstStyle>
          <a:p xmlns:a="http://schemas.openxmlformats.org/drawingml/2006/main">
            <a:pPr marL="0" indent="0" algn="l">
              <a:lnSpc>
                <a:spcPts val="2610"/>
              </a:lnSpc>
              <a:buNone/>
            </a:pPr>
            <a:r>
              <a:rPr sz="4800">
                <a:solidFill>
                  <a:srgbClr val="2469E9"/>
                </a:solidFill>
                <a:latin typeface="Inter Tight"/>
                <a:ea typeface="Inter Tight"/>
                <a:cs typeface="Inter Tight"/>
              </a:rPr>
              <a:t>+RM400</a:t>
            </a:r>
            <a:endParaRPr sz="1800"/>
          </a:p>
        </p:txBody>
      </p:sp>
      <p:sp>
        <p:nvSpPr>
          <p:cNvPr id="9" name="Shape 5">
            <a:extLst xmlns:a="http://schemas.openxmlformats.org/drawingml/2006/main">
              <a:ext uri="{FF2B5EF4-FFF2-40B4-BE49-F238E27FC236}">
                <a16:creationId xmlns:a16="http://schemas.microsoft.com/office/drawing/2014/main" id="{A26357E3-15AE-4CE7-899F-B20A7A0A91DF}"/>
              </a:ext>
            </a:extLst>
          </p:cNvPr>
          <p:cNvSpPr>
            <a:spLocks xmlns:a="http://schemas.openxmlformats.org/drawingml/2006/main" noGrp="1"/>
          </p:cNvSpPr>
          <p:nvPr/>
        </p:nvSpPr>
        <p:spPr>
          <a:xfrm xmlns:a="http://schemas.openxmlformats.org/drawingml/2006/main">
            <a:off x="4436533" y="2275154"/>
            <a:ext cx="3318933" cy="0"/>
          </a:xfrm>
          <a:prstGeom xmlns:a="http://schemas.openxmlformats.org/drawingml/2006/main" prst="line">
            <a:avLst/>
          </a:prstGeom>
          <a:noFill xmlns:a="http://schemas.openxmlformats.org/drawingml/2006/main"/>
          <a:ln xmlns:a="http://schemas.openxmlformats.org/drawingml/2006/main" w="19050">
            <a:solidFill>
              <a:srgbClr val="4F8BEA"/>
            </a:solidFill>
            <a:prstDash val="solid"/>
          </a:ln>
        </p:spPr>
      </p:sp>
      <p:sp>
        <p:nvSpPr>
          <p:cNvPr id="10" name="Text 6">
            <a:extLst xmlns:a="http://schemas.openxmlformats.org/drawingml/2006/main">
              <a:ext uri="{FF2B5EF4-FFF2-40B4-BE49-F238E27FC236}">
                <a16:creationId xmlns:a16="http://schemas.microsoft.com/office/drawing/2014/main" id="{9A4511AD-727A-4F23-9AA0-915E7D50145D}"/>
              </a:ext>
            </a:extLst>
          </p:cNvPr>
          <p:cNvSpPr>
            <a:spLocks xmlns:a="http://schemas.openxmlformats.org/drawingml/2006/main" noGrp="1"/>
          </p:cNvSpPr>
          <p:nvPr/>
        </p:nvSpPr>
        <p:spPr>
          <a:xfrm xmlns:a="http://schemas.openxmlformats.org/drawingml/2006/main">
            <a:off x="4436533" y="2447925"/>
            <a:ext cx="3418501"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lgn="l">
              <a:lnSpc>
                <a:spcPts val="1820"/>
              </a:lnSpc>
              <a:buNone/>
            </a:pPr>
            <a:r>
              <a:rPr sz="1350" b="1">
                <a:solidFill>
                  <a:srgbClr val="2A64C8"/>
                </a:solidFill>
                <a:latin typeface="Inter"/>
                <a:ea typeface="Inter"/>
                <a:cs typeface="Inter"/>
              </a:rPr>
              <a:t>Assumed total monthly cost</a:t>
            </a:r>
            <a:endParaRPr sz="1300"/>
          </a:p>
        </p:txBody>
      </p:sp>
      <p:sp>
        <p:nvSpPr>
          <p:cNvPr id="11" name="Text 7">
            <a:extLst xmlns:a="http://schemas.openxmlformats.org/drawingml/2006/main">
              <a:ext uri="{FF2B5EF4-FFF2-40B4-BE49-F238E27FC236}">
                <a16:creationId xmlns:a16="http://schemas.microsoft.com/office/drawing/2014/main" id="{093B4F34-18AC-4E71-9A0A-DFCA989ECCAA}"/>
              </a:ext>
            </a:extLst>
          </p:cNvPr>
          <p:cNvSpPr>
            <a:spLocks xmlns:a="http://schemas.openxmlformats.org/drawingml/2006/main" noGrp="1"/>
          </p:cNvSpPr>
          <p:nvPr/>
        </p:nvSpPr>
        <p:spPr>
          <a:xfrm xmlns:a="http://schemas.openxmlformats.org/drawingml/2006/main">
            <a:off x="4436533" y="3048000"/>
            <a:ext cx="3418501" cy="9048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4800">
                <a:solidFill>
                  <a:srgbClr val="111214"/>
                </a:solidFill>
              </a:defRPr>
            </a:defPPr>
            <a:lvl1pPr>
              <a:defRPr sz="4800">
                <a:solidFill>
                  <a:srgbClr val="111214"/>
                </a:solidFill>
              </a:defRPr>
            </a:lvl1pPr>
            <a:lvl2pPr>
              <a:defRPr sz="4800">
                <a:solidFill>
                  <a:srgbClr val="111214"/>
                </a:solidFill>
              </a:defRPr>
            </a:lvl2pPr>
            <a:lvl3pPr>
              <a:defRPr sz="4800">
                <a:solidFill>
                  <a:srgbClr val="111214"/>
                </a:solidFill>
              </a:defRPr>
            </a:lvl3pPr>
            <a:lvl4pPr>
              <a:defRPr sz="4800">
                <a:solidFill>
                  <a:srgbClr val="111214"/>
                </a:solidFill>
              </a:defRPr>
            </a:lvl4pPr>
            <a:lvl5pPr>
              <a:defRPr sz="4800">
                <a:solidFill>
                  <a:srgbClr val="111214"/>
                </a:solidFill>
              </a:defRPr>
            </a:lvl5pPr>
            <a:lvl6pPr>
              <a:defRPr sz="4800">
                <a:solidFill>
                  <a:srgbClr val="111214"/>
                </a:solidFill>
              </a:defRPr>
            </a:lvl6pPr>
            <a:lvl7pPr>
              <a:defRPr sz="4800">
                <a:solidFill>
                  <a:srgbClr val="111214"/>
                </a:solidFill>
              </a:defRPr>
            </a:lvl7pPr>
            <a:lvl8pPr>
              <a:defRPr sz="4800">
                <a:solidFill>
                  <a:srgbClr val="111214"/>
                </a:solidFill>
              </a:defRPr>
            </a:lvl8pPr>
            <a:lvl9pPr>
              <a:defRPr sz="4800">
                <a:solidFill>
                  <a:srgbClr val="111214"/>
                </a:solidFill>
              </a:defRPr>
            </a:lvl9pPr>
          </a:lstStyle>
          <a:p xmlns:a="http://schemas.openxmlformats.org/drawingml/2006/main">
            <a:pPr marL="0" indent="0" algn="l">
              <a:lnSpc>
                <a:spcPts val="2610"/>
              </a:lnSpc>
              <a:buNone/>
            </a:pPr>
            <a:r>
              <a:rPr sz="4800">
                <a:solidFill>
                  <a:srgbClr val="111214"/>
                </a:solidFill>
                <a:latin typeface="Inter Tight"/>
                <a:ea typeface="Inter Tight"/>
                <a:cs typeface="Inter Tight"/>
              </a:rPr>
              <a:t>RM200</a:t>
            </a:r>
            <a:endParaRPr sz="1800"/>
          </a:p>
        </p:txBody>
      </p:sp>
      <p:sp>
        <p:nvSpPr>
          <p:cNvPr id="12" name="Shape 8">
            <a:extLst xmlns:a="http://schemas.openxmlformats.org/drawingml/2006/main">
              <a:ext uri="{FF2B5EF4-FFF2-40B4-BE49-F238E27FC236}">
                <a16:creationId xmlns:a16="http://schemas.microsoft.com/office/drawing/2014/main" id="{BCC9A1D4-85F6-4472-9DF0-B9443522C717}"/>
              </a:ext>
            </a:extLst>
          </p:cNvPr>
          <p:cNvSpPr>
            <a:spLocks xmlns:a="http://schemas.openxmlformats.org/drawingml/2006/main" noGrp="1"/>
          </p:cNvSpPr>
          <p:nvPr/>
        </p:nvSpPr>
        <p:spPr>
          <a:xfrm xmlns:a="http://schemas.openxmlformats.org/drawingml/2006/main">
            <a:off x="8060267" y="2275154"/>
            <a:ext cx="3318933" cy="0"/>
          </a:xfrm>
          <a:prstGeom xmlns:a="http://schemas.openxmlformats.org/drawingml/2006/main" prst="line">
            <a:avLst/>
          </a:prstGeom>
          <a:noFill xmlns:a="http://schemas.openxmlformats.org/drawingml/2006/main"/>
          <a:ln xmlns:a="http://schemas.openxmlformats.org/drawingml/2006/main" w="19050">
            <a:solidFill>
              <a:srgbClr val="9A9EA8"/>
            </a:solidFill>
            <a:prstDash val="dash"/>
          </a:ln>
        </p:spPr>
      </p:sp>
      <p:sp>
        <p:nvSpPr>
          <p:cNvPr id="13" name="Text 9">
            <a:extLst xmlns:a="http://schemas.openxmlformats.org/drawingml/2006/main">
              <a:ext uri="{FF2B5EF4-FFF2-40B4-BE49-F238E27FC236}">
                <a16:creationId xmlns:a16="http://schemas.microsoft.com/office/drawing/2014/main" id="{E854EA80-BE4C-41A0-B3E5-EFEA08869E99}"/>
              </a:ext>
            </a:extLst>
          </p:cNvPr>
          <p:cNvSpPr>
            <a:spLocks xmlns:a="http://schemas.openxmlformats.org/drawingml/2006/main" noGrp="1"/>
          </p:cNvSpPr>
          <p:nvPr/>
        </p:nvSpPr>
        <p:spPr>
          <a:xfrm xmlns:a="http://schemas.openxmlformats.org/drawingml/2006/main">
            <a:off x="8060267" y="2447925"/>
            <a:ext cx="3418501"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lgn="l">
              <a:lnSpc>
                <a:spcPts val="1820"/>
              </a:lnSpc>
              <a:buNone/>
            </a:pPr>
            <a:r>
              <a:rPr sz="1350" b="1">
                <a:solidFill>
                  <a:srgbClr val="5B6070"/>
                </a:solidFill>
                <a:latin typeface="Inter"/>
                <a:ea typeface="Inter"/>
                <a:cs typeface="Inter"/>
              </a:rPr>
              <a:t>Net at one such decision/month</a:t>
            </a:r>
            <a:endParaRPr sz="1300"/>
          </a:p>
        </p:txBody>
      </p:sp>
      <p:sp>
        <p:nvSpPr>
          <p:cNvPr id="14" name="Text 10">
            <a:extLst xmlns:a="http://schemas.openxmlformats.org/drawingml/2006/main">
              <a:ext uri="{FF2B5EF4-FFF2-40B4-BE49-F238E27FC236}">
                <a16:creationId xmlns:a16="http://schemas.microsoft.com/office/drawing/2014/main" id="{843E0872-BA4D-4478-BC43-27FA276BE2C2}"/>
              </a:ext>
            </a:extLst>
          </p:cNvPr>
          <p:cNvSpPr>
            <a:spLocks xmlns:a="http://schemas.openxmlformats.org/drawingml/2006/main" noGrp="1"/>
          </p:cNvSpPr>
          <p:nvPr/>
        </p:nvSpPr>
        <p:spPr>
          <a:xfrm xmlns:a="http://schemas.openxmlformats.org/drawingml/2006/main">
            <a:off x="8060267" y="3048000"/>
            <a:ext cx="3418501" cy="9048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4800">
                <a:solidFill>
                  <a:srgbClr val="2469E9"/>
                </a:solidFill>
              </a:defRPr>
            </a:defPPr>
            <a:lvl1pPr>
              <a:defRPr sz="4800">
                <a:solidFill>
                  <a:srgbClr val="2469E9"/>
                </a:solidFill>
              </a:defRPr>
            </a:lvl1pPr>
            <a:lvl2pPr>
              <a:defRPr sz="4800">
                <a:solidFill>
                  <a:srgbClr val="2469E9"/>
                </a:solidFill>
              </a:defRPr>
            </a:lvl2pPr>
            <a:lvl3pPr>
              <a:defRPr sz="4800">
                <a:solidFill>
                  <a:srgbClr val="2469E9"/>
                </a:solidFill>
              </a:defRPr>
            </a:lvl3pPr>
            <a:lvl4pPr>
              <a:defRPr sz="4800">
                <a:solidFill>
                  <a:srgbClr val="2469E9"/>
                </a:solidFill>
              </a:defRPr>
            </a:lvl4pPr>
            <a:lvl5pPr>
              <a:defRPr sz="4800">
                <a:solidFill>
                  <a:srgbClr val="2469E9"/>
                </a:solidFill>
              </a:defRPr>
            </a:lvl5pPr>
            <a:lvl6pPr>
              <a:defRPr sz="4800">
                <a:solidFill>
                  <a:srgbClr val="2469E9"/>
                </a:solidFill>
              </a:defRPr>
            </a:lvl6pPr>
            <a:lvl7pPr>
              <a:defRPr sz="4800">
                <a:solidFill>
                  <a:srgbClr val="2469E9"/>
                </a:solidFill>
              </a:defRPr>
            </a:lvl7pPr>
            <a:lvl8pPr>
              <a:defRPr sz="4800">
                <a:solidFill>
                  <a:srgbClr val="2469E9"/>
                </a:solidFill>
              </a:defRPr>
            </a:lvl8pPr>
            <a:lvl9pPr>
              <a:defRPr sz="4800">
                <a:solidFill>
                  <a:srgbClr val="2469E9"/>
                </a:solidFill>
              </a:defRPr>
            </a:lvl9pPr>
          </a:lstStyle>
          <a:p xmlns:a="http://schemas.openxmlformats.org/drawingml/2006/main">
            <a:pPr marL="0" indent="0" algn="l">
              <a:lnSpc>
                <a:spcPts val="2610"/>
              </a:lnSpc>
              <a:buNone/>
            </a:pPr>
            <a:r>
              <a:rPr sz="4800">
                <a:solidFill>
                  <a:srgbClr val="2469E9"/>
                </a:solidFill>
                <a:latin typeface="Inter Tight"/>
                <a:ea typeface="Inter Tight"/>
                <a:cs typeface="Inter Tight"/>
              </a:rPr>
              <a:t>+RM200</a:t>
            </a:r>
            <a:endParaRPr sz="1800"/>
          </a:p>
        </p:txBody>
      </p:sp>
      <p:sp>
        <p:nvSpPr>
          <p:cNvPr id="15" name="Text 11">
            <a:extLst xmlns:a="http://schemas.openxmlformats.org/drawingml/2006/main">
              <a:ext uri="{FF2B5EF4-FFF2-40B4-BE49-F238E27FC236}">
                <a16:creationId xmlns:a16="http://schemas.microsoft.com/office/drawing/2014/main" id="{06F6D97A-CF72-44B6-B165-7EBF091AA062}"/>
              </a:ext>
            </a:extLst>
          </p:cNvPr>
          <p:cNvSpPr>
            <a:spLocks xmlns:a="http://schemas.openxmlformats.org/drawingml/2006/main" noGrp="1"/>
          </p:cNvSpPr>
          <p:nvPr/>
        </p:nvSpPr>
        <p:spPr>
          <a:xfrm xmlns:a="http://schemas.openxmlformats.org/drawingml/2006/main">
            <a:off x="812800" y="5267325"/>
            <a:ext cx="10883392"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lgn="l">
              <a:lnSpc>
                <a:spcPts val="1820"/>
              </a:lnSpc>
              <a:buNone/>
            </a:pPr>
            <a:r>
              <a:rPr sz="1350">
                <a:solidFill>
                  <a:srgbClr val="5B6070"/>
                </a:solidFill>
                <a:latin typeface="Inter"/>
                <a:ea typeface="Inter"/>
                <a:cs typeface="Inter"/>
              </a:rPr>
              <a:t>Illustrative monthly assumptions. No measured ROI or agreed pricing.</a:t>
            </a:r>
            <a:endParaRPr sz="1300"/>
          </a:p>
        </p:txBody>
      </p:sp>
      <p:sp>
        <p:nvSpPr>
          <p:cNvPr id="16" name="gain-description">
            <a:extLst xmlns:a="http://schemas.openxmlformats.org/drawingml/2006/main">
              <a:ext uri="{FF2B5EF4-FFF2-40B4-BE49-F238E27FC236}">
                <a16:creationId xmlns:a16="http://schemas.microsoft.com/office/drawing/2014/main" id="{ECFBF25D-E54F-439D-B538-1AA8873366DA}"/>
              </a:ext>
            </a:extLst>
          </p:cNvPr>
          <p:cNvSpPr>
            <a:spLocks xmlns:a="http://schemas.openxmlformats.org/drawingml/2006/main" noGrp="1"/>
          </p:cNvSpPr>
          <p:nvPr/>
        </p:nvSpPr>
        <p:spPr>
          <a:xfrm xmlns:a="http://schemas.openxmlformats.org/drawingml/2006/main">
            <a:off x="812768" y="4010025"/>
            <a:ext cx="331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5E6576"/>
                </a:solidFill>
                <a:latin typeface="Inter"/>
                <a:ea typeface="Inter"/>
                <a:cs typeface="Inter"/>
              </a:defRPr>
            </a:defPPr>
            <a:lvl1pPr>
              <a:defRPr sz="1725" b="0">
                <a:solidFill>
                  <a:srgbClr val="5E6576"/>
                </a:solidFill>
                <a:latin typeface="Inter"/>
                <a:ea typeface="Inter"/>
                <a:cs typeface="Inter"/>
              </a:defRPr>
            </a:lvl1pPr>
            <a:lvl2pPr>
              <a:defRPr sz="1725" b="0">
                <a:solidFill>
                  <a:srgbClr val="5E6576"/>
                </a:solidFill>
                <a:latin typeface="Inter"/>
                <a:ea typeface="Inter"/>
                <a:cs typeface="Inter"/>
              </a:defRPr>
            </a:lvl2pPr>
            <a:lvl3pPr>
              <a:defRPr sz="1725" b="0">
                <a:solidFill>
                  <a:srgbClr val="5E6576"/>
                </a:solidFill>
                <a:latin typeface="Inter"/>
                <a:ea typeface="Inter"/>
                <a:cs typeface="Inter"/>
              </a:defRPr>
            </a:lvl3pPr>
            <a:lvl4pPr>
              <a:defRPr sz="1725" b="0">
                <a:solidFill>
                  <a:srgbClr val="5E6576"/>
                </a:solidFill>
                <a:latin typeface="Inter"/>
                <a:ea typeface="Inter"/>
                <a:cs typeface="Inter"/>
              </a:defRPr>
            </a:lvl4pPr>
            <a:lvl5pPr>
              <a:defRPr sz="1725" b="0">
                <a:solidFill>
                  <a:srgbClr val="5E6576"/>
                </a:solidFill>
                <a:latin typeface="Inter"/>
                <a:ea typeface="Inter"/>
                <a:cs typeface="Inter"/>
              </a:defRPr>
            </a:lvl5pPr>
            <a:lvl6pPr>
              <a:defRPr sz="1725" b="0">
                <a:solidFill>
                  <a:srgbClr val="5E6576"/>
                </a:solidFill>
                <a:latin typeface="Inter"/>
                <a:ea typeface="Inter"/>
                <a:cs typeface="Inter"/>
              </a:defRPr>
            </a:lvl6pPr>
            <a:lvl7pPr>
              <a:defRPr sz="1725" b="0">
                <a:solidFill>
                  <a:srgbClr val="5E6576"/>
                </a:solidFill>
                <a:latin typeface="Inter"/>
                <a:ea typeface="Inter"/>
                <a:cs typeface="Inter"/>
              </a:defRPr>
            </a:lvl7pPr>
            <a:lvl8pPr>
              <a:defRPr sz="1725" b="0">
                <a:solidFill>
                  <a:srgbClr val="5E6576"/>
                </a:solidFill>
                <a:latin typeface="Inter"/>
                <a:ea typeface="Inter"/>
                <a:cs typeface="Inter"/>
              </a:defRPr>
            </a:lvl8pPr>
            <a:lvl9pPr>
              <a:defRPr sz="1725" b="0">
                <a:solidFill>
                  <a:srgbClr val="5E6576"/>
                </a:solidFill>
                <a:latin typeface="Inter"/>
                <a:ea typeface="Inter"/>
                <a:cs typeface="Inter"/>
              </a:defRPr>
            </a:lvl9pPr>
          </a:lstStyle>
          <a:p xmlns:a="http://schemas.openxmlformats.org/drawingml/2006/main">
            <a:pPr>
              <a:defRPr sz="1725" b="0">
                <a:solidFill>
                  <a:srgbClr val="5E6576"/>
                </a:solidFill>
                <a:latin typeface="Inter"/>
                <a:ea typeface="Inter"/>
                <a:cs typeface="Inter"/>
              </a:defRPr>
            </a:pPr>
            <a:r>
              <a:rPr sz="1725" b="0">
                <a:solidFill>
                  <a:srgbClr val="5E6576"/>
                </a:solidFill>
                <a:latin typeface="Inter"/>
                <a:ea typeface="Inter"/>
                <a:cs typeface="Inter"/>
              </a:rPr>
              <a:t>Projected improvement over keeping the batch</a:t>
            </a:r>
          </a:p>
        </p:txBody>
      </p:sp>
      <p:sp>
        <p:nvSpPr>
          <p:cNvPr id="17" name="cost-description">
            <a:extLst xmlns:a="http://schemas.openxmlformats.org/drawingml/2006/main">
              <a:ext uri="{FF2B5EF4-FFF2-40B4-BE49-F238E27FC236}">
                <a16:creationId xmlns:a16="http://schemas.microsoft.com/office/drawing/2014/main" id="{937DCCED-1D8F-4E1C-8981-A58DA25784C1}"/>
              </a:ext>
            </a:extLst>
          </p:cNvPr>
          <p:cNvSpPr>
            <a:spLocks xmlns:a="http://schemas.openxmlformats.org/drawingml/2006/main" noGrp="1"/>
          </p:cNvSpPr>
          <p:nvPr/>
        </p:nvSpPr>
        <p:spPr>
          <a:xfrm xmlns:a="http://schemas.openxmlformats.org/drawingml/2006/main">
            <a:off x="4436555" y="4010025"/>
            <a:ext cx="331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5E6576"/>
                </a:solidFill>
                <a:latin typeface="Inter"/>
                <a:ea typeface="Inter"/>
                <a:cs typeface="Inter"/>
              </a:defRPr>
            </a:defPPr>
            <a:lvl1pPr>
              <a:defRPr sz="1725" b="0">
                <a:solidFill>
                  <a:srgbClr val="5E6576"/>
                </a:solidFill>
                <a:latin typeface="Inter"/>
                <a:ea typeface="Inter"/>
                <a:cs typeface="Inter"/>
              </a:defRPr>
            </a:lvl1pPr>
            <a:lvl2pPr>
              <a:defRPr sz="1725" b="0">
                <a:solidFill>
                  <a:srgbClr val="5E6576"/>
                </a:solidFill>
                <a:latin typeface="Inter"/>
                <a:ea typeface="Inter"/>
                <a:cs typeface="Inter"/>
              </a:defRPr>
            </a:lvl2pPr>
            <a:lvl3pPr>
              <a:defRPr sz="1725" b="0">
                <a:solidFill>
                  <a:srgbClr val="5E6576"/>
                </a:solidFill>
                <a:latin typeface="Inter"/>
                <a:ea typeface="Inter"/>
                <a:cs typeface="Inter"/>
              </a:defRPr>
            </a:lvl3pPr>
            <a:lvl4pPr>
              <a:defRPr sz="1725" b="0">
                <a:solidFill>
                  <a:srgbClr val="5E6576"/>
                </a:solidFill>
                <a:latin typeface="Inter"/>
                <a:ea typeface="Inter"/>
                <a:cs typeface="Inter"/>
              </a:defRPr>
            </a:lvl4pPr>
            <a:lvl5pPr>
              <a:defRPr sz="1725" b="0">
                <a:solidFill>
                  <a:srgbClr val="5E6576"/>
                </a:solidFill>
                <a:latin typeface="Inter"/>
                <a:ea typeface="Inter"/>
                <a:cs typeface="Inter"/>
              </a:defRPr>
            </a:lvl5pPr>
            <a:lvl6pPr>
              <a:defRPr sz="1725" b="0">
                <a:solidFill>
                  <a:srgbClr val="5E6576"/>
                </a:solidFill>
                <a:latin typeface="Inter"/>
                <a:ea typeface="Inter"/>
                <a:cs typeface="Inter"/>
              </a:defRPr>
            </a:lvl6pPr>
            <a:lvl7pPr>
              <a:defRPr sz="1725" b="0">
                <a:solidFill>
                  <a:srgbClr val="5E6576"/>
                </a:solidFill>
                <a:latin typeface="Inter"/>
                <a:ea typeface="Inter"/>
                <a:cs typeface="Inter"/>
              </a:defRPr>
            </a:lvl7pPr>
            <a:lvl8pPr>
              <a:defRPr sz="1725" b="0">
                <a:solidFill>
                  <a:srgbClr val="5E6576"/>
                </a:solidFill>
                <a:latin typeface="Inter"/>
                <a:ea typeface="Inter"/>
                <a:cs typeface="Inter"/>
              </a:defRPr>
            </a:lvl8pPr>
            <a:lvl9pPr>
              <a:defRPr sz="1725" b="0">
                <a:solidFill>
                  <a:srgbClr val="5E6576"/>
                </a:solidFill>
                <a:latin typeface="Inter"/>
                <a:ea typeface="Inter"/>
                <a:cs typeface="Inter"/>
              </a:defRPr>
            </a:lvl9pPr>
          </a:lstStyle>
          <a:p xmlns:a="http://schemas.openxmlformats.org/drawingml/2006/main">
            <a:pPr>
              <a:defRPr sz="1725" b="0">
                <a:solidFill>
                  <a:srgbClr val="5E6576"/>
                </a:solidFill>
                <a:latin typeface="Inter"/>
                <a:ea typeface="Inter"/>
                <a:cs typeface="Inter"/>
              </a:defRPr>
            </a:pPr>
            <a:r>
              <a:rPr sz="1725" b="0">
                <a:solidFill>
                  <a:srgbClr val="5E6576"/>
                </a:solidFill>
                <a:latin typeface="Inter"/>
                <a:ea typeface="Inter"/>
                <a:cs typeface="Inter"/>
              </a:rPr>
              <a:t>Software, setup allowance and data upkeep</a:t>
            </a:r>
          </a:p>
        </p:txBody>
      </p:sp>
      <p:sp>
        <p:nvSpPr>
          <p:cNvPr id="18" name="net-description">
            <a:extLst xmlns:a="http://schemas.openxmlformats.org/drawingml/2006/main">
              <a:ext uri="{FF2B5EF4-FFF2-40B4-BE49-F238E27FC236}">
                <a16:creationId xmlns:a16="http://schemas.microsoft.com/office/drawing/2014/main" id="{837FCF3C-0AB6-42CF-9EDA-0C30DB099C8E}"/>
              </a:ext>
            </a:extLst>
          </p:cNvPr>
          <p:cNvSpPr>
            <a:spLocks xmlns:a="http://schemas.openxmlformats.org/drawingml/2006/main" noGrp="1"/>
          </p:cNvSpPr>
          <p:nvPr/>
        </p:nvSpPr>
        <p:spPr>
          <a:xfrm xmlns:a="http://schemas.openxmlformats.org/drawingml/2006/main">
            <a:off x="8060246" y="4010025"/>
            <a:ext cx="331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5E6576"/>
                </a:solidFill>
                <a:latin typeface="Inter"/>
                <a:ea typeface="Inter"/>
                <a:cs typeface="Inter"/>
              </a:defRPr>
            </a:defPPr>
            <a:lvl1pPr>
              <a:defRPr sz="1725" b="0">
                <a:solidFill>
                  <a:srgbClr val="5E6576"/>
                </a:solidFill>
                <a:latin typeface="Inter"/>
                <a:ea typeface="Inter"/>
                <a:cs typeface="Inter"/>
              </a:defRPr>
            </a:lvl1pPr>
            <a:lvl2pPr>
              <a:defRPr sz="1725" b="0">
                <a:solidFill>
                  <a:srgbClr val="5E6576"/>
                </a:solidFill>
                <a:latin typeface="Inter"/>
                <a:ea typeface="Inter"/>
                <a:cs typeface="Inter"/>
              </a:defRPr>
            </a:lvl2pPr>
            <a:lvl3pPr>
              <a:defRPr sz="1725" b="0">
                <a:solidFill>
                  <a:srgbClr val="5E6576"/>
                </a:solidFill>
                <a:latin typeface="Inter"/>
                <a:ea typeface="Inter"/>
                <a:cs typeface="Inter"/>
              </a:defRPr>
            </a:lvl3pPr>
            <a:lvl4pPr>
              <a:defRPr sz="1725" b="0">
                <a:solidFill>
                  <a:srgbClr val="5E6576"/>
                </a:solidFill>
                <a:latin typeface="Inter"/>
                <a:ea typeface="Inter"/>
                <a:cs typeface="Inter"/>
              </a:defRPr>
            </a:lvl4pPr>
            <a:lvl5pPr>
              <a:defRPr sz="1725" b="0">
                <a:solidFill>
                  <a:srgbClr val="5E6576"/>
                </a:solidFill>
                <a:latin typeface="Inter"/>
                <a:ea typeface="Inter"/>
                <a:cs typeface="Inter"/>
              </a:defRPr>
            </a:lvl5pPr>
            <a:lvl6pPr>
              <a:defRPr sz="1725" b="0">
                <a:solidFill>
                  <a:srgbClr val="5E6576"/>
                </a:solidFill>
                <a:latin typeface="Inter"/>
                <a:ea typeface="Inter"/>
                <a:cs typeface="Inter"/>
              </a:defRPr>
            </a:lvl6pPr>
            <a:lvl7pPr>
              <a:defRPr sz="1725" b="0">
                <a:solidFill>
                  <a:srgbClr val="5E6576"/>
                </a:solidFill>
                <a:latin typeface="Inter"/>
                <a:ea typeface="Inter"/>
                <a:cs typeface="Inter"/>
              </a:defRPr>
            </a:lvl7pPr>
            <a:lvl8pPr>
              <a:defRPr sz="1725" b="0">
                <a:solidFill>
                  <a:srgbClr val="5E6576"/>
                </a:solidFill>
                <a:latin typeface="Inter"/>
                <a:ea typeface="Inter"/>
                <a:cs typeface="Inter"/>
              </a:defRPr>
            </a:lvl8pPr>
            <a:lvl9pPr>
              <a:defRPr sz="1725" b="0">
                <a:solidFill>
                  <a:srgbClr val="5E6576"/>
                </a:solidFill>
                <a:latin typeface="Inter"/>
                <a:ea typeface="Inter"/>
                <a:cs typeface="Inter"/>
              </a:defRPr>
            </a:lvl9pPr>
          </a:lstStyle>
          <a:p xmlns:a="http://schemas.openxmlformats.org/drawingml/2006/main">
            <a:pPr>
              <a:defRPr sz="1725" b="0">
                <a:solidFill>
                  <a:srgbClr val="5E6576"/>
                </a:solidFill>
                <a:latin typeface="Inter"/>
                <a:ea typeface="Inter"/>
                <a:cs typeface="Inter"/>
              </a:defRPr>
            </a:pPr>
            <a:r>
              <a:rPr sz="1725" b="0">
                <a:solidFill>
                  <a:srgbClr val="5E6576"/>
                </a:solidFill>
                <a:latin typeface="Inter"/>
                <a:ea typeface="Inter"/>
                <a:cs typeface="Inter"/>
              </a:rPr>
              <a:t>RM400 improvement less RM200 total cost</a:t>
            </a:r>
          </a:p>
        </p:txBody>
      </p:sp>
      <p:sp>
        <p:nvSpPr>
          <p:cNvPr id="19" name="economic-downside">
            <a:extLst xmlns:a="http://schemas.openxmlformats.org/drawingml/2006/main">
              <a:ext uri="{FF2B5EF4-FFF2-40B4-BE49-F238E27FC236}">
                <a16:creationId xmlns:a16="http://schemas.microsoft.com/office/drawing/2014/main" id="{54CE052D-013E-4C25-8AF5-320283E52BA7}"/>
              </a:ext>
            </a:extLst>
          </p:cNvPr>
          <p:cNvSpPr>
            <a:spLocks xmlns:a="http://schemas.openxmlformats.org/drawingml/2006/main" noGrp="1"/>
          </p:cNvSpPr>
          <p:nvPr/>
        </p:nvSpPr>
        <p:spPr>
          <a:xfrm xmlns:a="http://schemas.openxmlformats.org/drawingml/2006/main">
            <a:off x="812768" y="58102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425" b="0">
                <a:solidFill>
                  <a:srgbClr val="5E6576"/>
                </a:solidFill>
                <a:latin typeface="Inter"/>
                <a:ea typeface="Inter"/>
                <a:cs typeface="Inter"/>
              </a:defRPr>
            </a:defPPr>
            <a:lvl1pPr>
              <a:defRPr sz="1425" b="0">
                <a:solidFill>
                  <a:srgbClr val="5E6576"/>
                </a:solidFill>
                <a:latin typeface="Inter"/>
                <a:ea typeface="Inter"/>
                <a:cs typeface="Inter"/>
              </a:defRPr>
            </a:lvl1pPr>
            <a:lvl2pPr>
              <a:defRPr sz="1425" b="0">
                <a:solidFill>
                  <a:srgbClr val="5E6576"/>
                </a:solidFill>
                <a:latin typeface="Inter"/>
                <a:ea typeface="Inter"/>
                <a:cs typeface="Inter"/>
              </a:defRPr>
            </a:lvl2pPr>
            <a:lvl3pPr>
              <a:defRPr sz="1425" b="0">
                <a:solidFill>
                  <a:srgbClr val="5E6576"/>
                </a:solidFill>
                <a:latin typeface="Inter"/>
                <a:ea typeface="Inter"/>
                <a:cs typeface="Inter"/>
              </a:defRPr>
            </a:lvl3pPr>
            <a:lvl4pPr>
              <a:defRPr sz="1425" b="0">
                <a:solidFill>
                  <a:srgbClr val="5E6576"/>
                </a:solidFill>
                <a:latin typeface="Inter"/>
                <a:ea typeface="Inter"/>
                <a:cs typeface="Inter"/>
              </a:defRPr>
            </a:lvl4pPr>
            <a:lvl5pPr>
              <a:defRPr sz="1425" b="0">
                <a:solidFill>
                  <a:srgbClr val="5E6576"/>
                </a:solidFill>
                <a:latin typeface="Inter"/>
                <a:ea typeface="Inter"/>
                <a:cs typeface="Inter"/>
              </a:defRPr>
            </a:lvl5pPr>
            <a:lvl6pPr>
              <a:defRPr sz="1425" b="0">
                <a:solidFill>
                  <a:srgbClr val="5E6576"/>
                </a:solidFill>
                <a:latin typeface="Inter"/>
                <a:ea typeface="Inter"/>
                <a:cs typeface="Inter"/>
              </a:defRPr>
            </a:lvl6pPr>
            <a:lvl7pPr>
              <a:defRPr sz="1425" b="0">
                <a:solidFill>
                  <a:srgbClr val="5E6576"/>
                </a:solidFill>
                <a:latin typeface="Inter"/>
                <a:ea typeface="Inter"/>
                <a:cs typeface="Inter"/>
              </a:defRPr>
            </a:lvl7pPr>
            <a:lvl8pPr>
              <a:defRPr sz="1425" b="0">
                <a:solidFill>
                  <a:srgbClr val="5E6576"/>
                </a:solidFill>
                <a:latin typeface="Inter"/>
                <a:ea typeface="Inter"/>
                <a:cs typeface="Inter"/>
              </a:defRPr>
            </a:lvl8pPr>
            <a:lvl9pPr>
              <a:defRPr sz="1425" b="0">
                <a:solidFill>
                  <a:srgbClr val="5E6576"/>
                </a:solidFill>
                <a:latin typeface="Inter"/>
                <a:ea typeface="Inter"/>
                <a:cs typeface="Inter"/>
              </a:defRPr>
            </a:lvl9pPr>
          </a:lstStyle>
          <a:p xmlns:a="http://schemas.openxmlformats.org/drawingml/2006/main">
            <a:pPr>
              <a:defRPr sz="1425" b="0">
                <a:solidFill>
                  <a:srgbClr val="5E6576"/>
                </a:solidFill>
                <a:latin typeface="Inter"/>
                <a:ea typeface="Inter"/>
                <a:cs typeface="Inter"/>
              </a:defRPr>
            </a:pPr>
            <a:r>
              <a:rPr sz="1425" b="0">
                <a:solidFill>
                  <a:srgbClr val="5E6576"/>
                </a:solidFill>
                <a:latin typeface="Inter"/>
                <a:ea typeface="Inter"/>
                <a:cs typeface="Inter"/>
              </a:rPr>
              <a:t>0 such decisions: −RM200/month.  2 independent such decisions: +RM600/month.</a:t>
            </a:r>
          </a:p>
        </p:txBody>
      </p:sp>
    </p:spTree>
    <p:extLst>
      <p:ext uri="{BB962C8B-B14F-4D97-AF65-F5344CB8AC3E}">
        <p14:creationId xmlns:p14="http://schemas.microsoft.com/office/powerpoint/2010/main" val="1815939522"/>
      </p:ext>
    </p:extLst>
  </p:cSld>
</p:sld>
</file>

<file path=ppt/slides/slide8.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04AAB07B-4004-4362-BAAA-5E7A8D906906}"/>
              </a:ext>
            </a:extLst>
          </p:cNvPr>
          <p:cNvPicPr>
            <a:picLocks xmlns:a="http://schemas.openxmlformats.org/drawingml/2006/main" noChangeAspect="1"/>
          </p:cNvPicPr>
          <p:nvPr/>
        </p:nvPicPr>
        <p:blipFill>
          <a:blip xmlns:r="http://schemas.openxmlformats.org/officeDocument/2006/relationships" xmlns:a="http://schemas.openxmlformats.org/drawingml/2006/main" r:embed="Rff654d4a8743448f"/>
          <a:srcRect xmlns:a="http://schemas.openxmlformats.org/drawingml/2006/main" l="-111" t="0" r="-111" b="0"/>
          <a:stretch xmlns:a="http://schemas.openxmlformats.org/drawingml/2006/main"/>
        </p:blipFill>
        <p:spPr>
          <a:xfrm xmlns:a="http://schemas.openxmlformats.org/drawingml/2006/main">
            <a:off x="812800" y="431800"/>
            <a:ext cx="1435100" cy="254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BADFA899-E6AC-478C-8784-B3E5CF37CDE0}"/>
              </a:ext>
            </a:extLst>
          </p:cNvPr>
          <p:cNvSpPr>
            <a:spLocks xmlns:a="http://schemas.openxmlformats.org/drawingml/2006/main" noGrp="1"/>
          </p:cNvSpPr>
          <p:nvPr/>
        </p:nvSpPr>
        <p:spPr>
          <a:xfrm xmlns:a="http://schemas.openxmlformats.org/drawingml/2006/main">
            <a:off x="11074400" y="406400"/>
            <a:ext cx="304800" cy="304800"/>
          </a:xfrm>
          <a:prstGeom xmlns:a="http://schemas.openxmlformats.org/drawingml/2006/main" prst="roundRect">
            <a:avLst>
              <a:gd name="adj" fmla="val 50000"/>
            </a:avLst>
          </a:prstGeom>
          <a:solidFill xmlns:a="http://schemas.openxmlformats.org/drawingml/2006/main">
            <a:srgbClr val="4F8BEA"/>
          </a:solidFill>
        </p:spPr>
      </p:sp>
      <p:pic>
        <p:nvPicPr>
          <p:cNvPr id="4" name="Image 1">
            <a:extLst xmlns:a="http://schemas.openxmlformats.org/drawingml/2006/main">
              <a:ext uri="{FF2B5EF4-FFF2-40B4-BE49-F238E27FC236}">
                <a16:creationId xmlns:a16="http://schemas.microsoft.com/office/drawing/2014/main" id="{43FE232B-1A37-41DD-8D99-CA2790FE4ED0}"/>
              </a:ext>
            </a:extLst>
          </p:cNvPr>
          <p:cNvPicPr>
            <a:picLocks xmlns:a="http://schemas.openxmlformats.org/drawingml/2006/main" noChangeAspect="1"/>
          </p:cNvPicPr>
          <p:nvPr/>
        </p:nvPicPr>
        <p:blipFill>
          <a:blip xmlns:r="http://schemas.openxmlformats.org/officeDocument/2006/relationships" xmlns:a="http://schemas.openxmlformats.org/drawingml/2006/main" r:embed="R5c41366022e64f00"/>
          <a:srcRect xmlns:a="http://schemas.openxmlformats.org/drawingml/2006/main" l="0" t="0" r="0" b="0"/>
          <a:stretch xmlns:a="http://schemas.openxmlformats.org/drawingml/2006/main"/>
        </p:blipFill>
        <p:spPr>
          <a:xfrm xmlns:a="http://schemas.openxmlformats.org/drawingml/2006/main">
            <a:off x="11156950" y="514350"/>
            <a:ext cx="139700" cy="88900"/>
          </a:xfrm>
          <a:prstGeom xmlns:a="http://schemas.openxmlformats.org/drawingml/2006/main" prst="rect">
            <a:avLst/>
          </a:prstGeom>
        </p:spPr>
      </p:pic>
      <p:sp>
        <p:nvSpPr>
          <p:cNvPr id="5" name="Text 1">
            <a:extLst xmlns:a="http://schemas.openxmlformats.org/drawingml/2006/main">
              <a:ext uri="{FF2B5EF4-FFF2-40B4-BE49-F238E27FC236}">
                <a16:creationId xmlns:a16="http://schemas.microsoft.com/office/drawing/2014/main" id="{EB502F45-8CE4-4D86-B5AF-2702D972F45E}"/>
              </a:ext>
            </a:extLst>
          </p:cNvPr>
          <p:cNvSpPr>
            <a:spLocks xmlns:a="http://schemas.openxmlformats.org/drawingml/2006/main" noGrp="1"/>
          </p:cNvSpPr>
          <p:nvPr>
            <p:ph type="title" idx="0"/>
          </p:nvPr>
        </p:nvSpPr>
        <p:spPr>
          <a:xfrm xmlns:a="http://schemas.openxmlformats.org/drawingml/2006/main">
            <a:off x="812800" y="1219200"/>
            <a:ext cx="10883392" cy="66542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4800"/>
            </a:defPPr>
            <a:lvl1pPr>
              <a:defRPr sz="4800"/>
            </a:lvl1pPr>
            <a:lvl2pPr>
              <a:defRPr sz="4800"/>
            </a:lvl2pPr>
            <a:lvl3pPr>
              <a:defRPr sz="4800"/>
            </a:lvl3pPr>
            <a:lvl4pPr>
              <a:defRPr sz="4800"/>
            </a:lvl4pPr>
            <a:lvl5pPr>
              <a:defRPr sz="4800"/>
            </a:lvl5pPr>
            <a:lvl6pPr>
              <a:defRPr sz="4800"/>
            </a:lvl6pPr>
            <a:lvl7pPr>
              <a:defRPr sz="4800"/>
            </a:lvl7pPr>
            <a:lvl8pPr>
              <a:defRPr sz="4800"/>
            </a:lvl8pPr>
            <a:lvl9pPr>
              <a:defRPr sz="4800"/>
            </a:lvl9pPr>
          </a:lstStyle>
          <a:p xmlns:a="http://schemas.openxmlformats.org/drawingml/2006/main">
            <a:pPr marL="0" indent="0" algn="l">
              <a:lnSpc>
                <a:spcPts val="5040"/>
              </a:lnSpc>
              <a:buNone/>
            </a:pPr>
            <a:r>
              <a:rPr sz="4800" b="0" i="0">
                <a:solidFill>
                  <a:srgbClr val="111214"/>
                </a:solidFill>
                <a:latin typeface="Inter Tight"/>
                <a:ea typeface="Inter Tight"/>
                <a:cs typeface="Inter Tight"/>
              </a:rPr>
              <a:t>What the pilot must prove</a:t>
            </a:r>
            <a:endParaRPr sz="4800"/>
          </a:p>
        </p:txBody>
      </p:sp>
      <p:sp>
        <p:nvSpPr>
          <p:cNvPr id="6" name="Shape 2">
            <a:extLst xmlns:a="http://schemas.openxmlformats.org/drawingml/2006/main">
              <a:ext uri="{FF2B5EF4-FFF2-40B4-BE49-F238E27FC236}">
                <a16:creationId xmlns:a16="http://schemas.microsoft.com/office/drawing/2014/main" id="{1D81F18F-E6B9-4FD1-B48C-E4DF5A6194B8}"/>
              </a:ext>
            </a:extLst>
          </p:cNvPr>
          <p:cNvSpPr>
            <a:spLocks xmlns:a="http://schemas.openxmlformats.org/drawingml/2006/main" noGrp="1"/>
          </p:cNvSpPr>
          <p:nvPr/>
        </p:nvSpPr>
        <p:spPr>
          <a:xfrm xmlns:a="http://schemas.openxmlformats.org/drawingml/2006/main">
            <a:off x="812800" y="2268804"/>
            <a:ext cx="2451100" cy="0"/>
          </a:xfrm>
          <a:prstGeom xmlns:a="http://schemas.openxmlformats.org/drawingml/2006/main" prst="line">
            <a:avLst/>
          </a:prstGeom>
          <a:noFill xmlns:a="http://schemas.openxmlformats.org/drawingml/2006/main"/>
          <a:ln xmlns:a="http://schemas.openxmlformats.org/drawingml/2006/main" w="6350">
            <a:solidFill>
              <a:srgbClr val="DAD7D0"/>
            </a:solidFill>
            <a:prstDash val="solid"/>
          </a:ln>
        </p:spPr>
      </p:sp>
      <p:sp>
        <p:nvSpPr>
          <p:cNvPr id="7" name="Text 3">
            <a:extLst xmlns:a="http://schemas.openxmlformats.org/drawingml/2006/main">
              <a:ext uri="{FF2B5EF4-FFF2-40B4-BE49-F238E27FC236}">
                <a16:creationId xmlns:a16="http://schemas.microsoft.com/office/drawing/2014/main" id="{ADF57B1D-22A4-44E9-B3C3-D66E305E9B96}"/>
              </a:ext>
            </a:extLst>
          </p:cNvPr>
          <p:cNvSpPr>
            <a:spLocks xmlns:a="http://schemas.openxmlformats.org/drawingml/2006/main" noGrp="1"/>
          </p:cNvSpPr>
          <p:nvPr/>
        </p:nvSpPr>
        <p:spPr>
          <a:xfrm xmlns:a="http://schemas.openxmlformats.org/drawingml/2006/main">
            <a:off x="812800" y="2447661"/>
            <a:ext cx="2524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A64C8"/>
                </a:solidFill>
                <a:latin typeface="Inter"/>
                <a:ea typeface="Inter"/>
                <a:cs typeface="Inter"/>
              </a:rPr>
              <a:t>01</a:t>
            </a:r>
            <a:endParaRPr sz="1200"/>
          </a:p>
        </p:txBody>
      </p:sp>
      <p:sp>
        <p:nvSpPr>
          <p:cNvPr id="8" name="Text 4">
            <a:extLst xmlns:a="http://schemas.openxmlformats.org/drawingml/2006/main">
              <a:ext uri="{FF2B5EF4-FFF2-40B4-BE49-F238E27FC236}">
                <a16:creationId xmlns:a16="http://schemas.microsoft.com/office/drawing/2014/main" id="{BCCAED11-59D9-45F0-89CD-E2E906B290EE}"/>
              </a:ext>
            </a:extLst>
          </p:cNvPr>
          <p:cNvSpPr>
            <a:spLocks xmlns:a="http://schemas.openxmlformats.org/drawingml/2006/main" noGrp="1"/>
          </p:cNvSpPr>
          <p:nvPr/>
        </p:nvSpPr>
        <p:spPr>
          <a:xfrm xmlns:a="http://schemas.openxmlformats.org/drawingml/2006/main">
            <a:off x="812800" y="2762582"/>
            <a:ext cx="2524633"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950"/>
            </a:defPPr>
            <a:lvl1pPr>
              <a:defRPr sz="1950"/>
            </a:lvl1pPr>
            <a:lvl2pPr>
              <a:defRPr sz="1950"/>
            </a:lvl2pPr>
            <a:lvl3pPr>
              <a:defRPr sz="1950"/>
            </a:lvl3pPr>
            <a:lvl4pPr>
              <a:defRPr sz="1950"/>
            </a:lvl4pPr>
            <a:lvl5pPr>
              <a:defRPr sz="1950"/>
            </a:lvl5pPr>
            <a:lvl6pPr>
              <a:defRPr sz="1950"/>
            </a:lvl6pPr>
            <a:lvl7pPr>
              <a:defRPr sz="1950"/>
            </a:lvl7pPr>
            <a:lvl8pPr>
              <a:defRPr sz="1950"/>
            </a:lvl8pPr>
            <a:lvl9pPr>
              <a:defRPr sz="1950"/>
            </a:lvl9pPr>
          </a:lstStyle>
          <a:p xmlns:a="http://schemas.openxmlformats.org/drawingml/2006/main">
            <a:pPr marL="0" indent="0" algn="l">
              <a:lnSpc>
                <a:spcPts val="2400"/>
              </a:lnSpc>
              <a:buNone/>
            </a:pPr>
            <a:r>
              <a:rPr sz="1950">
                <a:solidFill>
                  <a:srgbClr val="111214"/>
                </a:solidFill>
                <a:latin typeface="Inter Tight"/>
                <a:ea typeface="Inter Tight"/>
                <a:cs typeface="Inter Tight"/>
              </a:rPr>
              <a:t>Value versus</a:t>
            </a:r>
            <a:endParaRPr sz="2000"/>
          </a:p>
          <a:p xmlns:a="http://schemas.openxmlformats.org/drawingml/2006/main">
            <a:pPr marL="0" indent="0" algn="l">
              <a:lnSpc>
                <a:spcPts val="2400"/>
              </a:lnSpc>
              <a:buNone/>
            </a:pPr>
            <a:r>
              <a:rPr sz="1950">
                <a:solidFill>
                  <a:srgbClr val="111214"/>
                </a:solidFill>
                <a:latin typeface="Inter Tight"/>
                <a:ea typeface="Inter Tight"/>
                <a:cs typeface="Inter Tight"/>
              </a:rPr>
              <a:t>keeping stock</a:t>
            </a:r>
            <a:endParaRPr sz="2000"/>
          </a:p>
        </p:txBody>
      </p:sp>
      <p:sp>
        <p:nvSpPr>
          <p:cNvPr id="9" name="Shape 5">
            <a:extLst xmlns:a="http://schemas.openxmlformats.org/drawingml/2006/main">
              <a:ext uri="{FF2B5EF4-FFF2-40B4-BE49-F238E27FC236}">
                <a16:creationId xmlns:a16="http://schemas.microsoft.com/office/drawing/2014/main" id="{74E8DC54-79FB-4DC4-9F59-8BA1277BF5A4}"/>
              </a:ext>
            </a:extLst>
          </p:cNvPr>
          <p:cNvSpPr>
            <a:spLocks xmlns:a="http://schemas.openxmlformats.org/drawingml/2006/main" noGrp="1"/>
          </p:cNvSpPr>
          <p:nvPr/>
        </p:nvSpPr>
        <p:spPr>
          <a:xfrm xmlns:a="http://schemas.openxmlformats.org/drawingml/2006/main">
            <a:off x="3517900" y="2268804"/>
            <a:ext cx="2451100" cy="0"/>
          </a:xfrm>
          <a:prstGeom xmlns:a="http://schemas.openxmlformats.org/drawingml/2006/main" prst="line">
            <a:avLst/>
          </a:prstGeom>
          <a:noFill xmlns:a="http://schemas.openxmlformats.org/drawingml/2006/main"/>
          <a:ln xmlns:a="http://schemas.openxmlformats.org/drawingml/2006/main" w="6350">
            <a:solidFill>
              <a:srgbClr val="DAD7D0"/>
            </a:solidFill>
            <a:prstDash val="solid"/>
          </a:ln>
        </p:spPr>
      </p:sp>
      <p:sp>
        <p:nvSpPr>
          <p:cNvPr id="10" name="Text 6">
            <a:extLst xmlns:a="http://schemas.openxmlformats.org/drawingml/2006/main">
              <a:ext uri="{FF2B5EF4-FFF2-40B4-BE49-F238E27FC236}">
                <a16:creationId xmlns:a16="http://schemas.microsoft.com/office/drawing/2014/main" id="{668C33BD-2231-415F-B955-D1207528074A}"/>
              </a:ext>
            </a:extLst>
          </p:cNvPr>
          <p:cNvSpPr>
            <a:spLocks xmlns:a="http://schemas.openxmlformats.org/drawingml/2006/main" noGrp="1"/>
          </p:cNvSpPr>
          <p:nvPr/>
        </p:nvSpPr>
        <p:spPr>
          <a:xfrm xmlns:a="http://schemas.openxmlformats.org/drawingml/2006/main">
            <a:off x="3517900" y="2447661"/>
            <a:ext cx="2524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A64C8"/>
                </a:solidFill>
                <a:latin typeface="Inter"/>
                <a:ea typeface="Inter"/>
                <a:cs typeface="Inter"/>
              </a:rPr>
              <a:t>02</a:t>
            </a:r>
            <a:endParaRPr sz="1200"/>
          </a:p>
        </p:txBody>
      </p:sp>
      <p:sp>
        <p:nvSpPr>
          <p:cNvPr id="11" name="Text 7">
            <a:extLst xmlns:a="http://schemas.openxmlformats.org/drawingml/2006/main">
              <a:ext uri="{FF2B5EF4-FFF2-40B4-BE49-F238E27FC236}">
                <a16:creationId xmlns:a16="http://schemas.microsoft.com/office/drawing/2014/main" id="{BC9BF2FD-510D-4A87-86BF-FE927CF94176}"/>
              </a:ext>
            </a:extLst>
          </p:cNvPr>
          <p:cNvSpPr>
            <a:spLocks xmlns:a="http://schemas.openxmlformats.org/drawingml/2006/main" noGrp="1"/>
          </p:cNvSpPr>
          <p:nvPr/>
        </p:nvSpPr>
        <p:spPr>
          <a:xfrm xmlns:a="http://schemas.openxmlformats.org/drawingml/2006/main">
            <a:off x="3517900" y="2762582"/>
            <a:ext cx="2524633"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950"/>
            </a:defPPr>
            <a:lvl1pPr>
              <a:defRPr sz="1950"/>
            </a:lvl1pPr>
            <a:lvl2pPr>
              <a:defRPr sz="1950"/>
            </a:lvl2pPr>
            <a:lvl3pPr>
              <a:defRPr sz="1950"/>
            </a:lvl3pPr>
            <a:lvl4pPr>
              <a:defRPr sz="1950"/>
            </a:lvl4pPr>
            <a:lvl5pPr>
              <a:defRPr sz="1950"/>
            </a:lvl5pPr>
            <a:lvl6pPr>
              <a:defRPr sz="1950"/>
            </a:lvl6pPr>
            <a:lvl7pPr>
              <a:defRPr sz="1950"/>
            </a:lvl7pPr>
            <a:lvl8pPr>
              <a:defRPr sz="1950"/>
            </a:lvl8pPr>
            <a:lvl9pPr>
              <a:defRPr sz="1950"/>
            </a:lvl9pPr>
          </a:lstStyle>
          <a:p xmlns:a="http://schemas.openxmlformats.org/drawingml/2006/main">
            <a:pPr marL="0" indent="0" algn="l">
              <a:lnSpc>
                <a:spcPts val="2400"/>
              </a:lnSpc>
              <a:buNone/>
            </a:pPr>
            <a:r>
              <a:rPr sz="1950">
                <a:solidFill>
                  <a:srgbClr val="111214"/>
                </a:solidFill>
                <a:latin typeface="Inter Tight"/>
                <a:ea typeface="Inter Tight"/>
                <a:cs typeface="Inter Tight"/>
              </a:rPr>
              <a:t>Time and</a:t>
            </a:r>
            <a:endParaRPr sz="2000"/>
          </a:p>
          <a:p xmlns:a="http://schemas.openxmlformats.org/drawingml/2006/main">
            <a:pPr marL="0" indent="0" algn="l">
              <a:lnSpc>
                <a:spcPts val="2400"/>
              </a:lnSpc>
              <a:buNone/>
            </a:pPr>
            <a:r>
              <a:rPr sz="1950">
                <a:solidFill>
                  <a:srgbClr val="111214"/>
                </a:solidFill>
                <a:latin typeface="Inter Tight"/>
                <a:ea typeface="Inter Tight"/>
                <a:cs typeface="Inter Tight"/>
              </a:rPr>
              <a:t>entry effort</a:t>
            </a:r>
            <a:endParaRPr sz="2000"/>
          </a:p>
        </p:txBody>
      </p:sp>
      <p:sp>
        <p:nvSpPr>
          <p:cNvPr id="12" name="Shape 8">
            <a:extLst xmlns:a="http://schemas.openxmlformats.org/drawingml/2006/main">
              <a:ext uri="{FF2B5EF4-FFF2-40B4-BE49-F238E27FC236}">
                <a16:creationId xmlns:a16="http://schemas.microsoft.com/office/drawing/2014/main" id="{DE3C8438-F566-48E5-B8F1-76EC3B02E43A}"/>
              </a:ext>
            </a:extLst>
          </p:cNvPr>
          <p:cNvSpPr>
            <a:spLocks xmlns:a="http://schemas.openxmlformats.org/drawingml/2006/main" noGrp="1"/>
          </p:cNvSpPr>
          <p:nvPr/>
        </p:nvSpPr>
        <p:spPr>
          <a:xfrm xmlns:a="http://schemas.openxmlformats.org/drawingml/2006/main">
            <a:off x="6223000" y="2268804"/>
            <a:ext cx="2451100" cy="0"/>
          </a:xfrm>
          <a:prstGeom xmlns:a="http://schemas.openxmlformats.org/drawingml/2006/main" prst="line">
            <a:avLst/>
          </a:prstGeom>
          <a:noFill xmlns:a="http://schemas.openxmlformats.org/drawingml/2006/main"/>
          <a:ln xmlns:a="http://schemas.openxmlformats.org/drawingml/2006/main" w="6350">
            <a:solidFill>
              <a:srgbClr val="DAD7D0"/>
            </a:solidFill>
            <a:prstDash val="solid"/>
          </a:ln>
        </p:spPr>
      </p:sp>
      <p:sp>
        <p:nvSpPr>
          <p:cNvPr id="13" name="Text 9">
            <a:extLst xmlns:a="http://schemas.openxmlformats.org/drawingml/2006/main">
              <a:ext uri="{FF2B5EF4-FFF2-40B4-BE49-F238E27FC236}">
                <a16:creationId xmlns:a16="http://schemas.microsoft.com/office/drawing/2014/main" id="{B29B8E30-8235-4B8E-A368-600FDDB5A597}"/>
              </a:ext>
            </a:extLst>
          </p:cNvPr>
          <p:cNvSpPr>
            <a:spLocks xmlns:a="http://schemas.openxmlformats.org/drawingml/2006/main" noGrp="1"/>
          </p:cNvSpPr>
          <p:nvPr/>
        </p:nvSpPr>
        <p:spPr>
          <a:xfrm xmlns:a="http://schemas.openxmlformats.org/drawingml/2006/main">
            <a:off x="6223000" y="2447661"/>
            <a:ext cx="2524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A64C8"/>
                </a:solidFill>
                <a:latin typeface="Inter"/>
                <a:ea typeface="Inter"/>
                <a:cs typeface="Inter"/>
              </a:rPr>
              <a:t>03</a:t>
            </a:r>
            <a:endParaRPr sz="1200"/>
          </a:p>
        </p:txBody>
      </p:sp>
      <p:sp>
        <p:nvSpPr>
          <p:cNvPr id="14" name="Text 10">
            <a:extLst xmlns:a="http://schemas.openxmlformats.org/drawingml/2006/main">
              <a:ext uri="{FF2B5EF4-FFF2-40B4-BE49-F238E27FC236}">
                <a16:creationId xmlns:a16="http://schemas.microsoft.com/office/drawing/2014/main" id="{05CC773E-DF04-4874-B7E4-6A29D7610A67}"/>
              </a:ext>
            </a:extLst>
          </p:cNvPr>
          <p:cNvSpPr>
            <a:spLocks xmlns:a="http://schemas.openxmlformats.org/drawingml/2006/main" noGrp="1"/>
          </p:cNvSpPr>
          <p:nvPr/>
        </p:nvSpPr>
        <p:spPr>
          <a:xfrm xmlns:a="http://schemas.openxmlformats.org/drawingml/2006/main">
            <a:off x="6223000" y="2762582"/>
            <a:ext cx="2524633"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950"/>
            </a:defPPr>
            <a:lvl1pPr>
              <a:defRPr sz="1950"/>
            </a:lvl1pPr>
            <a:lvl2pPr>
              <a:defRPr sz="1950"/>
            </a:lvl2pPr>
            <a:lvl3pPr>
              <a:defRPr sz="1950"/>
            </a:lvl3pPr>
            <a:lvl4pPr>
              <a:defRPr sz="1950"/>
            </a:lvl4pPr>
            <a:lvl5pPr>
              <a:defRPr sz="1950"/>
            </a:lvl5pPr>
            <a:lvl6pPr>
              <a:defRPr sz="1950"/>
            </a:lvl6pPr>
            <a:lvl7pPr>
              <a:defRPr sz="1950"/>
            </a:lvl7pPr>
            <a:lvl8pPr>
              <a:defRPr sz="1950"/>
            </a:lvl8pPr>
            <a:lvl9pPr>
              <a:defRPr sz="1950"/>
            </a:lvl9pPr>
          </a:lstStyle>
          <a:p xmlns:a="http://schemas.openxmlformats.org/drawingml/2006/main">
            <a:pPr marL="0" indent="0" algn="l">
              <a:lnSpc>
                <a:spcPts val="2400"/>
              </a:lnSpc>
              <a:buNone/>
            </a:pPr>
            <a:r>
              <a:rPr sz="1950">
                <a:solidFill>
                  <a:srgbClr val="111214"/>
                </a:solidFill>
                <a:latin typeface="Inter Tight"/>
                <a:ea typeface="Inter Tight"/>
                <a:cs typeface="Inter Tight"/>
              </a:rPr>
              <a:t>Total cost</a:t>
            </a:r>
            <a:endParaRPr sz="2000"/>
          </a:p>
          <a:p xmlns:a="http://schemas.openxmlformats.org/drawingml/2006/main">
            <a:pPr marL="0" indent="0" algn="l">
              <a:lnSpc>
                <a:spcPts val="2400"/>
              </a:lnSpc>
              <a:buNone/>
            </a:pPr>
            <a:r>
              <a:rPr sz="1950">
                <a:solidFill>
                  <a:srgbClr val="111214"/>
                </a:solidFill>
                <a:latin typeface="Inter Tight"/>
                <a:ea typeface="Inter Tight"/>
                <a:cs typeface="Inter Tight"/>
              </a:rPr>
              <a:t>to adopt</a:t>
            </a:r>
            <a:endParaRPr sz="2000"/>
          </a:p>
        </p:txBody>
      </p:sp>
      <p:sp>
        <p:nvSpPr>
          <p:cNvPr id="15" name="Shape 11">
            <a:extLst xmlns:a="http://schemas.openxmlformats.org/drawingml/2006/main">
              <a:ext uri="{FF2B5EF4-FFF2-40B4-BE49-F238E27FC236}">
                <a16:creationId xmlns:a16="http://schemas.microsoft.com/office/drawing/2014/main" id="{FA5E797B-3E5B-4F81-B94F-080C3396CBD3}"/>
              </a:ext>
            </a:extLst>
          </p:cNvPr>
          <p:cNvSpPr>
            <a:spLocks xmlns:a="http://schemas.openxmlformats.org/drawingml/2006/main" noGrp="1"/>
          </p:cNvSpPr>
          <p:nvPr/>
        </p:nvSpPr>
        <p:spPr>
          <a:xfrm xmlns:a="http://schemas.openxmlformats.org/drawingml/2006/main">
            <a:off x="8928100" y="2268804"/>
            <a:ext cx="2451100" cy="0"/>
          </a:xfrm>
          <a:prstGeom xmlns:a="http://schemas.openxmlformats.org/drawingml/2006/main" prst="line">
            <a:avLst/>
          </a:prstGeom>
          <a:noFill xmlns:a="http://schemas.openxmlformats.org/drawingml/2006/main"/>
          <a:ln xmlns:a="http://schemas.openxmlformats.org/drawingml/2006/main" w="6350">
            <a:solidFill>
              <a:srgbClr val="DAD7D0"/>
            </a:solidFill>
            <a:prstDash val="solid"/>
          </a:ln>
        </p:spPr>
      </p:sp>
      <p:sp>
        <p:nvSpPr>
          <p:cNvPr id="16" name="Text 12">
            <a:extLst xmlns:a="http://schemas.openxmlformats.org/drawingml/2006/main">
              <a:ext uri="{FF2B5EF4-FFF2-40B4-BE49-F238E27FC236}">
                <a16:creationId xmlns:a16="http://schemas.microsoft.com/office/drawing/2014/main" id="{29C0390C-8FC5-45EB-9138-6F3FDFF306A3}"/>
              </a:ext>
            </a:extLst>
          </p:cNvPr>
          <p:cNvSpPr>
            <a:spLocks xmlns:a="http://schemas.openxmlformats.org/drawingml/2006/main" noGrp="1"/>
          </p:cNvSpPr>
          <p:nvPr/>
        </p:nvSpPr>
        <p:spPr>
          <a:xfrm xmlns:a="http://schemas.openxmlformats.org/drawingml/2006/main">
            <a:off x="8928100" y="2447661"/>
            <a:ext cx="2524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A64C8"/>
                </a:solidFill>
                <a:latin typeface="Inter"/>
                <a:ea typeface="Inter"/>
                <a:cs typeface="Inter"/>
              </a:rPr>
              <a:t>04</a:t>
            </a:r>
            <a:endParaRPr sz="1200"/>
          </a:p>
        </p:txBody>
      </p:sp>
      <p:sp>
        <p:nvSpPr>
          <p:cNvPr id="17" name="Text 13">
            <a:extLst xmlns:a="http://schemas.openxmlformats.org/drawingml/2006/main">
              <a:ext uri="{FF2B5EF4-FFF2-40B4-BE49-F238E27FC236}">
                <a16:creationId xmlns:a16="http://schemas.microsoft.com/office/drawing/2014/main" id="{04B4895D-F774-498F-A4DF-9F22B74EBB6C}"/>
              </a:ext>
            </a:extLst>
          </p:cNvPr>
          <p:cNvSpPr>
            <a:spLocks xmlns:a="http://schemas.openxmlformats.org/drawingml/2006/main" noGrp="1"/>
          </p:cNvSpPr>
          <p:nvPr/>
        </p:nvSpPr>
        <p:spPr>
          <a:xfrm xmlns:a="http://schemas.openxmlformats.org/drawingml/2006/main">
            <a:off x="8928100" y="2762582"/>
            <a:ext cx="2524633"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950"/>
            </a:defPPr>
            <a:lvl1pPr>
              <a:defRPr sz="1950"/>
            </a:lvl1pPr>
            <a:lvl2pPr>
              <a:defRPr sz="1950"/>
            </a:lvl2pPr>
            <a:lvl3pPr>
              <a:defRPr sz="1950"/>
            </a:lvl3pPr>
            <a:lvl4pPr>
              <a:defRPr sz="1950"/>
            </a:lvl4pPr>
            <a:lvl5pPr>
              <a:defRPr sz="1950"/>
            </a:lvl5pPr>
            <a:lvl6pPr>
              <a:defRPr sz="1950"/>
            </a:lvl6pPr>
            <a:lvl7pPr>
              <a:defRPr sz="1950"/>
            </a:lvl7pPr>
            <a:lvl8pPr>
              <a:defRPr sz="1950"/>
            </a:lvl8pPr>
            <a:lvl9pPr>
              <a:defRPr sz="1950"/>
            </a:lvl9pPr>
          </a:lstStyle>
          <a:p xmlns:a="http://schemas.openxmlformats.org/drawingml/2006/main">
            <a:pPr marL="0" indent="0" algn="l">
              <a:lnSpc>
                <a:spcPts val="2400"/>
              </a:lnSpc>
              <a:buNone/>
            </a:pPr>
            <a:r>
              <a:rPr sz="1950">
                <a:solidFill>
                  <a:srgbClr val="111214"/>
                </a:solidFill>
                <a:latin typeface="Inter Tight"/>
                <a:ea typeface="Inter Tight"/>
                <a:cs typeface="Inter Tight"/>
              </a:rPr>
              <a:t>Accurate stock</a:t>
            </a:r>
            <a:endParaRPr sz="2000"/>
          </a:p>
          <a:p xmlns:a="http://schemas.openxmlformats.org/drawingml/2006/main">
            <a:pPr marL="0" indent="0" algn="l">
              <a:lnSpc>
                <a:spcPts val="2400"/>
              </a:lnSpc>
              <a:buNone/>
            </a:pPr>
            <a:r>
              <a:rPr sz="1950">
                <a:solidFill>
                  <a:srgbClr val="111214"/>
                </a:solidFill>
                <a:latin typeface="Inter Tight"/>
                <a:ea typeface="Inter Tight"/>
                <a:cs typeface="Inter Tight"/>
              </a:rPr>
              <a:t>and capacity</a:t>
            </a:r>
            <a:endParaRPr sz="2000"/>
          </a:p>
        </p:txBody>
      </p:sp>
      <p:sp>
        <p:nvSpPr>
          <p:cNvPr id="18" name="Text 14">
            <a:extLst xmlns:a="http://schemas.openxmlformats.org/drawingml/2006/main">
              <a:ext uri="{FF2B5EF4-FFF2-40B4-BE49-F238E27FC236}">
                <a16:creationId xmlns:a16="http://schemas.microsoft.com/office/drawing/2014/main" id="{A510AD34-EE8F-4CEA-91DA-7EF442DAF3CE}"/>
              </a:ext>
            </a:extLst>
          </p:cNvPr>
          <p:cNvSpPr>
            <a:spLocks xmlns:a="http://schemas.openxmlformats.org/drawingml/2006/main" noGrp="1"/>
          </p:cNvSpPr>
          <p:nvPr/>
        </p:nvSpPr>
        <p:spPr>
          <a:xfrm xmlns:a="http://schemas.openxmlformats.org/drawingml/2006/main">
            <a:off x="812800" y="3778582"/>
            <a:ext cx="392981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pPr>
            <a:r>
              <a:rPr sz="1200" b="1">
                <a:solidFill>
                  <a:srgbClr val="5B6070"/>
                </a:solidFill>
                <a:latin typeface="Inter"/>
                <a:ea typeface="Inter"/>
                <a:cs typeface="Inter"/>
              </a:rPr>
              <a:t>Baseline</a:t>
            </a:r>
            <a:endParaRPr sz="1200"/>
          </a:p>
        </p:txBody>
      </p:sp>
      <p:sp>
        <p:nvSpPr>
          <p:cNvPr id="19" name="Text 15">
            <a:extLst xmlns:a="http://schemas.openxmlformats.org/drawingml/2006/main">
              <a:ext uri="{FF2B5EF4-FFF2-40B4-BE49-F238E27FC236}">
                <a16:creationId xmlns:a16="http://schemas.microsoft.com/office/drawing/2014/main" id="{0F7A4448-A4E0-4E66-ADA1-ABDE6983A936}"/>
              </a:ext>
            </a:extLst>
          </p:cNvPr>
          <p:cNvSpPr>
            <a:spLocks xmlns:a="http://schemas.openxmlformats.org/drawingml/2006/main" noGrp="1"/>
          </p:cNvSpPr>
          <p:nvPr/>
        </p:nvSpPr>
        <p:spPr>
          <a:xfrm xmlns:a="http://schemas.openxmlformats.org/drawingml/2006/main">
            <a:off x="812800" y="4042705"/>
            <a:ext cx="4424958" cy="289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500"/>
            </a:defPPr>
            <a:lvl1pPr>
              <a:defRPr sz="1500"/>
            </a:lvl1pPr>
            <a:lvl2pPr>
              <a:defRPr sz="1500"/>
            </a:lvl2pPr>
            <a:lvl3pPr>
              <a:defRPr sz="1500"/>
            </a:lvl3pPr>
            <a:lvl4pPr>
              <a:defRPr sz="1500"/>
            </a:lvl4pPr>
            <a:lvl5pPr>
              <a:defRPr sz="1500"/>
            </a:lvl5pPr>
            <a:lvl6pPr>
              <a:defRPr sz="1500"/>
            </a:lvl6pPr>
            <a:lvl7pPr>
              <a:defRPr sz="1500"/>
            </a:lvl7pPr>
            <a:lvl8pPr>
              <a:defRPr sz="1500"/>
            </a:lvl8pPr>
            <a:lvl9pPr>
              <a:defRPr sz="1500"/>
            </a:lvl9pPr>
          </a:lstStyle>
          <a:p xmlns:a="http://schemas.openxmlformats.org/drawingml/2006/main">
            <a:pPr marL="0" indent="0" algn="l">
              <a:lnSpc>
                <a:spcPts val="2080"/>
              </a:lnSpc>
              <a:buNone/>
            </a:pPr>
            <a:r>
              <a:rPr sz="1500">
                <a:solidFill>
                  <a:srgbClr val="111214"/>
                </a:solidFill>
                <a:latin typeface="Inter"/>
                <a:ea typeface="Inter"/>
                <a:cs typeface="Inter"/>
              </a:rPr>
              <a:t>Excel + normal messaging, same cases</a:t>
            </a:r>
            <a:endParaRPr sz="1600"/>
          </a:p>
        </p:txBody>
      </p:sp>
      <p:sp>
        <p:nvSpPr>
          <p:cNvPr id="20" name="Text 16">
            <a:extLst xmlns:a="http://schemas.openxmlformats.org/drawingml/2006/main">
              <a:ext uri="{FF2B5EF4-FFF2-40B4-BE49-F238E27FC236}">
                <a16:creationId xmlns:a16="http://schemas.microsoft.com/office/drawing/2014/main" id="{83B96CA4-DEE5-46B6-B0E8-954498C6C6C3}"/>
              </a:ext>
            </a:extLst>
          </p:cNvPr>
          <p:cNvSpPr>
            <a:spLocks xmlns:a="http://schemas.openxmlformats.org/drawingml/2006/main" noGrp="1"/>
          </p:cNvSpPr>
          <p:nvPr/>
        </p:nvSpPr>
        <p:spPr>
          <a:xfrm xmlns:a="http://schemas.openxmlformats.org/drawingml/2006/main">
            <a:off x="6400800" y="3778582"/>
            <a:ext cx="47625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pPr>
            <a:r>
              <a:rPr sz="1200" b="1">
                <a:solidFill>
                  <a:srgbClr val="2A64C8"/>
                </a:solidFill>
                <a:latin typeface="Inter"/>
                <a:ea typeface="Inter"/>
                <a:cs typeface="Inter"/>
              </a:rPr>
              <a:t>Adoption test</a:t>
            </a:r>
            <a:endParaRPr sz="1200"/>
          </a:p>
        </p:txBody>
      </p:sp>
      <p:sp>
        <p:nvSpPr>
          <p:cNvPr id="21" name="Text 17">
            <a:extLst xmlns:a="http://schemas.openxmlformats.org/drawingml/2006/main">
              <a:ext uri="{FF2B5EF4-FFF2-40B4-BE49-F238E27FC236}">
                <a16:creationId xmlns:a16="http://schemas.microsoft.com/office/drawing/2014/main" id="{C7C87118-F194-4E74-A9CF-FA131F080037}"/>
              </a:ext>
            </a:extLst>
          </p:cNvPr>
          <p:cNvSpPr>
            <a:spLocks xmlns:a="http://schemas.openxmlformats.org/drawingml/2006/main" noGrp="1"/>
          </p:cNvSpPr>
          <p:nvPr/>
        </p:nvSpPr>
        <p:spPr>
          <a:xfrm xmlns:a="http://schemas.openxmlformats.org/drawingml/2006/main">
            <a:off x="6400800" y="4042705"/>
            <a:ext cx="4953000" cy="61912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575"/>
            </a:defPPr>
            <a:lvl1pPr>
              <a:defRPr sz="1575"/>
            </a:lvl1pPr>
            <a:lvl2pPr>
              <a:defRPr sz="1575"/>
            </a:lvl2pPr>
            <a:lvl3pPr>
              <a:defRPr sz="1575"/>
            </a:lvl3pPr>
            <a:lvl4pPr>
              <a:defRPr sz="1575"/>
            </a:lvl4pPr>
            <a:lvl5pPr>
              <a:defRPr sz="1575"/>
            </a:lvl5pPr>
            <a:lvl6pPr>
              <a:defRPr sz="1575"/>
            </a:lvl6pPr>
            <a:lvl7pPr>
              <a:defRPr sz="1575"/>
            </a:lvl7pPr>
            <a:lvl8pPr>
              <a:defRPr sz="1575"/>
            </a:lvl8pPr>
            <a:lvl9pPr>
              <a:defRPr sz="1575"/>
            </a:lvl9pPr>
          </a:lstStyle>
          <a:p xmlns:a="http://schemas.openxmlformats.org/drawingml/2006/main">
            <a:pPr marL="0" indent="0" algn="l">
              <a:lnSpc>
                <a:spcPts val="2080"/>
              </a:lnSpc>
              <a:buNone/>
            </a:pPr>
            <a:r>
              <a:rPr sz="1575">
                <a:solidFill>
                  <a:srgbClr val="111214"/>
                </a:solidFill>
                <a:latin typeface="Inter"/>
                <a:ea typeface="Inter"/>
                <a:cs typeface="Inter"/>
              </a:rPr>
              <a:t>Realised benefit exceeds total cost</a:t>
            </a:r>
            <a:endParaRPr sz="1600"/>
          </a:p>
        </p:txBody>
      </p:sp>
      <p:sp>
        <p:nvSpPr>
          <p:cNvPr id="22" name="pilot-evidence">
            <a:extLst xmlns:a="http://schemas.openxmlformats.org/drawingml/2006/main">
              <a:ext uri="{FF2B5EF4-FFF2-40B4-BE49-F238E27FC236}">
                <a16:creationId xmlns:a16="http://schemas.microsoft.com/office/drawing/2014/main" id="{EE603B19-4CC5-4C96-B98B-FB70D0AFEC87}"/>
              </a:ext>
            </a:extLst>
          </p:cNvPr>
          <p:cNvSpPr>
            <a:spLocks xmlns:a="http://schemas.openxmlformats.org/drawingml/2006/main" noGrp="1"/>
          </p:cNvSpPr>
          <p:nvPr/>
        </p:nvSpPr>
        <p:spPr>
          <a:xfrm xmlns:a="http://schemas.openxmlformats.org/drawingml/2006/main">
            <a:off x="812768" y="504825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1">
                <a:solidFill>
                  <a:srgbClr val="2469E9"/>
                </a:solidFill>
                <a:latin typeface="Inter"/>
                <a:ea typeface="Inter"/>
                <a:cs typeface="Inter"/>
              </a:defRPr>
            </a:defPPr>
            <a:lvl1pPr>
              <a:defRPr sz="1725" b="1">
                <a:solidFill>
                  <a:srgbClr val="2469E9"/>
                </a:solidFill>
                <a:latin typeface="Inter"/>
                <a:ea typeface="Inter"/>
                <a:cs typeface="Inter"/>
              </a:defRPr>
            </a:lvl1pPr>
            <a:lvl2pPr>
              <a:defRPr sz="1725" b="1">
                <a:solidFill>
                  <a:srgbClr val="2469E9"/>
                </a:solidFill>
                <a:latin typeface="Inter"/>
                <a:ea typeface="Inter"/>
                <a:cs typeface="Inter"/>
              </a:defRPr>
            </a:lvl2pPr>
            <a:lvl3pPr>
              <a:defRPr sz="1725" b="1">
                <a:solidFill>
                  <a:srgbClr val="2469E9"/>
                </a:solidFill>
                <a:latin typeface="Inter"/>
                <a:ea typeface="Inter"/>
                <a:cs typeface="Inter"/>
              </a:defRPr>
            </a:lvl3pPr>
            <a:lvl4pPr>
              <a:defRPr sz="1725" b="1">
                <a:solidFill>
                  <a:srgbClr val="2469E9"/>
                </a:solidFill>
                <a:latin typeface="Inter"/>
                <a:ea typeface="Inter"/>
                <a:cs typeface="Inter"/>
              </a:defRPr>
            </a:lvl4pPr>
            <a:lvl5pPr>
              <a:defRPr sz="1725" b="1">
                <a:solidFill>
                  <a:srgbClr val="2469E9"/>
                </a:solidFill>
                <a:latin typeface="Inter"/>
                <a:ea typeface="Inter"/>
                <a:cs typeface="Inter"/>
              </a:defRPr>
            </a:lvl5pPr>
            <a:lvl6pPr>
              <a:defRPr sz="1725" b="1">
                <a:solidFill>
                  <a:srgbClr val="2469E9"/>
                </a:solidFill>
                <a:latin typeface="Inter"/>
                <a:ea typeface="Inter"/>
                <a:cs typeface="Inter"/>
              </a:defRPr>
            </a:lvl6pPr>
            <a:lvl7pPr>
              <a:defRPr sz="1725" b="1">
                <a:solidFill>
                  <a:srgbClr val="2469E9"/>
                </a:solidFill>
                <a:latin typeface="Inter"/>
                <a:ea typeface="Inter"/>
                <a:cs typeface="Inter"/>
              </a:defRPr>
            </a:lvl7pPr>
            <a:lvl8pPr>
              <a:defRPr sz="1725" b="1">
                <a:solidFill>
                  <a:srgbClr val="2469E9"/>
                </a:solidFill>
                <a:latin typeface="Inter"/>
                <a:ea typeface="Inter"/>
                <a:cs typeface="Inter"/>
              </a:defRPr>
            </a:lvl8pPr>
            <a:lvl9pPr>
              <a:defRPr sz="1725" b="1">
                <a:solidFill>
                  <a:srgbClr val="2469E9"/>
                </a:solidFill>
                <a:latin typeface="Inter"/>
                <a:ea typeface="Inter"/>
                <a:cs typeface="Inter"/>
              </a:defRPr>
            </a:lvl9pPr>
          </a:lstStyle>
          <a:p xmlns:a="http://schemas.openxmlformats.org/drawingml/2006/main">
            <a:pPr>
              <a:defRPr sz="1725" b="1">
                <a:solidFill>
                  <a:srgbClr val="2469E9"/>
                </a:solidFill>
                <a:latin typeface="Inter"/>
                <a:ea typeface="Inter"/>
                <a:cs typeface="Inter"/>
              </a:defRPr>
            </a:pPr>
            <a:r>
              <a:rPr sz="1725" b="1">
                <a:solidFill>
                  <a:srgbClr val="2469E9"/>
                </a:solidFill>
                <a:latin typeface="Inter"/>
                <a:ea typeface="Inter"/>
                <a:cs typeface="Inter"/>
              </a:rPr>
              <a:t>Measure commercial outcomes and effort. Time freed is not automatically cash saved.</a:t>
            </a:r>
          </a:p>
        </p:txBody>
      </p:sp>
      <p:sp>
        <p:nvSpPr>
          <p:cNvPr id="23" name="sdg-link">
            <a:extLst xmlns:a="http://schemas.openxmlformats.org/drawingml/2006/main">
              <a:ext uri="{FF2B5EF4-FFF2-40B4-BE49-F238E27FC236}">
                <a16:creationId xmlns:a16="http://schemas.microsoft.com/office/drawing/2014/main" id="{2FFD6357-7D80-4F2E-AC63-A14FF2C01475}"/>
              </a:ext>
            </a:extLst>
          </p:cNvPr>
          <p:cNvSpPr>
            <a:spLocks xmlns:a="http://schemas.openxmlformats.org/drawingml/2006/main" noGrp="1"/>
          </p:cNvSpPr>
          <p:nvPr/>
        </p:nvSpPr>
        <p:spPr>
          <a:xfrm xmlns:a="http://schemas.openxmlformats.org/drawingml/2006/main">
            <a:off x="812768" y="59531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E6576"/>
                </a:solidFill>
                <a:latin typeface="Inter"/>
                <a:ea typeface="Inter"/>
                <a:cs typeface="Inter"/>
              </a:defRPr>
            </a:defPPr>
            <a:lvl1pPr>
              <a:defRPr sz="1350" b="0">
                <a:solidFill>
                  <a:srgbClr val="5E6576"/>
                </a:solidFill>
                <a:latin typeface="Inter"/>
                <a:ea typeface="Inter"/>
                <a:cs typeface="Inter"/>
              </a:defRPr>
            </a:lvl1pPr>
            <a:lvl2pPr>
              <a:defRPr sz="1350" b="0">
                <a:solidFill>
                  <a:srgbClr val="5E6576"/>
                </a:solidFill>
                <a:latin typeface="Inter"/>
                <a:ea typeface="Inter"/>
                <a:cs typeface="Inter"/>
              </a:defRPr>
            </a:lvl2pPr>
            <a:lvl3pPr>
              <a:defRPr sz="1350" b="0">
                <a:solidFill>
                  <a:srgbClr val="5E6576"/>
                </a:solidFill>
                <a:latin typeface="Inter"/>
                <a:ea typeface="Inter"/>
                <a:cs typeface="Inter"/>
              </a:defRPr>
            </a:lvl3pPr>
            <a:lvl4pPr>
              <a:defRPr sz="1350" b="0">
                <a:solidFill>
                  <a:srgbClr val="5E6576"/>
                </a:solidFill>
                <a:latin typeface="Inter"/>
                <a:ea typeface="Inter"/>
                <a:cs typeface="Inter"/>
              </a:defRPr>
            </a:lvl4pPr>
            <a:lvl5pPr>
              <a:defRPr sz="1350" b="0">
                <a:solidFill>
                  <a:srgbClr val="5E6576"/>
                </a:solidFill>
                <a:latin typeface="Inter"/>
                <a:ea typeface="Inter"/>
                <a:cs typeface="Inter"/>
              </a:defRPr>
            </a:lvl5pPr>
            <a:lvl6pPr>
              <a:defRPr sz="1350" b="0">
                <a:solidFill>
                  <a:srgbClr val="5E6576"/>
                </a:solidFill>
                <a:latin typeface="Inter"/>
                <a:ea typeface="Inter"/>
                <a:cs typeface="Inter"/>
              </a:defRPr>
            </a:lvl6pPr>
            <a:lvl7pPr>
              <a:defRPr sz="1350" b="0">
                <a:solidFill>
                  <a:srgbClr val="5E6576"/>
                </a:solidFill>
                <a:latin typeface="Inter"/>
                <a:ea typeface="Inter"/>
                <a:cs typeface="Inter"/>
              </a:defRPr>
            </a:lvl7pPr>
            <a:lvl8pPr>
              <a:defRPr sz="1350" b="0">
                <a:solidFill>
                  <a:srgbClr val="5E6576"/>
                </a:solidFill>
                <a:latin typeface="Inter"/>
                <a:ea typeface="Inter"/>
                <a:cs typeface="Inter"/>
              </a:defRPr>
            </a:lvl8pPr>
            <a:lvl9pPr>
              <a:defRPr sz="1350" b="0">
                <a:solidFill>
                  <a:srgbClr val="5E6576"/>
                </a:solidFill>
                <a:latin typeface="Inter"/>
                <a:ea typeface="Inter"/>
                <a:cs typeface="Inter"/>
              </a:defRPr>
            </a:lvl9pPr>
          </a:lstStyle>
          <a:p xmlns:a="http://schemas.openxmlformats.org/drawingml/2006/main">
            <a:pPr>
              <a:defRPr sz="1350" b="0">
                <a:solidFill>
                  <a:srgbClr val="5E6576"/>
                </a:solidFill>
                <a:latin typeface="Inter"/>
                <a:ea typeface="Inter"/>
                <a:cs typeface="Inter"/>
              </a:defRPr>
            </a:pPr>
            <a:r>
              <a:rPr sz="1350" b="0">
                <a:solidFill>
                  <a:srgbClr val="5E6576"/>
                </a:solidFill>
                <a:latin typeface="Inter"/>
                <a:ea typeface="Inter"/>
                <a:cs typeface="Inter"/>
              </a:rPr>
              <a:t>SDG 8.2: productivity through technology, subject to pilot evidence.</a:t>
            </a:r>
          </a:p>
        </p:txBody>
      </p:sp>
    </p:spTree>
    <p:extLst>
      <p:ext uri="{BB962C8B-B14F-4D97-AF65-F5344CB8AC3E}">
        <p14:creationId xmlns:p14="http://schemas.microsoft.com/office/powerpoint/2010/main" val="2105226055"/>
      </p:ext>
    </p:extLst>
  </p:cSld>
</p:sld>
</file>

<file path=ppt/slides/slide9.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89D9C3E-957B-4667-838A-8F568245D57A}"/>
              </a:ext>
            </a:extLst>
          </p:cNvPr>
          <p:cNvSpPr>
            <a:spLocks xmlns:a="http://schemas.openxmlformats.org/drawingml/2006/main" noGrp="1"/>
          </p:cNvSpPr>
          <p:nvPr/>
        </p:nvSpPr>
        <p:spPr>
          <a:xfrm xmlns:a="http://schemas.openxmlformats.org/drawingml/2006/main">
            <a:off x="4826000" y="0"/>
            <a:ext cx="6096000" cy="3810000"/>
          </a:xfrm>
          <a:prstGeom xmlns:a="http://schemas.openxmlformats.org/drawingml/2006/main" prst="rect">
            <a:avLst/>
          </a:prstGeom>
          <a:gradFill xmlns:a="http://schemas.openxmlformats.org/drawingml/2006/main" rotWithShape="1">
            <a:gsLst>
              <a:gs pos="0">
                <a:srgbClr val="070B1F"/>
              </a:gs>
              <a:gs pos="22000">
                <a:srgbClr val="0F1F4D"/>
              </a:gs>
              <a:gs pos="44000">
                <a:srgbClr val="2A5BC0"/>
              </a:gs>
              <a:gs pos="62000">
                <a:srgbClr val="9BBDF3"/>
              </a:gs>
              <a:gs pos="78000">
                <a:srgbClr val="9BBDF3">
                  <a:alpha val="0"/>
                </a:srgbClr>
              </a:gs>
            </a:gsLst>
            <a:path path="circle">
              <a:fillToRect l="50000" t="0" r="50000" b="100000"/>
            </a:path>
          </a:gradFill>
        </p:spPr>
      </p:sp>
      <p:sp>
        <p:nvSpPr>
          <p:cNvPr id="3" name="Shape 1">
            <a:extLst xmlns:a="http://schemas.openxmlformats.org/drawingml/2006/main">
              <a:ext uri="{FF2B5EF4-FFF2-40B4-BE49-F238E27FC236}">
                <a16:creationId xmlns:a16="http://schemas.microsoft.com/office/drawing/2014/main" id="{E01902E3-CDAA-47F6-A997-2F569A441B09}"/>
              </a:ext>
            </a:extLst>
          </p:cNvPr>
          <p:cNvSpPr>
            <a:spLocks xmlns:a="http://schemas.openxmlformats.org/drawingml/2006/main" noGrp="1"/>
          </p:cNvSpPr>
          <p:nvPr/>
        </p:nvSpPr>
        <p:spPr>
          <a:xfrm xmlns:a="http://schemas.openxmlformats.org/drawingml/2006/main">
            <a:off x="0" y="4826000"/>
            <a:ext cx="4318000" cy="2032000"/>
          </a:xfrm>
          <a:prstGeom xmlns:a="http://schemas.openxmlformats.org/drawingml/2006/main" prst="rect">
            <a:avLst/>
          </a:prstGeom>
          <a:gradFill xmlns:a="http://schemas.openxmlformats.org/drawingml/2006/main" rotWithShape="1">
            <a:gsLst>
              <a:gs pos="0">
                <a:srgbClr val="070B1F"/>
              </a:gs>
              <a:gs pos="22000">
                <a:srgbClr val="0F1F4D"/>
              </a:gs>
              <a:gs pos="44000">
                <a:srgbClr val="2A5BC0"/>
              </a:gs>
              <a:gs pos="62000">
                <a:srgbClr val="9BBDF3"/>
              </a:gs>
              <a:gs pos="78000">
                <a:srgbClr val="9BBDF3">
                  <a:alpha val="0"/>
                </a:srgbClr>
              </a:gs>
            </a:gsLst>
            <a:path path="circle">
              <a:fillToRect l="40000" t="100000" r="60000" b="0"/>
            </a:path>
          </a:gradFill>
        </p:spPr>
      </p:sp>
      <p:pic>
        <p:nvPicPr>
          <p:cNvPr id="4" name="Image 0">
            <a:extLst xmlns:a="http://schemas.openxmlformats.org/drawingml/2006/main">
              <a:ext uri="{FF2B5EF4-FFF2-40B4-BE49-F238E27FC236}">
                <a16:creationId xmlns:a16="http://schemas.microsoft.com/office/drawing/2014/main" id="{008DC978-BD32-4EF1-9659-9B227E15B9D2}"/>
              </a:ext>
            </a:extLst>
          </p:cNvPr>
          <p:cNvPicPr>
            <a:picLocks xmlns:a="http://schemas.openxmlformats.org/drawingml/2006/main" noChangeAspect="1"/>
          </p:cNvPicPr>
          <p:nvPr/>
        </p:nvPicPr>
        <p:blipFill>
          <a:blip xmlns:r="http://schemas.openxmlformats.org/officeDocument/2006/relationships" xmlns:a="http://schemas.openxmlformats.org/drawingml/2006/main" r:embed="R1b35e4f4cb434234"/>
          <a:srcRect xmlns:a="http://schemas.openxmlformats.org/drawingml/2006/main" l="-111" t="0" r="-111" b="0"/>
          <a:stretch xmlns:a="http://schemas.openxmlformats.org/drawingml/2006/main"/>
        </p:blipFill>
        <p:spPr>
          <a:xfrm xmlns:a="http://schemas.openxmlformats.org/drawingml/2006/main">
            <a:off x="812800" y="431800"/>
            <a:ext cx="1435100" cy="254000"/>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49CC2768-83C2-4613-AFD1-92E8906757ED}"/>
              </a:ext>
            </a:extLst>
          </p:cNvPr>
          <p:cNvSpPr>
            <a:spLocks xmlns:a="http://schemas.openxmlformats.org/drawingml/2006/main" noGrp="1"/>
          </p:cNvSpPr>
          <p:nvPr/>
        </p:nvSpPr>
        <p:spPr>
          <a:xfrm xmlns:a="http://schemas.openxmlformats.org/drawingml/2006/main">
            <a:off x="10330855" y="416589"/>
            <a:ext cx="667345" cy="284427"/>
          </a:xfrm>
          <a:prstGeom xmlns:a="http://schemas.openxmlformats.org/drawingml/2006/main" prst="roundRect">
            <a:avLst>
              <a:gd name="adj" fmla="val 50000"/>
            </a:avLst>
          </a:prstGeom>
          <a:solidFill xmlns:a="http://schemas.openxmlformats.org/drawingml/2006/main">
            <a:srgbClr val="111214"/>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440"/>
              </a:lnSpc>
              <a:buNone/>
            </a:pPr>
            <a:r>
              <a:rPr sz="1200" b="1">
                <a:solidFill>
                  <a:srgbClr val="FAFAF8"/>
                </a:solidFill>
                <a:latin typeface="Inter"/>
                <a:ea typeface="Inter"/>
                <a:cs typeface="Inter"/>
              </a:rPr>
              <a:t>2026</a:t>
            </a:r>
            <a:endParaRPr sz="1200"/>
          </a:p>
        </p:txBody>
      </p:sp>
      <p:sp>
        <p:nvSpPr>
          <p:cNvPr id="6" name="Shape 3">
            <a:extLst xmlns:a="http://schemas.openxmlformats.org/drawingml/2006/main">
              <a:ext uri="{FF2B5EF4-FFF2-40B4-BE49-F238E27FC236}">
                <a16:creationId xmlns:a16="http://schemas.microsoft.com/office/drawing/2014/main" id="{B3D56A5E-D279-40D9-9B69-529E496A7197}"/>
              </a:ext>
            </a:extLst>
          </p:cNvPr>
          <p:cNvSpPr>
            <a:spLocks xmlns:a="http://schemas.openxmlformats.org/drawingml/2006/main" noGrp="1"/>
          </p:cNvSpPr>
          <p:nvPr/>
        </p:nvSpPr>
        <p:spPr>
          <a:xfrm xmlns:a="http://schemas.openxmlformats.org/drawingml/2006/main">
            <a:off x="11074400" y="406400"/>
            <a:ext cx="304800" cy="304800"/>
          </a:xfrm>
          <a:prstGeom xmlns:a="http://schemas.openxmlformats.org/drawingml/2006/main" prst="roundRect">
            <a:avLst>
              <a:gd name="adj" fmla="val 50000"/>
            </a:avLst>
          </a:prstGeom>
          <a:solidFill xmlns:a="http://schemas.openxmlformats.org/drawingml/2006/main">
            <a:srgbClr val="4F8BEA"/>
          </a:solidFill>
        </p:spPr>
      </p:sp>
      <p:pic>
        <p:nvPicPr>
          <p:cNvPr id="7" name="Image 1">
            <a:extLst xmlns:a="http://schemas.openxmlformats.org/drawingml/2006/main">
              <a:ext uri="{FF2B5EF4-FFF2-40B4-BE49-F238E27FC236}">
                <a16:creationId xmlns:a16="http://schemas.microsoft.com/office/drawing/2014/main" id="{A61E0CAF-045C-4928-B282-C03D296FD68D}"/>
              </a:ext>
            </a:extLst>
          </p:cNvPr>
          <p:cNvPicPr>
            <a:picLocks xmlns:a="http://schemas.openxmlformats.org/drawingml/2006/main" noChangeAspect="1"/>
          </p:cNvPicPr>
          <p:nvPr/>
        </p:nvPicPr>
        <p:blipFill>
          <a:blip xmlns:r="http://schemas.openxmlformats.org/officeDocument/2006/relationships" xmlns:a="http://schemas.openxmlformats.org/drawingml/2006/main" r:embed="Rb1f59fb9a1af4329"/>
          <a:srcRect xmlns:a="http://schemas.openxmlformats.org/drawingml/2006/main" l="0" t="0" r="0" b="0"/>
          <a:stretch xmlns:a="http://schemas.openxmlformats.org/drawingml/2006/main"/>
        </p:blipFill>
        <p:spPr>
          <a:xfrm xmlns:a="http://schemas.openxmlformats.org/drawingml/2006/main">
            <a:off x="11156950" y="514350"/>
            <a:ext cx="139700" cy="88900"/>
          </a:xfrm>
          <a:prstGeom xmlns:a="http://schemas.openxmlformats.org/drawingml/2006/main" prst="rect">
            <a:avLst/>
          </a:prstGeom>
        </p:spPr>
      </p:pic>
      <p:pic>
        <p:nvPicPr>
          <p:cNvPr id="8" name="Image 2">
            <a:extLst xmlns:a="http://schemas.openxmlformats.org/drawingml/2006/main">
              <a:ext uri="{FF2B5EF4-FFF2-40B4-BE49-F238E27FC236}">
                <a16:creationId xmlns:a16="http://schemas.microsoft.com/office/drawing/2014/main" id="{DF354D36-E3AA-4902-A536-E347402C182E}"/>
              </a:ext>
            </a:extLst>
          </p:cNvPr>
          <p:cNvPicPr>
            <a:picLocks xmlns:a="http://schemas.openxmlformats.org/drawingml/2006/main" noChangeAspect="1"/>
          </p:cNvPicPr>
          <p:nvPr/>
        </p:nvPicPr>
        <p:blipFill>
          <a:blip xmlns:r="http://schemas.openxmlformats.org/officeDocument/2006/relationships" xmlns:a="http://schemas.openxmlformats.org/drawingml/2006/main" r:embed="Re7508540a2b04031"/>
          <a:srcRect xmlns:a="http://schemas.openxmlformats.org/drawingml/2006/main" l="-181" t="0" r="-181" b="0"/>
          <a:stretch xmlns:a="http://schemas.openxmlformats.org/drawingml/2006/main"/>
        </p:blipFill>
        <p:spPr>
          <a:xfrm xmlns:a="http://schemas.openxmlformats.org/drawingml/2006/main">
            <a:off x="812800" y="1923194"/>
            <a:ext cx="673100" cy="635000"/>
          </a:xfrm>
          <a:prstGeom xmlns:a="http://schemas.openxmlformats.org/drawingml/2006/main" prst="rect">
            <a:avLst/>
          </a:prstGeom>
        </p:spPr>
      </p:pic>
      <p:sp>
        <p:nvSpPr>
          <p:cNvPr id="9" name="Text 4">
            <a:extLst xmlns:a="http://schemas.openxmlformats.org/drawingml/2006/main">
              <a:ext uri="{FF2B5EF4-FFF2-40B4-BE49-F238E27FC236}">
                <a16:creationId xmlns:a16="http://schemas.microsoft.com/office/drawing/2014/main" id="{3F0B6545-B5C8-4117-97E8-E0BB417AFEB8}"/>
              </a:ext>
            </a:extLst>
          </p:cNvPr>
          <p:cNvSpPr>
            <a:spLocks xmlns:a="http://schemas.openxmlformats.org/drawingml/2006/main" noGrp="1"/>
          </p:cNvSpPr>
          <p:nvPr>
            <p:ph type="title" idx="0"/>
          </p:nvPr>
        </p:nvSpPr>
        <p:spPr>
          <a:xfrm xmlns:a="http://schemas.openxmlformats.org/drawingml/2006/main">
            <a:off x="812800" y="2913794"/>
            <a:ext cx="8502650" cy="16256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0" i="0">
                <a:solidFill>
                  <a:srgbClr val="111214"/>
                </a:solidFill>
                <a:latin typeface="Inter Tight"/>
                <a:ea typeface="Inter Tight"/>
                <a:cs typeface="Inter Tight"/>
              </a:rPr>
              <a:t>Make room for the next proven seller</a:t>
            </a:r>
            <a:endParaRPr sz="6000"/>
          </a:p>
        </p:txBody>
      </p:sp>
      <p:sp>
        <p:nvSpPr>
          <p:cNvPr id="10" name="Shape 5">
            <a:extLst xmlns:a="http://schemas.openxmlformats.org/drawingml/2006/main">
              <a:ext uri="{FF2B5EF4-FFF2-40B4-BE49-F238E27FC236}">
                <a16:creationId xmlns:a16="http://schemas.microsoft.com/office/drawing/2014/main" id="{63326ACA-B65A-4930-8839-403FFF09A2FD}"/>
              </a:ext>
            </a:extLst>
          </p:cNvPr>
          <p:cNvSpPr>
            <a:spLocks xmlns:a="http://schemas.openxmlformats.org/drawingml/2006/main" noGrp="1"/>
          </p:cNvSpPr>
          <p:nvPr/>
        </p:nvSpPr>
        <p:spPr>
          <a:xfrm xmlns:a="http://schemas.openxmlformats.org/drawingml/2006/main">
            <a:off x="812800" y="4872769"/>
            <a:ext cx="8255000" cy="0"/>
          </a:xfrm>
          <a:prstGeom xmlns:a="http://schemas.openxmlformats.org/drawingml/2006/main" prst="line">
            <a:avLst/>
          </a:prstGeom>
          <a:noFill xmlns:a="http://schemas.openxmlformats.org/drawingml/2006/main"/>
          <a:ln xmlns:a="http://schemas.openxmlformats.org/drawingml/2006/main" w="6350">
            <a:solidFill>
              <a:srgbClr val="DAD7D0"/>
            </a:solidFill>
            <a:prstDash val="solid"/>
          </a:ln>
        </p:spPr>
      </p:sp>
      <p:sp>
        <p:nvSpPr>
          <p:cNvPr id="11" name="Text 6">
            <a:extLst xmlns:a="http://schemas.openxmlformats.org/drawingml/2006/main">
              <a:ext uri="{FF2B5EF4-FFF2-40B4-BE49-F238E27FC236}">
                <a16:creationId xmlns:a16="http://schemas.microsoft.com/office/drawing/2014/main" id="{FEFC44C6-1F1F-4B7D-93A2-A5C7471272B6}"/>
              </a:ext>
            </a:extLst>
          </p:cNvPr>
          <p:cNvSpPr>
            <a:spLocks xmlns:a="http://schemas.openxmlformats.org/drawingml/2006/main" noGrp="1"/>
          </p:cNvSpPr>
          <p:nvPr/>
        </p:nvSpPr>
        <p:spPr>
          <a:xfrm xmlns:a="http://schemas.openxmlformats.org/drawingml/2006/main">
            <a:off x="812800" y="5077023"/>
            <a:ext cx="3371850" cy="289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538">
                <a:solidFill>
                  <a:srgbClr val="111214"/>
                </a:solidFill>
              </a:defRPr>
            </a:defPPr>
            <a:lvl1pPr>
              <a:defRPr sz="1538">
                <a:solidFill>
                  <a:srgbClr val="111214"/>
                </a:solidFill>
              </a:defRPr>
            </a:lvl1pPr>
            <a:lvl2pPr>
              <a:defRPr sz="1538">
                <a:solidFill>
                  <a:srgbClr val="111214"/>
                </a:solidFill>
              </a:defRPr>
            </a:lvl2pPr>
            <a:lvl3pPr>
              <a:defRPr sz="1538">
                <a:solidFill>
                  <a:srgbClr val="111214"/>
                </a:solidFill>
              </a:defRPr>
            </a:lvl3pPr>
            <a:lvl4pPr>
              <a:defRPr sz="1538">
                <a:solidFill>
                  <a:srgbClr val="111214"/>
                </a:solidFill>
              </a:defRPr>
            </a:lvl4pPr>
            <a:lvl5pPr>
              <a:defRPr sz="1538">
                <a:solidFill>
                  <a:srgbClr val="111214"/>
                </a:solidFill>
              </a:defRPr>
            </a:lvl5pPr>
            <a:lvl6pPr>
              <a:defRPr sz="1538">
                <a:solidFill>
                  <a:srgbClr val="111214"/>
                </a:solidFill>
              </a:defRPr>
            </a:lvl6pPr>
            <a:lvl7pPr>
              <a:defRPr sz="1538">
                <a:solidFill>
                  <a:srgbClr val="111214"/>
                </a:solidFill>
              </a:defRPr>
            </a:lvl7pPr>
            <a:lvl8pPr>
              <a:defRPr sz="1538">
                <a:solidFill>
                  <a:srgbClr val="111214"/>
                </a:solidFill>
              </a:defRPr>
            </a:lvl8pPr>
            <a:lvl9pPr>
              <a:defRPr sz="1538">
                <a:solidFill>
                  <a:srgbClr val="111214"/>
                </a:solidFill>
              </a:defRPr>
            </a:lvl9pPr>
          </a:lstStyle>
          <a:p xmlns:a="http://schemas.openxmlformats.org/drawingml/2006/main">
            <a:pPr marL="0" indent="0" algn="l">
              <a:lnSpc>
                <a:spcPts val="2080"/>
              </a:lnSpc>
              <a:buNone/>
            </a:pPr>
            <a:r>
              <a:rPr sz="1538" b="1">
                <a:solidFill>
                  <a:srgbClr val="111214"/>
                </a:solidFill>
                <a:latin typeface="Inter"/>
                <a:ea typeface="Inter"/>
                <a:cs typeface="Inter"/>
              </a:rPr>
              <a:t>01 Validate one merchant case</a:t>
            </a:r>
            <a:endParaRPr sz="1600"/>
          </a:p>
        </p:txBody>
      </p:sp>
      <p:sp>
        <p:nvSpPr>
          <p:cNvPr id="12" name="Text 7">
            <a:extLst xmlns:a="http://schemas.openxmlformats.org/drawingml/2006/main">
              <a:ext uri="{FF2B5EF4-FFF2-40B4-BE49-F238E27FC236}">
                <a16:creationId xmlns:a16="http://schemas.microsoft.com/office/drawing/2014/main" id="{D4FE82E5-8D0B-43E0-8BCB-03CBD7F89F1D}"/>
              </a:ext>
            </a:extLst>
          </p:cNvPr>
          <p:cNvSpPr>
            <a:spLocks xmlns:a="http://schemas.openxmlformats.org/drawingml/2006/main" noGrp="1"/>
          </p:cNvSpPr>
          <p:nvPr/>
        </p:nvSpPr>
        <p:spPr>
          <a:xfrm xmlns:a="http://schemas.openxmlformats.org/drawingml/2006/main">
            <a:off x="4362450" y="5077023"/>
            <a:ext cx="4095750" cy="289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538">
                <a:solidFill>
                  <a:srgbClr val="111214"/>
                </a:solidFill>
              </a:defRPr>
            </a:defPPr>
            <a:lvl1pPr>
              <a:defRPr sz="1538">
                <a:solidFill>
                  <a:srgbClr val="111214"/>
                </a:solidFill>
              </a:defRPr>
            </a:lvl1pPr>
            <a:lvl2pPr>
              <a:defRPr sz="1538">
                <a:solidFill>
                  <a:srgbClr val="111214"/>
                </a:solidFill>
              </a:defRPr>
            </a:lvl2pPr>
            <a:lvl3pPr>
              <a:defRPr sz="1538">
                <a:solidFill>
                  <a:srgbClr val="111214"/>
                </a:solidFill>
              </a:defRPr>
            </a:lvl3pPr>
            <a:lvl4pPr>
              <a:defRPr sz="1538">
                <a:solidFill>
                  <a:srgbClr val="111214"/>
                </a:solidFill>
              </a:defRPr>
            </a:lvl4pPr>
            <a:lvl5pPr>
              <a:defRPr sz="1538">
                <a:solidFill>
                  <a:srgbClr val="111214"/>
                </a:solidFill>
              </a:defRPr>
            </a:lvl5pPr>
            <a:lvl6pPr>
              <a:defRPr sz="1538">
                <a:solidFill>
                  <a:srgbClr val="111214"/>
                </a:solidFill>
              </a:defRPr>
            </a:lvl6pPr>
            <a:lvl7pPr>
              <a:defRPr sz="1538">
                <a:solidFill>
                  <a:srgbClr val="111214"/>
                </a:solidFill>
              </a:defRPr>
            </a:lvl7pPr>
            <a:lvl8pPr>
              <a:defRPr sz="1538">
                <a:solidFill>
                  <a:srgbClr val="111214"/>
                </a:solidFill>
              </a:defRPr>
            </a:lvl8pPr>
            <a:lvl9pPr>
              <a:defRPr sz="1538">
                <a:solidFill>
                  <a:srgbClr val="111214"/>
                </a:solidFill>
              </a:defRPr>
            </a:lvl9pPr>
          </a:lstStyle>
          <a:p xmlns:a="http://schemas.openxmlformats.org/drawingml/2006/main">
            <a:pPr marL="0" indent="0" algn="l">
              <a:lnSpc>
                <a:spcPts val="2080"/>
              </a:lnSpc>
              <a:buNone/>
            </a:pPr>
            <a:r>
              <a:rPr sz="1538" b="1">
                <a:solidFill>
                  <a:srgbClr val="111214"/>
                </a:solidFill>
                <a:latin typeface="Inter"/>
                <a:ea typeface="Inter"/>
                <a:cs typeface="Inter"/>
              </a:rPr>
              <a:t>02 Prove value in a pilot</a:t>
            </a:r>
            <a:endParaRPr sz="1600"/>
          </a:p>
        </p:txBody>
      </p:sp>
    </p:spTree>
    <p:extLst>
      <p:ext uri="{BB962C8B-B14F-4D97-AF65-F5344CB8AC3E}">
        <p14:creationId xmlns:p14="http://schemas.microsoft.com/office/powerpoint/2010/main" val="444821527"/>
      </p:ext>
    </p:extLst>
  </p:cSld>
</p:sld>
</file>

<file path=ppt/slides/slide10.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71173642-7297-431B-9CEE-02F66D52153F}"/>
              </a:ext>
            </a:extLst>
          </p:cNvPr>
          <p:cNvPicPr>
            <a:picLocks xmlns:a="http://schemas.openxmlformats.org/drawingml/2006/main" noChangeAspect="1"/>
          </p:cNvPicPr>
          <p:nvPr/>
        </p:nvPicPr>
        <p:blipFill>
          <a:blip xmlns:r="http://schemas.openxmlformats.org/officeDocument/2006/relationships" xmlns:a="http://schemas.openxmlformats.org/drawingml/2006/main" r:embed="R8302aec9c10341ed"/>
          <a:srcRect xmlns:a="http://schemas.openxmlformats.org/drawingml/2006/main" l="-111" t="0" r="-111" b="0"/>
          <a:stretch xmlns:a="http://schemas.openxmlformats.org/drawingml/2006/main"/>
        </p:blipFill>
        <p:spPr>
          <a:xfrm xmlns:a="http://schemas.openxmlformats.org/drawingml/2006/main">
            <a:off x="812800" y="431800"/>
            <a:ext cx="1435100" cy="2540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EB5E84C1-15D7-4986-BB66-0BC788EB7942}"/>
              </a:ext>
            </a:extLst>
          </p:cNvPr>
          <p:cNvSpPr>
            <a:spLocks xmlns:a="http://schemas.openxmlformats.org/drawingml/2006/main" noGrp="1"/>
          </p:cNvSpPr>
          <p:nvPr/>
        </p:nvSpPr>
        <p:spPr>
          <a:xfrm xmlns:a="http://schemas.openxmlformats.org/drawingml/2006/main">
            <a:off x="10393628" y="416589"/>
            <a:ext cx="985573" cy="284427"/>
          </a:xfrm>
          <a:prstGeom xmlns:a="http://schemas.openxmlformats.org/drawingml/2006/main" prst="roundRect">
            <a:avLst>
              <a:gd name="adj" fmla="val 50000"/>
            </a:avLst>
          </a:prstGeom>
          <a:solidFill xmlns:a="http://schemas.openxmlformats.org/drawingml/2006/main">
            <a:srgbClr val="111214"/>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440"/>
              </a:lnSpc>
              <a:buNone/>
            </a:pPr>
            <a:r>
              <a:rPr sz="1200" b="1">
                <a:solidFill>
                  <a:srgbClr val="FAFAF8"/>
                </a:solidFill>
                <a:latin typeface="Inter"/>
                <a:ea typeface="Inter"/>
                <a:cs typeface="Inter"/>
              </a:rPr>
              <a:t>Appendix</a:t>
            </a:r>
            <a:endParaRPr sz="1200"/>
          </a:p>
        </p:txBody>
      </p:sp>
      <p:sp>
        <p:nvSpPr>
          <p:cNvPr id="4" name="Text 1">
            <a:extLst xmlns:a="http://schemas.openxmlformats.org/drawingml/2006/main">
              <a:ext uri="{FF2B5EF4-FFF2-40B4-BE49-F238E27FC236}">
                <a16:creationId xmlns:a16="http://schemas.microsoft.com/office/drawing/2014/main" id="{94BDD1C4-C658-49F4-B101-AF4F99D8AB17}"/>
              </a:ext>
            </a:extLst>
          </p:cNvPr>
          <p:cNvSpPr>
            <a:spLocks xmlns:a="http://schemas.openxmlformats.org/drawingml/2006/main" noGrp="1"/>
          </p:cNvSpPr>
          <p:nvPr>
            <p:ph type="title" idx="0"/>
          </p:nvPr>
        </p:nvSpPr>
        <p:spPr>
          <a:xfrm xmlns:a="http://schemas.openxmlformats.org/drawingml/2006/main">
            <a:off x="812800" y="1219200"/>
            <a:ext cx="10883392" cy="66542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5040"/>
              </a:lnSpc>
              <a:buNone/>
            </a:pPr>
            <a:r>
              <a:rPr sz="4800" b="0" i="0">
                <a:solidFill>
                  <a:srgbClr val="111214"/>
                </a:solidFill>
                <a:latin typeface="Inter Tight"/>
                <a:ea typeface="Inter Tight"/>
                <a:cs typeface="Inter Tight"/>
              </a:rPr>
              <a:t>Control and status</a:t>
            </a:r>
            <a:endParaRPr sz="4800"/>
          </a:p>
        </p:txBody>
      </p:sp>
      <p:sp>
        <p:nvSpPr>
          <p:cNvPr id="5" name="Text 2">
            <a:extLst xmlns:a="http://schemas.openxmlformats.org/drawingml/2006/main">
              <a:ext uri="{FF2B5EF4-FFF2-40B4-BE49-F238E27FC236}">
                <a16:creationId xmlns:a16="http://schemas.microsoft.com/office/drawing/2014/main" id="{22D44C87-63EF-4E59-B1EB-2FADA225AF35}"/>
              </a:ext>
            </a:extLst>
          </p:cNvPr>
          <p:cNvSpPr>
            <a:spLocks xmlns:a="http://schemas.openxmlformats.org/drawingml/2006/main" noGrp="1"/>
          </p:cNvSpPr>
          <p:nvPr/>
        </p:nvSpPr>
        <p:spPr>
          <a:xfrm xmlns:a="http://schemas.openxmlformats.org/drawingml/2006/main">
            <a:off x="812800" y="2214829"/>
            <a:ext cx="5127752" cy="25651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2A64C8"/>
                </a:solidFill>
                <a:latin typeface="Inter"/>
                <a:ea typeface="Inter"/>
                <a:cs typeface="Inter"/>
              </a:rPr>
              <a:t>When things go wrong</a:t>
            </a:r>
            <a:endParaRPr sz="1300"/>
          </a:p>
        </p:txBody>
      </p:sp>
      <p:graphicFrame>
        <p:nvGraphicFramePr>
          <p:cNvPr id="6" name="Table 0">
            <a:extLst xmlns:a="http://schemas.openxmlformats.org/drawingml/2006/main">
              <a:ext uri="{FF2B5EF4-FFF2-40B4-BE49-F238E27FC236}">
                <a16:creationId xmlns:a16="http://schemas.microsoft.com/office/drawing/2014/main" id="{3659BB27-CE44-4B5D-9854-13D199E7341B}"/>
              </a:ext>
            </a:extLst>
          </p:cNvPr>
          <p:cNvGraphicFramePr/>
          <p:nvPr/>
        </p:nvGraphicFramePr>
        <p:xfrm>
          <a:off xmlns:a="http://schemas.openxmlformats.org/drawingml/2006/main" x="825500" y="2585641"/>
          <a:ext xmlns:a="http://schemas.openxmlformats.org/drawingml/2006/main" cx="4965700" cy="2328532"/>
        </p:xfrm>
        <a:graphic xmlns:a="http://schemas.openxmlformats.org/drawingml/2006/main">
          <a:graphicData uri="http://schemas.openxmlformats.org/drawingml/2006/table">
            <a:tbl>
              <a:tblPr/>
              <a:tblGrid>
                <a:gridCol w="2482850"/>
                <a:gridCol w="2482850"/>
              </a:tblGrid>
              <a:tr h="332647">
                <a:tc>
                  <a:txBody>
                    <a:bodyPr/>
                    <a:lstStyle/>
                    <a:p>
                      <a:pPr marL="0" indent="0">
                        <a:lnSpc>
                          <a:spcPts val="1680"/>
                        </a:lnSpc>
                        <a:buNone/>
                      </a:pPr>
                      <a:r>
                        <a:rPr sz="1200" b="1">
                          <a:solidFill>
                            <a:srgbClr val="5B6070"/>
                          </a:solidFill>
                          <a:latin typeface="Inter"/>
                          <a:ea typeface="Inter"/>
                          <a:cs typeface="Inter"/>
                        </a:rPr>
                        <a:t>If</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B5B4B0"/>
                      </a:solidFill>
                      <a:prstDash val="solid"/>
                    </a:lnR>
                    <a:lnT w="12700" cmpd="sng">
                      <a:solidFill>
                        <a:srgbClr val="C4C2BE"/>
                      </a:solidFill>
                      <a:prstDash val="solid"/>
                    </a:lnT>
                    <a:lnB w="12700" cmpd="sng">
                      <a:solidFill>
                        <a:srgbClr val="B5B4B0"/>
                      </a:solidFill>
                      <a:prstDash val="solid"/>
                    </a:lnB>
                    <a:solidFill>
                      <a:srgbClr val="E3E1DC"/>
                    </a:solidFill>
                  </a:tcPr>
                </a:tc>
                <a:tc>
                  <a:txBody>
                    <a:bodyPr/>
                    <a:lstStyle/>
                    <a:p>
                      <a:pPr marL="0" indent="0">
                        <a:lnSpc>
                          <a:spcPts val="1680"/>
                        </a:lnSpc>
                        <a:buNone/>
                      </a:pPr>
                      <a:r>
                        <a:rPr sz="1200" b="1">
                          <a:solidFill>
                            <a:srgbClr val="5B6070"/>
                          </a:solidFill>
                          <a:latin typeface="Inter"/>
                          <a:ea typeface="Inter"/>
                          <a:cs typeface="Inter"/>
                        </a:rPr>
                        <a:t>Then</a:t>
                      </a:r>
                      <a:endParaRPr sz="1200">
                        <a:latin typeface="Inter"/>
                        <a:ea typeface="Inter"/>
                        <a:cs typeface="Inter"/>
                      </a:endParaRPr>
                    </a:p>
                  </a:txBody>
                  <a:tcPr marL="53340" marR="53340" marT="53340" marB="53340" anchor="t">
                    <a:lnL w="12700" cmpd="sng">
                      <a:solidFill>
                        <a:srgbClr val="B5B4B0"/>
                      </a:solidFill>
                      <a:prstDash val="solid"/>
                    </a:lnL>
                    <a:lnR w="12700" cmpd="sng">
                      <a:solidFill>
                        <a:srgbClr val="B5B4B0"/>
                      </a:solidFill>
                      <a:prstDash val="solid"/>
                    </a:lnR>
                    <a:lnT w="12700" cmpd="sng">
                      <a:solidFill>
                        <a:srgbClr val="C4C2BE"/>
                      </a:solidFill>
                      <a:prstDash val="solid"/>
                    </a:lnT>
                    <a:lnB w="12700" cmpd="sng">
                      <a:solidFill>
                        <a:srgbClr val="B5B4B0"/>
                      </a:solidFill>
                      <a:prstDash val="solid"/>
                    </a:lnB>
                    <a:solidFill>
                      <a:srgbClr val="E3E1DC"/>
                    </a:solidFill>
                  </a:tcPr>
                </a:tc>
              </a:tr>
              <a:tr h="332647">
                <a:tc>
                  <a:txBody>
                    <a:bodyPr/>
                    <a:lstStyle/>
                    <a:p>
                      <a:pPr marL="0" indent="0">
                        <a:lnSpc>
                          <a:spcPts val="1680"/>
                        </a:lnSpc>
                        <a:buNone/>
                      </a:pPr>
                      <a:r>
                        <a:rPr sz="1200">
                          <a:solidFill>
                            <a:srgbClr val="111214"/>
                          </a:solidFill>
                          <a:latin typeface="Inter"/>
                          <a:ea typeface="Inter"/>
                          <a:cs typeface="Inter"/>
                        </a:rPr>
                        <a:t>Quote incomplete</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C4C2BE"/>
                      </a:solidFill>
                      <a:prstDash val="solid"/>
                    </a:lnR>
                    <a:lnT w="12700" cmpd="sng">
                      <a:solidFill>
                        <a:srgbClr val="B5B4B0"/>
                      </a:solidFill>
                      <a:prstDash val="solid"/>
                    </a:lnT>
                    <a:lnB w="12700" cmpd="sng">
                      <a:solidFill>
                        <a:srgbClr val="C4C2BE"/>
                      </a:solidFill>
                      <a:prstDash val="solid"/>
                    </a:lnB>
                  </a:tcPr>
                </a:tc>
                <a:tc>
                  <a:txBody>
                    <a:bodyPr/>
                    <a:lstStyle/>
                    <a:p>
                      <a:pPr marL="0" indent="0">
                        <a:lnSpc>
                          <a:spcPts val="1680"/>
                        </a:lnSpc>
                        <a:buNone/>
                      </a:pPr>
                      <a:r>
                        <a:rPr sz="1200">
                          <a:solidFill>
                            <a:srgbClr val="111214"/>
                          </a:solidFill>
                          <a:latin typeface="Inter"/>
                          <a:ea typeface="Inter"/>
                          <a:cs typeface="Inter"/>
                        </a:rPr>
                        <a:t>Clarify or exclude</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C4C2BE"/>
                      </a:solidFill>
                      <a:prstDash val="solid"/>
                    </a:lnR>
                    <a:lnT w="12700" cmpd="sng">
                      <a:solidFill>
                        <a:srgbClr val="B5B4B0"/>
                      </a:solidFill>
                      <a:prstDash val="solid"/>
                    </a:lnT>
                    <a:lnB w="12700" cmpd="sng">
                      <a:solidFill>
                        <a:srgbClr val="C4C2BE"/>
                      </a:solidFill>
                      <a:prstDash val="solid"/>
                    </a:lnB>
                  </a:tcPr>
                </a:tc>
              </a:tr>
              <a:tr h="332647">
                <a:tc>
                  <a:txBody>
                    <a:bodyPr/>
                    <a:lstStyle/>
                    <a:p>
                      <a:pPr marL="0" indent="0">
                        <a:lnSpc>
                          <a:spcPts val="1680"/>
                        </a:lnSpc>
                        <a:buNone/>
                      </a:pPr>
                      <a:r>
                        <a:rPr sz="1200">
                          <a:solidFill>
                            <a:srgbClr val="111214"/>
                          </a:solidFill>
                          <a:latin typeface="Inter"/>
                          <a:ea typeface="Inter"/>
                          <a:cs typeface="Inter"/>
                        </a:rPr>
                        <a:t>Weak sales evidence</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nSpc>
                          <a:spcPts val="1680"/>
                        </a:lnSpc>
                        <a:buNone/>
                      </a:pPr>
                      <a:r>
                        <a:rPr sz="1200">
                          <a:solidFill>
                            <a:srgbClr val="111214"/>
                          </a:solidFill>
                          <a:latin typeface="Inter"/>
                          <a:ea typeface="Inter"/>
                          <a:cs typeface="Inter"/>
                        </a:rPr>
                        <a:t>Show uncertainty</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r>
              <a:tr h="332647">
                <a:tc>
                  <a:txBody>
                    <a:bodyPr/>
                    <a:lstStyle/>
                    <a:p>
                      <a:pPr marL="0" indent="0">
                        <a:lnSpc>
                          <a:spcPts val="1680"/>
                        </a:lnSpc>
                        <a:buNone/>
                      </a:pPr>
                      <a:r>
                        <a:rPr sz="1200">
                          <a:solidFill>
                            <a:srgbClr val="111214"/>
                          </a:solidFill>
                          <a:latin typeface="Inter"/>
                          <a:ea typeface="Inter"/>
                          <a:cs typeface="Inter"/>
                        </a:rPr>
                        <a:t>Proposal changes</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nSpc>
                          <a:spcPts val="1680"/>
                        </a:lnSpc>
                        <a:buNone/>
                      </a:pPr>
                      <a:r>
                        <a:rPr sz="1200">
                          <a:solidFill>
                            <a:srgbClr val="111214"/>
                          </a:solidFill>
                          <a:latin typeface="Inter"/>
                          <a:ea typeface="Inter"/>
                          <a:cs typeface="Inter"/>
                        </a:rPr>
                        <a:t>Owner reviews again</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r>
              <a:tr h="332647">
                <a:tc>
                  <a:txBody>
                    <a:bodyPr/>
                    <a:lstStyle/>
                    <a:p>
                      <a:pPr marL="0" indent="0">
                        <a:lnSpc>
                          <a:spcPts val="1680"/>
                        </a:lnSpc>
                        <a:buNone/>
                      </a:pPr>
                      <a:r>
                        <a:rPr sz="1200">
                          <a:solidFill>
                            <a:srgbClr val="111214"/>
                          </a:solidFill>
                          <a:latin typeface="Inter"/>
                          <a:ea typeface="Inter"/>
                          <a:cs typeface="Inter"/>
                        </a:rPr>
                        <a:t>Collection missed</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nSpc>
                          <a:spcPts val="1680"/>
                        </a:lnSpc>
                        <a:buNone/>
                      </a:pPr>
                      <a:r>
                        <a:rPr sz="1200">
                          <a:solidFill>
                            <a:srgbClr val="111214"/>
                          </a:solidFill>
                          <a:latin typeface="Inter"/>
                          <a:ea typeface="Inter"/>
                          <a:cs typeface="Inter"/>
                        </a:rPr>
                        <a:t>Space stays occupied</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r>
              <a:tr h="332647">
                <a:tc>
                  <a:txBody>
                    <a:bodyPr/>
                    <a:lstStyle/>
                    <a:p>
                      <a:pPr marL="0" indent="0">
                        <a:lnSpc>
                          <a:spcPts val="1680"/>
                        </a:lnSpc>
                        <a:buNone/>
                      </a:pPr>
                      <a:r>
                        <a:rPr sz="1200">
                          <a:solidFill>
                            <a:srgbClr val="111214"/>
                          </a:solidFill>
                          <a:latin typeface="Inter"/>
                          <a:ea typeface="Inter"/>
                          <a:cs typeface="Inter"/>
                        </a:rPr>
                        <a:t>Dispatch confirmed</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nSpc>
                          <a:spcPts val="1680"/>
                        </a:lnSpc>
                        <a:buNone/>
                      </a:pPr>
                      <a:r>
                        <a:rPr sz="1200">
                          <a:solidFill>
                            <a:srgbClr val="111214"/>
                          </a:solidFill>
                          <a:latin typeface="Inter"/>
                          <a:ea typeface="Inter"/>
                          <a:cs typeface="Inter"/>
                        </a:rPr>
                        <a:t>Capacity updates once</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r>
              <a:tr h="332647">
                <a:tc>
                  <a:txBody>
                    <a:bodyPr/>
                    <a:lstStyle/>
                    <a:p>
                      <a:pPr marL="0" indent="0">
                        <a:lnSpc>
                          <a:spcPts val="1680"/>
                        </a:lnSpc>
                        <a:buNone/>
                      </a:pPr>
                      <a:r>
                        <a:rPr sz="1200">
                          <a:solidFill>
                            <a:srgbClr val="111214"/>
                          </a:solidFill>
                          <a:latin typeface="Inter"/>
                          <a:ea typeface="Inter"/>
                          <a:cs typeface="Inter"/>
                        </a:rPr>
                        <a:t>Restock ordered</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nSpc>
                          <a:spcPts val="1680"/>
                        </a:lnSpc>
                        <a:buNone/>
                      </a:pPr>
                      <a:r>
                        <a:rPr sz="1200">
                          <a:solidFill>
                            <a:srgbClr val="111214"/>
                          </a:solidFill>
                          <a:latin typeface="Inter"/>
                          <a:ea typeface="Inter"/>
                          <a:cs typeface="Inter"/>
                        </a:rPr>
                        <a:t>Incoming until received</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r>
            </a:tbl>
          </a:graphicData>
        </a:graphic>
      </p:graphicFrame>
      <p:sp>
        <p:nvSpPr>
          <p:cNvPr id="7" name="Text 3">
            <a:extLst xmlns:a="http://schemas.openxmlformats.org/drawingml/2006/main">
              <a:ext uri="{FF2B5EF4-FFF2-40B4-BE49-F238E27FC236}">
                <a16:creationId xmlns:a16="http://schemas.microsoft.com/office/drawing/2014/main" id="{CB446BAD-D7DB-4638-A0C9-50E09B7245A9}"/>
              </a:ext>
            </a:extLst>
          </p:cNvPr>
          <p:cNvSpPr>
            <a:spLocks xmlns:a="http://schemas.openxmlformats.org/drawingml/2006/main" noGrp="1"/>
          </p:cNvSpPr>
          <p:nvPr/>
        </p:nvSpPr>
        <p:spPr>
          <a:xfrm xmlns:a="http://schemas.openxmlformats.org/drawingml/2006/main">
            <a:off x="6400800" y="2214829"/>
            <a:ext cx="512775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11214"/>
                </a:solidFill>
                <a:latin typeface="Inter"/>
                <a:ea typeface="Inter"/>
                <a:cs typeface="Inter"/>
              </a:rPr>
              <a:t>Runs today</a:t>
            </a:r>
            <a:endParaRPr sz="1200"/>
          </a:p>
        </p:txBody>
      </p:sp>
      <p:sp>
        <p:nvSpPr>
          <p:cNvPr id="8" name="Text 4">
            <a:extLst xmlns:a="http://schemas.openxmlformats.org/drawingml/2006/main">
              <a:ext uri="{FF2B5EF4-FFF2-40B4-BE49-F238E27FC236}">
                <a16:creationId xmlns:a16="http://schemas.microsoft.com/office/drawing/2014/main" id="{EE310962-74C8-472D-BBE2-A63E7769B630}"/>
              </a:ext>
            </a:extLst>
          </p:cNvPr>
          <p:cNvSpPr>
            <a:spLocks xmlns:a="http://schemas.openxmlformats.org/drawingml/2006/main" noGrp="1"/>
          </p:cNvSpPr>
          <p:nvPr/>
        </p:nvSpPr>
        <p:spPr>
          <a:xfrm xmlns:a="http://schemas.openxmlformats.org/drawingml/2006/main">
            <a:off x="6400800" y="2466249"/>
            <a:ext cx="5127752"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B6070"/>
                </a:solidFill>
                <a:latin typeface="Inter"/>
                <a:ea typeface="Inter"/>
                <a:cs typeface="Inter"/>
              </a:rPr>
              <a:t>3D warehouse · inventory search · on-hand, reserved, available · manual receiving and dispatch · rule-based voice</a:t>
            </a:r>
            <a:endParaRPr sz="1200"/>
          </a:p>
        </p:txBody>
      </p:sp>
      <p:sp>
        <p:nvSpPr>
          <p:cNvPr id="9" name="Text 5">
            <a:extLst xmlns:a="http://schemas.openxmlformats.org/drawingml/2006/main">
              <a:ext uri="{FF2B5EF4-FFF2-40B4-BE49-F238E27FC236}">
                <a16:creationId xmlns:a16="http://schemas.microsoft.com/office/drawing/2014/main" id="{F3DB0A17-5CD5-4E84-9D8D-E01203BBA113}"/>
              </a:ext>
            </a:extLst>
          </p:cNvPr>
          <p:cNvSpPr>
            <a:spLocks xmlns:a="http://schemas.openxmlformats.org/drawingml/2006/main" noGrp="1"/>
          </p:cNvSpPr>
          <p:nvPr/>
        </p:nvSpPr>
        <p:spPr>
          <a:xfrm xmlns:a="http://schemas.openxmlformats.org/drawingml/2006/main">
            <a:off x="6400800" y="3045290"/>
            <a:ext cx="512775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A64C8"/>
                </a:solidFill>
                <a:latin typeface="Inter"/>
                <a:ea typeface="Inter"/>
                <a:cs typeface="Inter"/>
              </a:rPr>
              <a:t>In development</a:t>
            </a:r>
            <a:endParaRPr sz="1200"/>
          </a:p>
        </p:txBody>
      </p:sp>
      <p:sp>
        <p:nvSpPr>
          <p:cNvPr id="10" name="Text 6">
            <a:extLst xmlns:a="http://schemas.openxmlformats.org/drawingml/2006/main">
              <a:ext uri="{FF2B5EF4-FFF2-40B4-BE49-F238E27FC236}">
                <a16:creationId xmlns:a16="http://schemas.microsoft.com/office/drawing/2014/main" id="{59F4BDB8-90D8-4E28-987D-367DE9F15526}"/>
              </a:ext>
            </a:extLst>
          </p:cNvPr>
          <p:cNvSpPr>
            <a:spLocks xmlns:a="http://schemas.openxmlformats.org/drawingml/2006/main" noGrp="1"/>
          </p:cNvSpPr>
          <p:nvPr/>
        </p:nvSpPr>
        <p:spPr>
          <a:xfrm xmlns:a="http://schemas.openxmlformats.org/drawingml/2006/main">
            <a:off x="6400800" y="3296710"/>
            <a:ext cx="512775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B6070"/>
                </a:solidFill>
                <a:latin typeface="Inter"/>
                <a:ea typeface="Inter"/>
                <a:cs typeface="Inter"/>
              </a:rPr>
              <a:t>Capacity reallocation</a:t>
            </a:r>
            <a:endParaRPr sz="1200"/>
          </a:p>
        </p:txBody>
      </p:sp>
      <p:sp>
        <p:nvSpPr>
          <p:cNvPr id="11" name="Text 7">
            <a:extLst xmlns:a="http://schemas.openxmlformats.org/drawingml/2006/main">
              <a:ext uri="{FF2B5EF4-FFF2-40B4-BE49-F238E27FC236}">
                <a16:creationId xmlns:a16="http://schemas.microsoft.com/office/drawing/2014/main" id="{DCA0981A-3E8E-46D7-87E0-C420F782B764}"/>
              </a:ext>
            </a:extLst>
          </p:cNvPr>
          <p:cNvSpPr>
            <a:spLocks xmlns:a="http://schemas.openxmlformats.org/drawingml/2006/main" noGrp="1"/>
          </p:cNvSpPr>
          <p:nvPr/>
        </p:nvSpPr>
        <p:spPr>
          <a:xfrm xmlns:a="http://schemas.openxmlformats.org/drawingml/2006/main">
            <a:off x="6400800" y="3662431"/>
            <a:ext cx="512775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11214"/>
                </a:solidFill>
                <a:latin typeface="Inter"/>
                <a:ea typeface="Inter"/>
                <a:cs typeface="Inter"/>
              </a:rPr>
              <a:t>Simulated in demo</a:t>
            </a:r>
            <a:endParaRPr sz="1200"/>
          </a:p>
        </p:txBody>
      </p:sp>
      <p:sp>
        <p:nvSpPr>
          <p:cNvPr id="12" name="Text 8">
            <a:extLst xmlns:a="http://schemas.openxmlformats.org/drawingml/2006/main">
              <a:ext uri="{FF2B5EF4-FFF2-40B4-BE49-F238E27FC236}">
                <a16:creationId xmlns:a16="http://schemas.microsoft.com/office/drawing/2014/main" id="{304940ED-6826-49CD-8903-4D38BD2251EE}"/>
              </a:ext>
            </a:extLst>
          </p:cNvPr>
          <p:cNvSpPr>
            <a:spLocks xmlns:a="http://schemas.openxmlformats.org/drawingml/2006/main" noGrp="1"/>
          </p:cNvSpPr>
          <p:nvPr/>
        </p:nvSpPr>
        <p:spPr>
          <a:xfrm xmlns:a="http://schemas.openxmlformats.org/drawingml/2006/main">
            <a:off x="6400800" y="3913851"/>
            <a:ext cx="512775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B6070"/>
                </a:solidFill>
                <a:latin typeface="Inter"/>
                <a:ea typeface="Inter"/>
                <a:cs typeface="Inter"/>
              </a:rPr>
              <a:t>Synthetic data · buyer and carrier replies · external actions</a:t>
            </a:r>
            <a:endParaRPr sz="1200"/>
          </a:p>
        </p:txBody>
      </p:sp>
      <p:sp>
        <p:nvSpPr>
          <p:cNvPr id="13" name="Text 9">
            <a:extLst xmlns:a="http://schemas.openxmlformats.org/drawingml/2006/main">
              <a:ext uri="{FF2B5EF4-FFF2-40B4-BE49-F238E27FC236}">
                <a16:creationId xmlns:a16="http://schemas.microsoft.com/office/drawing/2014/main" id="{B035A650-6DA6-4988-B926-B1954B96F476}"/>
              </a:ext>
            </a:extLst>
          </p:cNvPr>
          <p:cNvSpPr>
            <a:spLocks xmlns:a="http://schemas.openxmlformats.org/drawingml/2006/main" noGrp="1"/>
          </p:cNvSpPr>
          <p:nvPr/>
        </p:nvSpPr>
        <p:spPr>
          <a:xfrm xmlns:a="http://schemas.openxmlformats.org/drawingml/2006/main">
            <a:off x="6400800" y="4279571"/>
            <a:ext cx="512775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11214"/>
                </a:solidFill>
                <a:latin typeface="Inter"/>
                <a:ea typeface="Inter"/>
                <a:cs typeface="Inter"/>
              </a:rPr>
              <a:t>Planned</a:t>
            </a:r>
            <a:endParaRPr sz="1200"/>
          </a:p>
        </p:txBody>
      </p:sp>
      <p:sp>
        <p:nvSpPr>
          <p:cNvPr id="14" name="Text 10">
            <a:extLst xmlns:a="http://schemas.openxmlformats.org/drawingml/2006/main">
              <a:ext uri="{FF2B5EF4-FFF2-40B4-BE49-F238E27FC236}">
                <a16:creationId xmlns:a16="http://schemas.microsoft.com/office/drawing/2014/main" id="{C7421047-7362-4177-BC98-949032F82222}"/>
              </a:ext>
            </a:extLst>
          </p:cNvPr>
          <p:cNvSpPr>
            <a:spLocks xmlns:a="http://schemas.openxmlformats.org/drawingml/2006/main" noGrp="1"/>
          </p:cNvSpPr>
          <p:nvPr/>
        </p:nvSpPr>
        <p:spPr>
          <a:xfrm xmlns:a="http://schemas.openxmlformats.org/drawingml/2006/main">
            <a:off x="6400800" y="4530992"/>
            <a:ext cx="5127752"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B6070"/>
                </a:solidFill>
                <a:latin typeface="Inter"/>
                <a:ea typeface="Inter"/>
                <a:cs typeface="Inter"/>
              </a:rPr>
              <a:t>Document extraction · approval controls · live carrier enquiries · Orbyte integration · WhatsApp reports</a:t>
            </a:r>
            <a:endParaRPr sz="1200"/>
          </a:p>
        </p:txBody>
      </p:sp>
      <p:sp>
        <p:nvSpPr>
          <p:cNvPr id="15" name="Text 11">
            <a:extLst xmlns:a="http://schemas.openxmlformats.org/drawingml/2006/main">
              <a:ext uri="{FF2B5EF4-FFF2-40B4-BE49-F238E27FC236}">
                <a16:creationId xmlns:a16="http://schemas.microsoft.com/office/drawing/2014/main" id="{DAB14AE1-B9B3-4AA0-93CD-08E33C056D05}"/>
              </a:ext>
            </a:extLst>
          </p:cNvPr>
          <p:cNvSpPr>
            <a:spLocks xmlns:a="http://schemas.openxmlformats.org/drawingml/2006/main" noGrp="1"/>
          </p:cNvSpPr>
          <p:nvPr/>
        </p:nvSpPr>
        <p:spPr>
          <a:xfrm xmlns:a="http://schemas.openxmlformats.org/drawingml/2006/main">
            <a:off x="6400800" y="5110032"/>
            <a:ext cx="512775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11214"/>
                </a:solidFill>
                <a:latin typeface="Inter"/>
                <a:ea typeface="Inter"/>
                <a:cs typeface="Inter"/>
              </a:rPr>
              <a:t>Not yet validated</a:t>
            </a:r>
            <a:endParaRPr sz="1200"/>
          </a:p>
        </p:txBody>
      </p:sp>
      <p:sp>
        <p:nvSpPr>
          <p:cNvPr id="16" name="Text 12">
            <a:extLst xmlns:a="http://schemas.openxmlformats.org/drawingml/2006/main">
              <a:ext uri="{FF2B5EF4-FFF2-40B4-BE49-F238E27FC236}">
                <a16:creationId xmlns:a16="http://schemas.microsoft.com/office/drawing/2014/main" id="{8CADBEE8-DD06-4A17-BF37-101577B1D153}"/>
              </a:ext>
            </a:extLst>
          </p:cNvPr>
          <p:cNvSpPr>
            <a:spLocks xmlns:a="http://schemas.openxmlformats.org/drawingml/2006/main" noGrp="1"/>
          </p:cNvSpPr>
          <p:nvPr/>
        </p:nvSpPr>
        <p:spPr>
          <a:xfrm xmlns:a="http://schemas.openxmlformats.org/drawingml/2006/main">
            <a:off x="6400800" y="5361453"/>
            <a:ext cx="512775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B6070"/>
                </a:solidFill>
                <a:latin typeface="Inter"/>
                <a:ea typeface="Inter"/>
                <a:cs typeface="Inter"/>
              </a:rPr>
              <a:t>Demand · pricing · operational benefits · fit beyond furniture</a:t>
            </a:r>
            <a:endParaRPr sz="1200"/>
          </a:p>
        </p:txBody>
      </p:sp>
      <p:sp>
        <p:nvSpPr>
          <p:cNvPr id="17" name="stock-rule-status">
            <a:extLst xmlns:a="http://schemas.openxmlformats.org/drawingml/2006/main">
              <a:ext uri="{FF2B5EF4-FFF2-40B4-BE49-F238E27FC236}">
                <a16:creationId xmlns:a16="http://schemas.microsoft.com/office/drawing/2014/main" id="{F1B5E703-B71F-46B3-A622-D8636221A964}"/>
              </a:ext>
            </a:extLst>
          </p:cNvPr>
          <p:cNvSpPr>
            <a:spLocks xmlns:a="http://schemas.openxmlformats.org/drawingml/2006/main" noGrp="1"/>
          </p:cNvSpPr>
          <p:nvPr/>
        </p:nvSpPr>
        <p:spPr>
          <a:xfrm xmlns:a="http://schemas.openxmlformats.org/drawingml/2006/main">
            <a:off x="812768" y="597217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425" b="0">
                <a:solidFill>
                  <a:srgbClr val="2469E9"/>
                </a:solidFill>
                <a:latin typeface="Inter"/>
                <a:ea typeface="Inter"/>
                <a:cs typeface="Inter"/>
              </a:defRPr>
            </a:defPPr>
            <a:lvl1pPr>
              <a:defRPr sz="1425" b="0">
                <a:solidFill>
                  <a:srgbClr val="2469E9"/>
                </a:solidFill>
                <a:latin typeface="Inter"/>
                <a:ea typeface="Inter"/>
                <a:cs typeface="Inter"/>
              </a:defRPr>
            </a:lvl1pPr>
            <a:lvl2pPr>
              <a:defRPr sz="1425" b="0">
                <a:solidFill>
                  <a:srgbClr val="2469E9"/>
                </a:solidFill>
                <a:latin typeface="Inter"/>
                <a:ea typeface="Inter"/>
                <a:cs typeface="Inter"/>
              </a:defRPr>
            </a:lvl2pPr>
            <a:lvl3pPr>
              <a:defRPr sz="1425" b="0">
                <a:solidFill>
                  <a:srgbClr val="2469E9"/>
                </a:solidFill>
                <a:latin typeface="Inter"/>
                <a:ea typeface="Inter"/>
                <a:cs typeface="Inter"/>
              </a:defRPr>
            </a:lvl3pPr>
            <a:lvl4pPr>
              <a:defRPr sz="1425" b="0">
                <a:solidFill>
                  <a:srgbClr val="2469E9"/>
                </a:solidFill>
                <a:latin typeface="Inter"/>
                <a:ea typeface="Inter"/>
                <a:cs typeface="Inter"/>
              </a:defRPr>
            </a:lvl4pPr>
            <a:lvl5pPr>
              <a:defRPr sz="1425" b="0">
                <a:solidFill>
                  <a:srgbClr val="2469E9"/>
                </a:solidFill>
                <a:latin typeface="Inter"/>
                <a:ea typeface="Inter"/>
                <a:cs typeface="Inter"/>
              </a:defRPr>
            </a:lvl5pPr>
            <a:lvl6pPr>
              <a:defRPr sz="1425" b="0">
                <a:solidFill>
                  <a:srgbClr val="2469E9"/>
                </a:solidFill>
                <a:latin typeface="Inter"/>
                <a:ea typeface="Inter"/>
                <a:cs typeface="Inter"/>
              </a:defRPr>
            </a:lvl6pPr>
            <a:lvl7pPr>
              <a:defRPr sz="1425" b="0">
                <a:solidFill>
                  <a:srgbClr val="2469E9"/>
                </a:solidFill>
                <a:latin typeface="Inter"/>
                <a:ea typeface="Inter"/>
                <a:cs typeface="Inter"/>
              </a:defRPr>
            </a:lvl7pPr>
            <a:lvl8pPr>
              <a:defRPr sz="1425" b="0">
                <a:solidFill>
                  <a:srgbClr val="2469E9"/>
                </a:solidFill>
                <a:latin typeface="Inter"/>
                <a:ea typeface="Inter"/>
                <a:cs typeface="Inter"/>
              </a:defRPr>
            </a:lvl8pPr>
            <a:lvl9pPr>
              <a:defRPr sz="1425" b="0">
                <a:solidFill>
                  <a:srgbClr val="2469E9"/>
                </a:solidFill>
                <a:latin typeface="Inter"/>
                <a:ea typeface="Inter"/>
                <a:cs typeface="Inter"/>
              </a:defRPr>
            </a:lvl9pPr>
          </a:lstStyle>
          <a:p xmlns:a="http://schemas.openxmlformats.org/drawingml/2006/main">
            <a:pPr>
              <a:defRPr sz="1425" b="0">
                <a:solidFill>
                  <a:srgbClr val="2469E9"/>
                </a:solidFill>
                <a:latin typeface="Inter"/>
                <a:ea typeface="Inter"/>
                <a:cs typeface="Inter"/>
              </a:defRPr>
            </a:pPr>
            <a:r>
              <a:rPr sz="1425" b="0">
                <a:solidFill>
                  <a:srgbClr val="2469E9"/>
                </a:solidFill>
                <a:latin typeface="Inter"/>
                <a:ea typeface="Inter"/>
                <a:cs typeface="Inter"/>
              </a:rPr>
              <a:t>Stock rules to validate: sales rate, supplier lead time and a safety buffer.</a:t>
            </a:r>
          </a:p>
        </p:txBody>
      </p:sp>
    </p:spTree>
    <p:extLst>
      <p:ext uri="{BB962C8B-B14F-4D97-AF65-F5344CB8AC3E}">
        <p14:creationId xmlns:p14="http://schemas.microsoft.com/office/powerpoint/2010/main" val="193005272"/>
      </p:ext>
    </p:extLst>
  </p:cSld>
</p:sld>
</file>

<file path=ppt/theme/theme1.xml><?xml version="1.0" encoding="utf-8"?>
<a:theme xmlns:a="http://schemas.openxmlformats.org/drawingml/2006/main" name="WareOrb — SDC 2026 Pitch">
  <a:themeElements>
    <a:clrScheme name="WareOrb — SDC 2026 Pitch">
      <a:dk1>
        <a:srgbClr val="111214"/>
      </a:dk1>
      <a:lt1>
        <a:srgbClr val="FAFAF8"/>
      </a:lt1>
      <a:dk2>
        <a:srgbClr val="4B4C4D"/>
      </a:dk2>
      <a:lt2>
        <a:srgbClr val="E3E3E1"/>
      </a:lt2>
      <a:accent1>
        <a:srgbClr val="2A64C8"/>
      </a:accent1>
      <a:accent2>
        <a:srgbClr val="4F8BEA"/>
      </a:accent2>
      <a:accent3>
        <a:srgbClr val="0F1F4D"/>
      </a:accent3>
      <a:accent4>
        <a:srgbClr val="2A5BC0"/>
      </a:accent4>
      <a:accent5>
        <a:srgbClr val="9BBDF3"/>
      </a:accent5>
      <a:accent6>
        <a:srgbClr val="8FB6F5"/>
      </a:accent6>
      <a:hlink>
        <a:srgbClr val="0563C1"/>
      </a:hlink>
      <a:folHlink>
        <a:srgbClr val="954F72"/>
      </a:folHlink>
    </a:clrScheme>
    <a:fontScheme name="WareOrb — SDC 2026 Pitch">
      <a:majorFont>
        <a:latin typeface="Inter T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WareOrb — SDC 2026 Pitch">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2026-10-24T14:19:14.0010000Z</dcterms:created>
  <dcterms:modified xsi:type="dcterms:W3CDTF">2026-10-24T14:19:14.0010000Z</dcterms:modified>
</coreProperties>
</file>