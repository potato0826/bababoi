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0:00–0:20</a:t>
            </a:r>
          </a:p>
          <a:p>
            <a:endParaRPr dirty="0"/>
          </a:p>
          <a:p>
            <a:r>
              <a:rPr dirty="0"/>
              <a:t>A furniture warehouse can be full while the business still needs different stock. Older sofas occupy useful space, and the next replenishment has to wait. We’re building </a:t>
            </a:r>
            <a:r>
              <a:rPr dirty="0" err="1"/>
              <a:t>WareOrb</a:t>
            </a:r>
            <a:r>
              <a:rPr dirty="0"/>
              <a:t> to help small merchants act on that problem, with the owner in control.</a:t>
            </a:r>
          </a:p>
          <a:p>
            <a:endParaRPr dirty="0"/>
          </a:p>
          <a:p>
            <a:r>
              <a:rPr dirty="0"/>
              <a:t>SOURCE / CLAIM LIMITS</a:t>
            </a:r>
          </a:p>
          <a:p>
            <a:r>
              <a:rPr dirty="0"/>
              <a:t>Product framing: </a:t>
            </a:r>
            <a:r>
              <a:rPr dirty="0" err="1"/>
              <a:t>Bababoi</a:t>
            </a:r>
            <a:r>
              <a:rPr dirty="0"/>
              <a:t>-preview/</a:t>
            </a:r>
            <a:r>
              <a:rPr dirty="0" err="1"/>
              <a:t>AdvancedWareorb.md</a:t>
            </a:r>
            <a:r>
              <a:rPr dirty="0"/>
              <a:t> §§1–2. Scenario is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0:20–0:55</a:t>
            </a:r>
          </a:p>
          <a:p>
            <a:endParaRPr dirty="0"/>
          </a:p>
          <a:p>
            <a:r>
              <a:rPr dirty="0"/>
              <a:t>Here is our example: four older sofas occupy two bays. The batch is one hundred and twenty days old, with no sales of that model in the last thirty days. Those facts justify attention, not an automatic clearance. Someone still needs to find a buyer, check delivery costs and arrange collection. Until the goods actually leave, that space remains occupied. </a:t>
            </a:r>
            <a:r>
              <a:rPr dirty="0" err="1"/>
              <a:t>WareOrb</a:t>
            </a:r>
            <a:r>
              <a:rPr dirty="0"/>
              <a:t> connects those steps so the stock record leads to a decision and a visible result.</a:t>
            </a:r>
          </a:p>
          <a:p>
            <a:endParaRPr dirty="0"/>
          </a:p>
          <a:p>
            <a:r>
              <a:rPr dirty="0"/>
              <a:t>SOURCE / CLAIM LIMITS</a:t>
            </a:r>
          </a:p>
          <a:p>
            <a:r>
              <a:rPr dirty="0" err="1"/>
              <a:t>Bababoi</a:t>
            </a:r>
            <a:r>
              <a:rPr dirty="0"/>
              <a:t>-preview/</a:t>
            </a:r>
            <a:r>
              <a:rPr dirty="0" err="1"/>
              <a:t>AdvancedWareorb.md</a:t>
            </a:r>
            <a:r>
              <a:rPr dirty="0"/>
              <a:t> §8; </a:t>
            </a:r>
            <a:r>
              <a:rPr dirty="0" err="1"/>
              <a:t>src</a:t>
            </a:r>
            <a:r>
              <a:rPr dirty="0"/>
              <a:t>/domain/</a:t>
            </a:r>
            <a:r>
              <a:rPr dirty="0" err="1"/>
              <a:t>seed.ts</a:t>
            </a:r>
            <a:r>
              <a:rPr dirty="0"/>
              <a:t>; </a:t>
            </a:r>
            <a:r>
              <a:rPr dirty="0" err="1"/>
              <a:t>src</a:t>
            </a:r>
            <a:r>
              <a:rPr dirty="0"/>
              <a:t>/domain/</a:t>
            </a:r>
            <a:r>
              <a:rPr dirty="0" err="1"/>
              <a:t>ageing.ts</a:t>
            </a:r>
            <a:r>
              <a:rPr dirty="0"/>
              <a:t>. Current seeded rule: age at least 90 days, zero net sales in 30 days, unreserved quantity available.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0:55–1:40</a:t>
            </a:r>
          </a:p>
          <a:p>
            <a:endParaRPr dirty="0"/>
          </a:p>
          <a:p>
            <a:r>
              <a:rPr dirty="0"/>
              <a:t>Capacity reallocation is our main feature. </a:t>
            </a:r>
            <a:r>
              <a:rPr dirty="0" err="1"/>
              <a:t>WareOrb</a:t>
            </a:r>
            <a:r>
              <a:rPr dirty="0"/>
              <a:t> identifies a batch needing attention and prepares a brief for the salesperson. The salesperson finds a buyer and records the offer and delivery requirements. </a:t>
            </a:r>
            <a:r>
              <a:rPr dirty="0" err="1"/>
              <a:t>WareOrb</a:t>
            </a:r>
            <a:r>
              <a:rPr dirty="0"/>
              <a:t> combines those requirements with the cargo information, compares complete transport quotes and prepares the owner's decision. Approval reserves the goods. Warehouse staff then confirm collection, which updates stock, frees the actual bay and records the action. The updated records also support replenishment advice. This is one connected operating journey, rather than several disconnected tasks.</a:t>
            </a:r>
          </a:p>
          <a:p>
            <a:endParaRPr dirty="0"/>
          </a:p>
          <a:p>
            <a:r>
              <a:rPr dirty="0"/>
              <a:t>SOURCE / CLAIM LIMITS</a:t>
            </a:r>
          </a:p>
          <a:p>
            <a:r>
              <a:rPr dirty="0" err="1"/>
              <a:t>Bababoi</a:t>
            </a:r>
            <a:r>
              <a:rPr dirty="0"/>
              <a:t>-preview/</a:t>
            </a:r>
            <a:r>
              <a:rPr dirty="0" err="1"/>
              <a:t>AdvancedWareorb.md</a:t>
            </a:r>
            <a:r>
              <a:rPr dirty="0"/>
              <a:t> §§2, 8–9; convex/</a:t>
            </a:r>
            <a:r>
              <a:rPr dirty="0" err="1"/>
              <a:t>deals.ts</a:t>
            </a:r>
            <a:r>
              <a:rPr dirty="0"/>
              <a:t>; convex/</a:t>
            </a:r>
            <a:r>
              <a:rPr dirty="0" err="1"/>
              <a:t>quotes.ts</a:t>
            </a:r>
            <a:r>
              <a:rPr dirty="0"/>
              <a:t>. Human salespeople find buyers. External booking is simulated. Replenishment is a separate owner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1:40–2:10</a:t>
            </a:r>
          </a:p>
          <a:p>
            <a:endParaRPr dirty="0"/>
          </a:p>
          <a:p>
            <a:r>
              <a:rPr dirty="0"/>
              <a:t>Jarvis is the entry point: staff can ask about stock and open the next task in ordinary language. The 3D view connects that information to physical locations. It makes the difference between occupied, reserved and released space easier to understand. Receiving supplies the underlying records, with people checking the goods before posting stock. AI can help interpret inputs, while explicit rules calculate quantities and costs. Let’s follow one batch through the prototype.</a:t>
            </a:r>
          </a:p>
          <a:p>
            <a:endParaRPr dirty="0"/>
          </a:p>
          <a:p>
            <a:r>
              <a:rPr dirty="0"/>
              <a:t>SOURCE / CLAIM LIMITS</a:t>
            </a:r>
          </a:p>
          <a:p>
            <a:r>
              <a:rPr dirty="0" err="1"/>
              <a:t>Bababoi</a:t>
            </a:r>
            <a:r>
              <a:rPr dirty="0"/>
              <a:t>-preview/</a:t>
            </a:r>
            <a:r>
              <a:rPr dirty="0" err="1"/>
              <a:t>HANDOFF.md</a:t>
            </a:r>
            <a:r>
              <a:rPr dirty="0"/>
              <a:t>; </a:t>
            </a:r>
            <a:r>
              <a:rPr dirty="0" err="1"/>
              <a:t>src</a:t>
            </a:r>
            <a:r>
              <a:rPr dirty="0"/>
              <a:t>/</a:t>
            </a:r>
            <a:r>
              <a:rPr dirty="0" err="1"/>
              <a:t>workflow.ts</a:t>
            </a:r>
            <a:r>
              <a:rPr dirty="0"/>
              <a:t>; </a:t>
            </a:r>
            <a:r>
              <a:rPr dirty="0" err="1"/>
              <a:t>src</a:t>
            </a:r>
            <a:r>
              <a:rPr dirty="0"/>
              <a:t>/domain/</a:t>
            </a:r>
            <a:r>
              <a:rPr dirty="0" err="1"/>
              <a:t>costs.ts</a:t>
            </a:r>
            <a:r>
              <a:rPr dirty="0"/>
              <a:t>; </a:t>
            </a:r>
            <a:r>
              <a:rPr dirty="0" err="1"/>
              <a:t>src</a:t>
            </a:r>
            <a:r>
              <a:rPr dirty="0"/>
              <a:t>/domain/</a:t>
            </a:r>
            <a:r>
              <a:rPr dirty="0" err="1"/>
              <a:t>replenish.ts</a:t>
            </a:r>
            <a:r>
              <a:rPr dirty="0"/>
              <a:t>. Voice and model-backed features depend on configured services; text/command fallbacks exist. Live services were not tested in this presentation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2:10–5:00</a:t>
            </a:r>
          </a:p>
          <a:p>
            <a:endParaRPr dirty="0"/>
          </a:p>
          <a:p>
            <a:r>
              <a:rPr dirty="0"/>
              <a:t>Transition directly into the separate 2 minute 50 second screen recording. This title is only a short transition inside that allocation. Use the detailed demo script in the companion recording guide.</a:t>
            </a:r>
          </a:p>
          <a:p>
            <a:endParaRPr dirty="0"/>
          </a:p>
          <a:p>
            <a:r>
              <a:rPr dirty="0"/>
              <a:t>SOURCE / CLAIM LIMITS</a:t>
            </a:r>
          </a:p>
          <a:p>
            <a:r>
              <a:rPr dirty="0" err="1"/>
              <a:t>Bababoi</a:t>
            </a:r>
            <a:r>
              <a:rPr dirty="0"/>
              <a:t>-preview/</a:t>
            </a:r>
            <a:r>
              <a:rPr dirty="0" err="1"/>
              <a:t>AdvancedWareorb.md</a:t>
            </a:r>
            <a:r>
              <a:rPr dirty="0"/>
              <a:t> §8; </a:t>
            </a:r>
            <a:r>
              <a:rPr dirty="0" err="1"/>
              <a:t>HANDOFF.md</a:t>
            </a:r>
            <a:r>
              <a:rPr dirty="0"/>
              <a:t> demo path, corrected to RM1,200 TOTAL for two sofas. Local code inspected, deployed runtime not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5:00–5:50</a:t>
            </a:r>
          </a:p>
          <a:p>
            <a:endParaRPr dirty="0"/>
          </a:p>
          <a:p>
            <a:r>
              <a:rPr dirty="0"/>
              <a:t>In the demo, a buyer offers twelve hundred ringgit in total for two sofas. Delivery costs two hundred and eighty, and packing costs twenty, leaving nine hundred ringgit recovered before the original stock cost. That is not nine hundred ringgit of profit, or a saving created entirely by </a:t>
            </a:r>
            <a:r>
              <a:rPr dirty="0" err="1"/>
              <a:t>WareOrb</a:t>
            </a:r>
            <a:r>
              <a:rPr dirty="0"/>
              <a:t>. The business case is the additional benefit over the merchant's existing process: fewer avoidable delivery costs, less coordination and usable space for stock with demonstrated sales. If total adoption cost were two hundred ringgit a month, the merchant would need more than that in additional monthly benefit. Our next test is to measure that benefit against spreadsheets and normal messaging.</a:t>
            </a:r>
          </a:p>
          <a:p>
            <a:endParaRPr dirty="0"/>
          </a:p>
          <a:p>
            <a:r>
              <a:rPr dirty="0"/>
              <a:t>SOURCE / CLAIM LIMITS</a:t>
            </a:r>
          </a:p>
          <a:p>
            <a:r>
              <a:rPr dirty="0" err="1"/>
              <a:t>Bababoi</a:t>
            </a:r>
            <a:r>
              <a:rPr dirty="0"/>
              <a:t>-preview/</a:t>
            </a:r>
            <a:r>
              <a:rPr dirty="0" err="1"/>
              <a:t>AdvancedWareorb.md</a:t>
            </a:r>
            <a:r>
              <a:rPr dirty="0"/>
              <a:t> §§5.3, 8. RM1,200 − RM280 − RM20 = RM900. RM200/month assumption retained from Business Value Revision slide 7 as total cost, not actual pricing. Mentor transcript 00:04:52–00:05:57 and 00:07:00–00:09:33. No measured ROI.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5:50–6:25</a:t>
            </a:r>
          </a:p>
          <a:p>
            <a:endParaRPr dirty="0"/>
          </a:p>
          <a:p>
            <a:r>
              <a:rPr dirty="0"/>
              <a:t>We start with small furniture merchants and a workflow they can repeat across batches and staff. Existing spreadsheets or point-of-sale records can remain inputs. </a:t>
            </a:r>
            <a:r>
              <a:rPr dirty="0" err="1"/>
              <a:t>WareOrb</a:t>
            </a:r>
            <a:r>
              <a:rPr dirty="0"/>
              <a:t> adds the follow-through between records, approvals and physical stock. That fits </a:t>
            </a:r>
            <a:r>
              <a:rPr dirty="0" err="1"/>
              <a:t>Orbyte's</a:t>
            </a:r>
            <a:r>
              <a:rPr dirty="0"/>
              <a:t> shared business-hub approach, although our </a:t>
            </a:r>
            <a:r>
              <a:rPr dirty="0" err="1"/>
              <a:t>Orbyte</a:t>
            </a:r>
            <a:r>
              <a:rPr dirty="0"/>
              <a:t> connection is proposed. The main risk is unreliable input data, so the design makes missing costs visible and requires human confirmation. A pilot would measure decision time, avoidable costs and stock accuracy, supporting our intended contribution to SDG eight point two.</a:t>
            </a:r>
          </a:p>
          <a:p>
            <a:endParaRPr dirty="0"/>
          </a:p>
          <a:p>
            <a:r>
              <a:rPr dirty="0"/>
              <a:t>SOURCE / CLAIM LIMITS</a:t>
            </a:r>
          </a:p>
          <a:p>
            <a:r>
              <a:rPr dirty="0"/>
              <a:t>Official Domain 2 brief §§3–6, 9, local Reference copy; </a:t>
            </a:r>
            <a:r>
              <a:rPr dirty="0" err="1"/>
              <a:t>Bababoi</a:t>
            </a:r>
            <a:r>
              <a:rPr dirty="0"/>
              <a:t>-preview/</a:t>
            </a:r>
            <a:r>
              <a:rPr dirty="0" err="1"/>
              <a:t>AdvancedWareorb.md</a:t>
            </a:r>
            <a:r>
              <a:rPr dirty="0"/>
              <a:t> §9. Excel/POS connectivity and </a:t>
            </a:r>
            <a:r>
              <a:rPr dirty="0" err="1"/>
              <a:t>Orbyte</a:t>
            </a:r>
            <a:r>
              <a:rPr dirty="0"/>
              <a:t> integration are proposed, not verified live connectors. Synthetic data only. In production, restrict records by role and share only necessary shipment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6:25–6:45</a:t>
            </a:r>
          </a:p>
          <a:p>
            <a:endParaRPr dirty="0"/>
          </a:p>
          <a:p>
            <a:r>
              <a:rPr dirty="0"/>
              <a:t>Our central promise is simple: help a merchant turn ageing stock into an approved sale, a confirmed collection and space they can actually use. Jarvis guides the work, and the 3D warehouse makes the result visible. That is </a:t>
            </a:r>
            <a:r>
              <a:rPr dirty="0" err="1"/>
              <a:t>WareOrb</a:t>
            </a:r>
            <a:r>
              <a:rPr dirty="0"/>
              <a:t>.</a:t>
            </a:r>
          </a:p>
          <a:p>
            <a:endParaRPr dirty="0"/>
          </a:p>
          <a:p>
            <a:r>
              <a:rPr dirty="0"/>
              <a:t>SOURCE / CLAIM LIMITS</a:t>
            </a:r>
          </a:p>
          <a:p>
            <a:r>
              <a:rPr dirty="0"/>
              <a:t>Team-approved pitch direction, 24 October 2026. Expected value remains a hypothesis pending pilot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705AAF-F388-419E-8605-0FDF5951FF1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B661355-7CC1-47BD-AD86-5D4945E02F1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ECDF155-3ACA-4AD0-9EEA-3B884D59BA9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34AE5D-8661-41AE-9486-5859A403BAD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599F725-4219-4593-9C44-AADEC3B52E1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031FA37-771C-4F35-B499-61FE7C69EDF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286DE1A-4DCF-4DAD-AFC2-80FDFB85B5B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ED5F60A9-FA25-4060-9E9A-F8C2396FCB5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6F32680-D133-42FF-A609-9C36C30748C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00A18F4-909A-477B-90FE-F7063C26CE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brand">
            <a:extLst>
              <a:ext uri="{FF2B5EF4-FFF2-40B4-BE49-F238E27FC236}">
                <a16:creationId xmlns:a16="http://schemas.microsoft.com/office/drawing/2014/main" id="{C9ADBA77-081F-4F6E-ACE0-90EECA501C21}"/>
              </a:ext>
            </a:extLst>
          </p:cNvPr>
          <p:cNvSpPr>
            <a:spLocks noGrp="1"/>
          </p:cNvSpPr>
          <p:nvPr/>
        </p:nvSpPr>
        <p:spPr>
          <a:xfrm>
            <a:off x="723900" y="800100"/>
            <a:ext cx="10668000" cy="628650"/>
          </a:xfrm>
          <a:prstGeom prst="rect">
            <a:avLst/>
          </a:prstGeom>
          <a:noFill/>
          <a:ln w="0">
            <a:noFill/>
          </a:ln>
        </p:spPr>
        <p:txBody>
          <a:bodyPr lIns="0" tIns="0" rIns="0" bIns="0" anchor="t"/>
          <a:lstStyle>
            <a:defPPr>
              <a:defRPr sz="3600" b="1">
                <a:solidFill>
                  <a:srgbClr val="8BD4C0"/>
                </a:solidFill>
              </a:defRPr>
            </a:defPPr>
            <a:lvl1pPr>
              <a:defRPr sz="3600" b="1">
                <a:solidFill>
                  <a:srgbClr val="8BD4C0"/>
                </a:solidFill>
              </a:defRPr>
            </a:lvl1pPr>
            <a:lvl2pPr>
              <a:defRPr sz="3600" b="1">
                <a:solidFill>
                  <a:srgbClr val="8BD4C0"/>
                </a:solidFill>
              </a:defRPr>
            </a:lvl2pPr>
            <a:lvl3pPr>
              <a:defRPr sz="3600" b="1">
                <a:solidFill>
                  <a:srgbClr val="8BD4C0"/>
                </a:solidFill>
              </a:defRPr>
            </a:lvl3pPr>
            <a:lvl4pPr>
              <a:defRPr sz="3600" b="1">
                <a:solidFill>
                  <a:srgbClr val="8BD4C0"/>
                </a:solidFill>
              </a:defRPr>
            </a:lvl4pPr>
            <a:lvl5pPr>
              <a:defRPr sz="3600" b="1">
                <a:solidFill>
                  <a:srgbClr val="8BD4C0"/>
                </a:solidFill>
              </a:defRPr>
            </a:lvl5pPr>
            <a:lvl6pPr>
              <a:defRPr sz="3600" b="1">
                <a:solidFill>
                  <a:srgbClr val="8BD4C0"/>
                </a:solidFill>
              </a:defRPr>
            </a:lvl6pPr>
            <a:lvl7pPr>
              <a:defRPr sz="3600" b="1">
                <a:solidFill>
                  <a:srgbClr val="8BD4C0"/>
                </a:solidFill>
              </a:defRPr>
            </a:lvl7pPr>
            <a:lvl8pPr>
              <a:defRPr sz="3600" b="1">
                <a:solidFill>
                  <a:srgbClr val="8BD4C0"/>
                </a:solidFill>
              </a:defRPr>
            </a:lvl8pPr>
            <a:lvl9pPr>
              <a:defRPr sz="3600" b="1">
                <a:solidFill>
                  <a:srgbClr val="8BD4C0"/>
                </a:solidFill>
              </a:defRPr>
            </a:lvl9pPr>
          </a:lstStyle>
          <a:p>
            <a:pPr>
              <a:defRPr sz="3600" b="1">
                <a:solidFill>
                  <a:srgbClr val="8BD4C0"/>
                </a:solidFill>
              </a:defRPr>
            </a:pPr>
            <a:r>
              <a:rPr sz="3600" b="1">
                <a:solidFill>
                  <a:srgbClr val="8BD4C0"/>
                </a:solidFill>
              </a:rPr>
              <a:t>WareOrb</a:t>
            </a:r>
          </a:p>
        </p:txBody>
      </p:sp>
      <p:sp>
        <p:nvSpPr>
          <p:cNvPr id="3" name="headline">
            <a:extLst>
              <a:ext uri="{FF2B5EF4-FFF2-40B4-BE49-F238E27FC236}">
                <a16:creationId xmlns:a16="http://schemas.microsoft.com/office/drawing/2014/main" id="{5E38A38C-FA41-4128-B18C-9AEF47F7C33F}"/>
              </a:ext>
            </a:extLst>
          </p:cNvPr>
          <p:cNvSpPr>
            <a:spLocks noGrp="1"/>
          </p:cNvSpPr>
          <p:nvPr/>
        </p:nvSpPr>
        <p:spPr>
          <a:xfrm>
            <a:off x="723900" y="1962150"/>
            <a:ext cx="10763250" cy="2266950"/>
          </a:xfrm>
          <a:prstGeom prst="rect">
            <a:avLst/>
          </a:prstGeom>
          <a:noFill/>
          <a:ln w="0">
            <a:noFill/>
          </a:ln>
        </p:spPr>
        <p:txBody>
          <a:bodyPr lIns="0" tIns="0" rIns="0" bIns="0" anchor="t"/>
          <a:lstStyle>
            <a:defPPr>
              <a:defRPr sz="6600" b="1">
                <a:solidFill>
                  <a:srgbClr val="F5F3EC"/>
                </a:solidFill>
              </a:defRPr>
            </a:defPPr>
            <a:lvl1pPr>
              <a:defRPr sz="6600" b="1">
                <a:solidFill>
                  <a:srgbClr val="F5F3EC"/>
                </a:solidFill>
              </a:defRPr>
            </a:lvl1pPr>
            <a:lvl2pPr>
              <a:defRPr sz="6600" b="1">
                <a:solidFill>
                  <a:srgbClr val="F5F3EC"/>
                </a:solidFill>
              </a:defRPr>
            </a:lvl2pPr>
            <a:lvl3pPr>
              <a:defRPr sz="6600" b="1">
                <a:solidFill>
                  <a:srgbClr val="F5F3EC"/>
                </a:solidFill>
              </a:defRPr>
            </a:lvl3pPr>
            <a:lvl4pPr>
              <a:defRPr sz="6600" b="1">
                <a:solidFill>
                  <a:srgbClr val="F5F3EC"/>
                </a:solidFill>
              </a:defRPr>
            </a:lvl4pPr>
            <a:lvl5pPr>
              <a:defRPr sz="6600" b="1">
                <a:solidFill>
                  <a:srgbClr val="F5F3EC"/>
                </a:solidFill>
              </a:defRPr>
            </a:lvl5pPr>
            <a:lvl6pPr>
              <a:defRPr sz="6600" b="1">
                <a:solidFill>
                  <a:srgbClr val="F5F3EC"/>
                </a:solidFill>
              </a:defRPr>
            </a:lvl6pPr>
            <a:lvl7pPr>
              <a:defRPr sz="6600" b="1">
                <a:solidFill>
                  <a:srgbClr val="F5F3EC"/>
                </a:solidFill>
              </a:defRPr>
            </a:lvl7pPr>
            <a:lvl8pPr>
              <a:defRPr sz="6600" b="1">
                <a:solidFill>
                  <a:srgbClr val="F5F3EC"/>
                </a:solidFill>
              </a:defRPr>
            </a:lvl8pPr>
            <a:lvl9pPr>
              <a:defRPr sz="6600" b="1">
                <a:solidFill>
                  <a:srgbClr val="F5F3EC"/>
                </a:solidFill>
              </a:defRPr>
            </a:lvl9pPr>
          </a:lstStyle>
          <a:p>
            <a:pPr>
              <a:defRPr sz="6600" b="1">
                <a:solidFill>
                  <a:srgbClr val="F5F3EC"/>
                </a:solidFill>
              </a:defRPr>
            </a:pPr>
            <a:r>
              <a:rPr sz="6600" b="1">
                <a:solidFill>
                  <a:srgbClr val="F5F3EC"/>
                </a:solidFill>
              </a:rPr>
              <a:t>Make room for</a:t>
            </a:r>
          </a:p>
          <a:p>
            <a:pPr>
              <a:defRPr sz="6600" b="1">
                <a:solidFill>
                  <a:srgbClr val="F5F3EC"/>
                </a:solidFill>
              </a:defRPr>
            </a:pPr>
            <a:r>
              <a:rPr sz="6600" b="1">
                <a:solidFill>
                  <a:srgbClr val="F5F3EC"/>
                </a:solidFill>
              </a:rPr>
              <a:t>stock that sells</a:t>
            </a:r>
          </a:p>
        </p:txBody>
      </p:sp>
      <p:sp>
        <p:nvSpPr>
          <p:cNvPr id="4" name="event">
            <a:extLst>
              <a:ext uri="{FF2B5EF4-FFF2-40B4-BE49-F238E27FC236}">
                <a16:creationId xmlns:a16="http://schemas.microsoft.com/office/drawing/2014/main" id="{CDD36C98-63D8-4D56-997E-23742AB5AB24}"/>
              </a:ext>
            </a:extLst>
          </p:cNvPr>
          <p:cNvSpPr>
            <a:spLocks noGrp="1"/>
          </p:cNvSpPr>
          <p:nvPr/>
        </p:nvSpPr>
        <p:spPr>
          <a:xfrm>
            <a:off x="762000" y="5448300"/>
            <a:ext cx="10668000" cy="381000"/>
          </a:xfrm>
          <a:prstGeom prst="rect">
            <a:avLst/>
          </a:prstGeom>
          <a:noFill/>
          <a:ln w="0">
            <a:noFill/>
          </a:ln>
        </p:spPr>
        <p:txBody>
          <a:bodyPr lIns="0" tIns="0" rIns="0" bIns="0" anchor="t"/>
          <a:lstStyle>
            <a:defPPr>
              <a:defRPr sz="1800" b="0">
                <a:solidFill>
                  <a:srgbClr val="B1C1C5"/>
                </a:solidFill>
              </a:defRPr>
            </a:defPPr>
            <a:lvl1pPr>
              <a:defRPr sz="1800" b="0">
                <a:solidFill>
                  <a:srgbClr val="B1C1C5"/>
                </a:solidFill>
              </a:defRPr>
            </a:lvl1pPr>
            <a:lvl2pPr>
              <a:defRPr sz="1800" b="0">
                <a:solidFill>
                  <a:srgbClr val="B1C1C5"/>
                </a:solidFill>
              </a:defRPr>
            </a:lvl2pPr>
            <a:lvl3pPr>
              <a:defRPr sz="1800" b="0">
                <a:solidFill>
                  <a:srgbClr val="B1C1C5"/>
                </a:solidFill>
              </a:defRPr>
            </a:lvl3pPr>
            <a:lvl4pPr>
              <a:defRPr sz="1800" b="0">
                <a:solidFill>
                  <a:srgbClr val="B1C1C5"/>
                </a:solidFill>
              </a:defRPr>
            </a:lvl4pPr>
            <a:lvl5pPr>
              <a:defRPr sz="1800" b="0">
                <a:solidFill>
                  <a:srgbClr val="B1C1C5"/>
                </a:solidFill>
              </a:defRPr>
            </a:lvl5pPr>
            <a:lvl6pPr>
              <a:defRPr sz="1800" b="0">
                <a:solidFill>
                  <a:srgbClr val="B1C1C5"/>
                </a:solidFill>
              </a:defRPr>
            </a:lvl6pPr>
            <a:lvl7pPr>
              <a:defRPr sz="1800" b="0">
                <a:solidFill>
                  <a:srgbClr val="B1C1C5"/>
                </a:solidFill>
              </a:defRPr>
            </a:lvl7pPr>
            <a:lvl8pPr>
              <a:defRPr sz="1800" b="0">
                <a:solidFill>
                  <a:srgbClr val="B1C1C5"/>
                </a:solidFill>
              </a:defRPr>
            </a:lvl8pPr>
            <a:lvl9pPr>
              <a:defRPr sz="1800" b="0">
                <a:solidFill>
                  <a:srgbClr val="B1C1C5"/>
                </a:solidFill>
              </a:defRPr>
            </a:lvl9pPr>
          </a:lstStyle>
          <a:p>
            <a:pPr>
              <a:defRPr sz="1800" b="0">
                <a:solidFill>
                  <a:srgbClr val="B1C1C5"/>
                </a:solidFill>
              </a:defRPr>
            </a:pPr>
            <a:r>
              <a:rPr sz="1800" b="0">
                <a:solidFill>
                  <a:srgbClr val="B1C1C5"/>
                </a:solidFill>
              </a:rPr>
              <a:t>SDC 2026  /  SMART SME CHALLENGE</a:t>
            </a:r>
          </a:p>
        </p:txBody>
      </p:sp>
    </p:spTree>
    <p:extLst>
      <p:ext uri="{BB962C8B-B14F-4D97-AF65-F5344CB8AC3E}">
        <p14:creationId xmlns:p14="http://schemas.microsoft.com/office/powerpoint/2010/main" val="20450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C6FE6C8-A8EC-4C47-9EA9-266BCAA1DD46}"/>
              </a:ext>
            </a:extLst>
          </p:cNvPr>
          <p:cNvSpPr>
            <a:spLocks noGrp="1"/>
          </p:cNvSpPr>
          <p:nvPr/>
        </p:nvSpPr>
        <p:spPr>
          <a:xfrm>
            <a:off x="723900" y="955824"/>
            <a:ext cx="10668000" cy="685800"/>
          </a:xfrm>
          <a:prstGeom prst="rect">
            <a:avLst/>
          </a:prstGeom>
          <a:noFill/>
          <a:ln w="0">
            <a:noFill/>
          </a:ln>
        </p:spPr>
        <p:txBody>
          <a:bodyPr lIns="0" tIns="0" rIns="0" bIns="0" anchor="t"/>
          <a:lstStyle>
            <a:defPPr>
              <a:defRPr sz="3600" b="1">
                <a:solidFill>
                  <a:srgbClr val="F5F3EC"/>
                </a:solidFill>
              </a:defRPr>
            </a:defPPr>
            <a:lvl1pPr>
              <a:defRPr sz="3600" b="1">
                <a:solidFill>
                  <a:srgbClr val="F5F3EC"/>
                </a:solidFill>
              </a:defRPr>
            </a:lvl1pPr>
            <a:lvl2pPr>
              <a:defRPr sz="3600" b="1">
                <a:solidFill>
                  <a:srgbClr val="F5F3EC"/>
                </a:solidFill>
              </a:defRPr>
            </a:lvl2pPr>
            <a:lvl3pPr>
              <a:defRPr sz="3600" b="1">
                <a:solidFill>
                  <a:srgbClr val="F5F3EC"/>
                </a:solidFill>
              </a:defRPr>
            </a:lvl3pPr>
            <a:lvl4pPr>
              <a:defRPr sz="3600" b="1">
                <a:solidFill>
                  <a:srgbClr val="F5F3EC"/>
                </a:solidFill>
              </a:defRPr>
            </a:lvl4pPr>
            <a:lvl5pPr>
              <a:defRPr sz="3600" b="1">
                <a:solidFill>
                  <a:srgbClr val="F5F3EC"/>
                </a:solidFill>
              </a:defRPr>
            </a:lvl5pPr>
            <a:lvl6pPr>
              <a:defRPr sz="3600" b="1">
                <a:solidFill>
                  <a:srgbClr val="F5F3EC"/>
                </a:solidFill>
              </a:defRPr>
            </a:lvl6pPr>
            <a:lvl7pPr>
              <a:defRPr sz="3600" b="1">
                <a:solidFill>
                  <a:srgbClr val="F5F3EC"/>
                </a:solidFill>
              </a:defRPr>
            </a:lvl7pPr>
            <a:lvl8pPr>
              <a:defRPr sz="3600" b="1">
                <a:solidFill>
                  <a:srgbClr val="F5F3EC"/>
                </a:solidFill>
              </a:defRPr>
            </a:lvl8pPr>
            <a:lvl9pPr>
              <a:defRPr sz="3600" b="1">
                <a:solidFill>
                  <a:srgbClr val="F5F3EC"/>
                </a:solidFill>
              </a:defRPr>
            </a:lvl9pPr>
          </a:lstStyle>
          <a:p>
            <a:pPr>
              <a:defRPr sz="3600" b="1">
                <a:solidFill>
                  <a:srgbClr val="F5F3EC"/>
                </a:solidFill>
              </a:defRPr>
            </a:pPr>
            <a:r>
              <a:rPr lang="en-GB" sz="3600" b="1" dirty="0">
                <a:solidFill>
                  <a:srgbClr val="F5F3EC"/>
                </a:solidFill>
              </a:rPr>
              <a:t>What’s the problem?</a:t>
            </a:r>
            <a:endParaRPr sz="3600" b="1" dirty="0">
              <a:solidFill>
                <a:srgbClr val="F5F3EC"/>
              </a:solidFill>
            </a:endParaRPr>
          </a:p>
        </p:txBody>
      </p:sp>
      <p:sp>
        <p:nvSpPr>
          <p:cNvPr id="3" name="fact-0">
            <a:extLst>
              <a:ext uri="{FF2B5EF4-FFF2-40B4-BE49-F238E27FC236}">
                <a16:creationId xmlns:a16="http://schemas.microsoft.com/office/drawing/2014/main" id="{78FD9018-80FB-454C-B972-74DA68538C65}"/>
              </a:ext>
            </a:extLst>
          </p:cNvPr>
          <p:cNvSpPr>
            <a:spLocks noGrp="1"/>
          </p:cNvSpPr>
          <p:nvPr/>
        </p:nvSpPr>
        <p:spPr>
          <a:xfrm>
            <a:off x="723900" y="2707316"/>
            <a:ext cx="10668000" cy="762000"/>
          </a:xfrm>
          <a:prstGeom prst="rect">
            <a:avLst/>
          </a:prstGeom>
          <a:noFill/>
          <a:ln w="0">
            <a:noFill/>
          </a:ln>
        </p:spPr>
        <p:txBody>
          <a:bodyPr lIns="0" tIns="0" rIns="0" bIns="0" anchor="t"/>
          <a:lstStyle>
            <a:defPPr>
              <a:defRPr sz="4275" b="1">
                <a:solidFill>
                  <a:srgbClr val="8BD4C0"/>
                </a:solidFill>
              </a:defRPr>
            </a:defPPr>
            <a:lvl1pPr>
              <a:defRPr sz="4275" b="1">
                <a:solidFill>
                  <a:srgbClr val="8BD4C0"/>
                </a:solidFill>
              </a:defRPr>
            </a:lvl1pPr>
            <a:lvl2pPr>
              <a:defRPr sz="4275" b="1">
                <a:solidFill>
                  <a:srgbClr val="8BD4C0"/>
                </a:solidFill>
              </a:defRPr>
            </a:lvl2pPr>
            <a:lvl3pPr>
              <a:defRPr sz="4275" b="1">
                <a:solidFill>
                  <a:srgbClr val="8BD4C0"/>
                </a:solidFill>
              </a:defRPr>
            </a:lvl3pPr>
            <a:lvl4pPr>
              <a:defRPr sz="4275" b="1">
                <a:solidFill>
                  <a:srgbClr val="8BD4C0"/>
                </a:solidFill>
              </a:defRPr>
            </a:lvl4pPr>
            <a:lvl5pPr>
              <a:defRPr sz="4275" b="1">
                <a:solidFill>
                  <a:srgbClr val="8BD4C0"/>
                </a:solidFill>
              </a:defRPr>
            </a:lvl5pPr>
            <a:lvl6pPr>
              <a:defRPr sz="4275" b="1">
                <a:solidFill>
                  <a:srgbClr val="8BD4C0"/>
                </a:solidFill>
              </a:defRPr>
            </a:lvl6pPr>
            <a:lvl7pPr>
              <a:defRPr sz="4275" b="1">
                <a:solidFill>
                  <a:srgbClr val="8BD4C0"/>
                </a:solidFill>
              </a:defRPr>
            </a:lvl7pPr>
            <a:lvl8pPr>
              <a:defRPr sz="4275" b="1">
                <a:solidFill>
                  <a:srgbClr val="8BD4C0"/>
                </a:solidFill>
              </a:defRPr>
            </a:lvl8pPr>
            <a:lvl9pPr>
              <a:defRPr sz="4275" b="1">
                <a:solidFill>
                  <a:srgbClr val="8BD4C0"/>
                </a:solidFill>
              </a:defRPr>
            </a:lvl9pPr>
          </a:lstStyle>
          <a:p>
            <a:pPr>
              <a:defRPr sz="4275" b="1">
                <a:solidFill>
                  <a:srgbClr val="8BD4C0"/>
                </a:solidFill>
              </a:defRPr>
            </a:pPr>
            <a:r>
              <a:rPr sz="4275" b="1" dirty="0">
                <a:solidFill>
                  <a:srgbClr val="8BD4C0"/>
                </a:solidFill>
              </a:rPr>
              <a:t>120 days in storage</a:t>
            </a:r>
          </a:p>
        </p:txBody>
      </p:sp>
      <p:sp>
        <p:nvSpPr>
          <p:cNvPr id="4" name="fact-1">
            <a:extLst>
              <a:ext uri="{FF2B5EF4-FFF2-40B4-BE49-F238E27FC236}">
                <a16:creationId xmlns:a16="http://schemas.microsoft.com/office/drawing/2014/main" id="{BEE850B6-5E27-43BA-B7E9-F15BDDAC5F75}"/>
              </a:ext>
            </a:extLst>
          </p:cNvPr>
          <p:cNvSpPr>
            <a:spLocks noGrp="1"/>
          </p:cNvSpPr>
          <p:nvPr/>
        </p:nvSpPr>
        <p:spPr>
          <a:xfrm>
            <a:off x="723900" y="3659262"/>
            <a:ext cx="10668000" cy="762000"/>
          </a:xfrm>
          <a:prstGeom prst="rect">
            <a:avLst/>
          </a:prstGeom>
          <a:noFill/>
          <a:ln w="0">
            <a:noFill/>
          </a:ln>
        </p:spPr>
        <p:txBody>
          <a:bodyPr lIns="0" tIns="0" rIns="0" bIns="0" anchor="t"/>
          <a:lstStyle>
            <a:defPPr>
              <a:defRPr sz="4275" b="0">
                <a:solidFill>
                  <a:srgbClr val="F5F3EC"/>
                </a:solidFill>
              </a:defRPr>
            </a:defPPr>
            <a:lvl1pPr>
              <a:defRPr sz="4275" b="0">
                <a:solidFill>
                  <a:srgbClr val="F5F3EC"/>
                </a:solidFill>
              </a:defRPr>
            </a:lvl1pPr>
            <a:lvl2pPr>
              <a:defRPr sz="4275" b="0">
                <a:solidFill>
                  <a:srgbClr val="F5F3EC"/>
                </a:solidFill>
              </a:defRPr>
            </a:lvl2pPr>
            <a:lvl3pPr>
              <a:defRPr sz="4275" b="0">
                <a:solidFill>
                  <a:srgbClr val="F5F3EC"/>
                </a:solidFill>
              </a:defRPr>
            </a:lvl3pPr>
            <a:lvl4pPr>
              <a:defRPr sz="4275" b="0">
                <a:solidFill>
                  <a:srgbClr val="F5F3EC"/>
                </a:solidFill>
              </a:defRPr>
            </a:lvl4pPr>
            <a:lvl5pPr>
              <a:defRPr sz="4275" b="0">
                <a:solidFill>
                  <a:srgbClr val="F5F3EC"/>
                </a:solidFill>
              </a:defRPr>
            </a:lvl5pPr>
            <a:lvl6pPr>
              <a:defRPr sz="4275" b="0">
                <a:solidFill>
                  <a:srgbClr val="F5F3EC"/>
                </a:solidFill>
              </a:defRPr>
            </a:lvl6pPr>
            <a:lvl7pPr>
              <a:defRPr sz="4275" b="0">
                <a:solidFill>
                  <a:srgbClr val="F5F3EC"/>
                </a:solidFill>
              </a:defRPr>
            </a:lvl7pPr>
            <a:lvl8pPr>
              <a:defRPr sz="4275" b="0">
                <a:solidFill>
                  <a:srgbClr val="F5F3EC"/>
                </a:solidFill>
              </a:defRPr>
            </a:lvl8pPr>
            <a:lvl9pPr>
              <a:defRPr sz="4275" b="0">
                <a:solidFill>
                  <a:srgbClr val="F5F3EC"/>
                </a:solidFill>
              </a:defRPr>
            </a:lvl9pPr>
          </a:lstStyle>
          <a:p>
            <a:pPr>
              <a:defRPr sz="4275" b="0">
                <a:solidFill>
                  <a:srgbClr val="F5F3EC"/>
                </a:solidFill>
              </a:defRPr>
            </a:pPr>
            <a:r>
              <a:rPr sz="4275" b="0" dirty="0">
                <a:solidFill>
                  <a:srgbClr val="F5F3EC"/>
                </a:solidFill>
              </a:rPr>
              <a:t>0 sales in the last 30 days</a:t>
            </a:r>
          </a:p>
        </p:txBody>
      </p:sp>
      <p:sp>
        <p:nvSpPr>
          <p:cNvPr id="5" name="fact-2">
            <a:extLst>
              <a:ext uri="{FF2B5EF4-FFF2-40B4-BE49-F238E27FC236}">
                <a16:creationId xmlns:a16="http://schemas.microsoft.com/office/drawing/2014/main" id="{77FF82E8-9FD5-4674-B340-D773D6880E7A}"/>
              </a:ext>
            </a:extLst>
          </p:cNvPr>
          <p:cNvSpPr>
            <a:spLocks noGrp="1"/>
          </p:cNvSpPr>
          <p:nvPr/>
        </p:nvSpPr>
        <p:spPr>
          <a:xfrm>
            <a:off x="723900" y="4611208"/>
            <a:ext cx="10668000" cy="762000"/>
          </a:xfrm>
          <a:prstGeom prst="rect">
            <a:avLst/>
          </a:prstGeom>
          <a:noFill/>
          <a:ln w="0">
            <a:noFill/>
          </a:ln>
        </p:spPr>
        <p:txBody>
          <a:bodyPr lIns="0" tIns="0" rIns="0" bIns="0" anchor="t"/>
          <a:lstStyle>
            <a:defPPr>
              <a:defRPr sz="4275" b="0">
                <a:solidFill>
                  <a:srgbClr val="F5F3EC"/>
                </a:solidFill>
              </a:defRPr>
            </a:defPPr>
            <a:lvl1pPr>
              <a:defRPr sz="4275" b="0">
                <a:solidFill>
                  <a:srgbClr val="F5F3EC"/>
                </a:solidFill>
              </a:defRPr>
            </a:lvl1pPr>
            <a:lvl2pPr>
              <a:defRPr sz="4275" b="0">
                <a:solidFill>
                  <a:srgbClr val="F5F3EC"/>
                </a:solidFill>
              </a:defRPr>
            </a:lvl2pPr>
            <a:lvl3pPr>
              <a:defRPr sz="4275" b="0">
                <a:solidFill>
                  <a:srgbClr val="F5F3EC"/>
                </a:solidFill>
              </a:defRPr>
            </a:lvl3pPr>
            <a:lvl4pPr>
              <a:defRPr sz="4275" b="0">
                <a:solidFill>
                  <a:srgbClr val="F5F3EC"/>
                </a:solidFill>
              </a:defRPr>
            </a:lvl4pPr>
            <a:lvl5pPr>
              <a:defRPr sz="4275" b="0">
                <a:solidFill>
                  <a:srgbClr val="F5F3EC"/>
                </a:solidFill>
              </a:defRPr>
            </a:lvl5pPr>
            <a:lvl6pPr>
              <a:defRPr sz="4275" b="0">
                <a:solidFill>
                  <a:srgbClr val="F5F3EC"/>
                </a:solidFill>
              </a:defRPr>
            </a:lvl6pPr>
            <a:lvl7pPr>
              <a:defRPr sz="4275" b="0">
                <a:solidFill>
                  <a:srgbClr val="F5F3EC"/>
                </a:solidFill>
              </a:defRPr>
            </a:lvl7pPr>
            <a:lvl8pPr>
              <a:defRPr sz="4275" b="0">
                <a:solidFill>
                  <a:srgbClr val="F5F3EC"/>
                </a:solidFill>
              </a:defRPr>
            </a:lvl8pPr>
            <a:lvl9pPr>
              <a:defRPr sz="4275" b="0">
                <a:solidFill>
                  <a:srgbClr val="F5F3EC"/>
                </a:solidFill>
              </a:defRPr>
            </a:lvl9pPr>
          </a:lstStyle>
          <a:p>
            <a:pPr>
              <a:defRPr sz="4275" b="0">
                <a:solidFill>
                  <a:srgbClr val="F5F3EC"/>
                </a:solidFill>
              </a:defRPr>
            </a:pPr>
            <a:r>
              <a:rPr sz="4275" b="0" dirty="0">
                <a:solidFill>
                  <a:srgbClr val="F5F3EC"/>
                </a:solidFill>
              </a:rPr>
              <a:t>2 bays still occupied</a:t>
            </a:r>
          </a:p>
        </p:txBody>
      </p:sp>
      <p:sp>
        <p:nvSpPr>
          <p:cNvPr id="6" name="caveat">
            <a:extLst>
              <a:ext uri="{FF2B5EF4-FFF2-40B4-BE49-F238E27FC236}">
                <a16:creationId xmlns:a16="http://schemas.microsoft.com/office/drawing/2014/main" id="{B6EC15F1-C8C4-47A9-9036-FDCAF0C13367}"/>
              </a:ext>
            </a:extLst>
          </p:cNvPr>
          <p:cNvSpPr>
            <a:spLocks noGrp="1"/>
          </p:cNvSpPr>
          <p:nvPr/>
        </p:nvSpPr>
        <p:spPr>
          <a:xfrm>
            <a:off x="742950" y="5753100"/>
            <a:ext cx="10668000" cy="552450"/>
          </a:xfrm>
          <a:prstGeom prst="rect">
            <a:avLst/>
          </a:prstGeom>
          <a:noFill/>
          <a:ln w="0">
            <a:noFill/>
          </a:ln>
        </p:spPr>
        <p:txBody>
          <a:bodyPr lIns="0" tIns="0" rIns="0" bIns="0" anchor="t"/>
          <a:lstStyle>
            <a:defPPr>
              <a:defRPr sz="1650" b="0">
                <a:solidFill>
                  <a:srgbClr val="B1C1C5"/>
                </a:solidFill>
              </a:defRPr>
            </a:defPPr>
            <a:lvl1pPr>
              <a:defRPr sz="1650" b="0">
                <a:solidFill>
                  <a:srgbClr val="B1C1C5"/>
                </a:solidFill>
              </a:defRPr>
            </a:lvl1pPr>
            <a:lvl2pPr>
              <a:defRPr sz="1650" b="0">
                <a:solidFill>
                  <a:srgbClr val="B1C1C5"/>
                </a:solidFill>
              </a:defRPr>
            </a:lvl2pPr>
            <a:lvl3pPr>
              <a:defRPr sz="1650" b="0">
                <a:solidFill>
                  <a:srgbClr val="B1C1C5"/>
                </a:solidFill>
              </a:defRPr>
            </a:lvl3pPr>
            <a:lvl4pPr>
              <a:defRPr sz="1650" b="0">
                <a:solidFill>
                  <a:srgbClr val="B1C1C5"/>
                </a:solidFill>
              </a:defRPr>
            </a:lvl4pPr>
            <a:lvl5pPr>
              <a:defRPr sz="1650" b="0">
                <a:solidFill>
                  <a:srgbClr val="B1C1C5"/>
                </a:solidFill>
              </a:defRPr>
            </a:lvl5pPr>
            <a:lvl6pPr>
              <a:defRPr sz="1650" b="0">
                <a:solidFill>
                  <a:srgbClr val="B1C1C5"/>
                </a:solidFill>
              </a:defRPr>
            </a:lvl6pPr>
            <a:lvl7pPr>
              <a:defRPr sz="1650" b="0">
                <a:solidFill>
                  <a:srgbClr val="B1C1C5"/>
                </a:solidFill>
              </a:defRPr>
            </a:lvl7pPr>
            <a:lvl8pPr>
              <a:defRPr sz="1650" b="0">
                <a:solidFill>
                  <a:srgbClr val="B1C1C5"/>
                </a:solidFill>
              </a:defRPr>
            </a:lvl8pPr>
            <a:lvl9pPr>
              <a:defRPr sz="1650" b="0">
                <a:solidFill>
                  <a:srgbClr val="B1C1C5"/>
                </a:solidFill>
              </a:defRPr>
            </a:lvl9pPr>
          </a:lstStyle>
          <a:p>
            <a:pPr>
              <a:defRPr sz="1650" b="0">
                <a:solidFill>
                  <a:srgbClr val="B1C1C5"/>
                </a:solidFill>
              </a:defRPr>
            </a:pPr>
            <a:r>
              <a:rPr sz="1650" b="0">
                <a:solidFill>
                  <a:srgbClr val="B1C1C5"/>
                </a:solidFill>
              </a:rPr>
              <a:t>Synthetic example. Age alone does not prove an item should be cleared.</a:t>
            </a:r>
          </a:p>
        </p:txBody>
      </p:sp>
      <p:sp>
        <p:nvSpPr>
          <p:cNvPr id="10" name="title">
            <a:extLst>
              <a:ext uri="{FF2B5EF4-FFF2-40B4-BE49-F238E27FC236}">
                <a16:creationId xmlns:a16="http://schemas.microsoft.com/office/drawing/2014/main" id="{4F69DEB9-BE27-08E7-4DC4-7F8EC87EA149}"/>
              </a:ext>
            </a:extLst>
          </p:cNvPr>
          <p:cNvSpPr>
            <a:spLocks noGrp="1"/>
          </p:cNvSpPr>
          <p:nvPr/>
        </p:nvSpPr>
        <p:spPr>
          <a:xfrm>
            <a:off x="723900" y="1831570"/>
            <a:ext cx="10668000" cy="685800"/>
          </a:xfrm>
          <a:prstGeom prst="rect">
            <a:avLst/>
          </a:prstGeom>
          <a:noFill/>
          <a:ln w="0">
            <a:noFill/>
          </a:ln>
        </p:spPr>
        <p:txBody>
          <a:bodyPr lIns="0" tIns="0" rIns="0" bIns="0" anchor="t"/>
          <a:lstStyle>
            <a:defPPr>
              <a:defRPr sz="3600" b="1">
                <a:solidFill>
                  <a:srgbClr val="F5F3EC"/>
                </a:solidFill>
              </a:defRPr>
            </a:defPPr>
            <a:lvl1pPr>
              <a:defRPr sz="3600" b="1">
                <a:solidFill>
                  <a:srgbClr val="F5F3EC"/>
                </a:solidFill>
              </a:defRPr>
            </a:lvl1pPr>
            <a:lvl2pPr>
              <a:defRPr sz="3600" b="1">
                <a:solidFill>
                  <a:srgbClr val="F5F3EC"/>
                </a:solidFill>
              </a:defRPr>
            </a:lvl2pPr>
            <a:lvl3pPr>
              <a:defRPr sz="3600" b="1">
                <a:solidFill>
                  <a:srgbClr val="F5F3EC"/>
                </a:solidFill>
              </a:defRPr>
            </a:lvl3pPr>
            <a:lvl4pPr>
              <a:defRPr sz="3600" b="1">
                <a:solidFill>
                  <a:srgbClr val="F5F3EC"/>
                </a:solidFill>
              </a:defRPr>
            </a:lvl4pPr>
            <a:lvl5pPr>
              <a:defRPr sz="3600" b="1">
                <a:solidFill>
                  <a:srgbClr val="F5F3EC"/>
                </a:solidFill>
              </a:defRPr>
            </a:lvl5pPr>
            <a:lvl6pPr>
              <a:defRPr sz="3600" b="1">
                <a:solidFill>
                  <a:srgbClr val="F5F3EC"/>
                </a:solidFill>
              </a:defRPr>
            </a:lvl6pPr>
            <a:lvl7pPr>
              <a:defRPr sz="3600" b="1">
                <a:solidFill>
                  <a:srgbClr val="F5F3EC"/>
                </a:solidFill>
              </a:defRPr>
            </a:lvl7pPr>
            <a:lvl8pPr>
              <a:defRPr sz="3600" b="1">
                <a:solidFill>
                  <a:srgbClr val="F5F3EC"/>
                </a:solidFill>
              </a:defRPr>
            </a:lvl8pPr>
            <a:lvl9pPr>
              <a:defRPr sz="3600" b="1">
                <a:solidFill>
                  <a:srgbClr val="F5F3EC"/>
                </a:solidFill>
              </a:defRPr>
            </a:lvl9pPr>
          </a:lstStyle>
          <a:p>
            <a:pPr>
              <a:defRPr sz="3600" b="1">
                <a:solidFill>
                  <a:srgbClr val="F5F3EC"/>
                </a:solidFill>
              </a:defRPr>
            </a:pPr>
            <a:r>
              <a:rPr lang="en-GB" sz="3600" b="1" dirty="0">
                <a:solidFill>
                  <a:srgbClr val="F5F3EC"/>
                </a:solidFill>
              </a:rPr>
              <a:t>One model</a:t>
            </a:r>
            <a:endParaRPr sz="3600" b="1" dirty="0">
              <a:solidFill>
                <a:srgbClr val="F5F3EC"/>
              </a:solidFill>
            </a:endParaRPr>
          </a:p>
        </p:txBody>
      </p:sp>
    </p:spTree>
    <p:extLst>
      <p:ext uri="{BB962C8B-B14F-4D97-AF65-F5344CB8AC3E}">
        <p14:creationId xmlns:p14="http://schemas.microsoft.com/office/powerpoint/2010/main" val="77927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941AA3D-6CA2-42FF-A86C-119081209301}"/>
              </a:ext>
            </a:extLst>
          </p:cNvPr>
          <p:cNvSpPr>
            <a:spLocks noGrp="1"/>
          </p:cNvSpPr>
          <p:nvPr/>
        </p:nvSpPr>
        <p:spPr>
          <a:xfrm>
            <a:off x="723900" y="609600"/>
            <a:ext cx="10668000" cy="723900"/>
          </a:xfrm>
          <a:prstGeom prst="rect">
            <a:avLst/>
          </a:prstGeom>
          <a:noFill/>
          <a:ln w="0">
            <a:noFill/>
          </a:ln>
        </p:spPr>
        <p:txBody>
          <a:bodyPr lIns="0" tIns="0" rIns="0" bIns="0" anchor="t"/>
          <a:lstStyle>
            <a:defPPr>
              <a:defRPr sz="3900" b="1">
                <a:solidFill>
                  <a:srgbClr val="F5F3EC"/>
                </a:solidFill>
              </a:defRPr>
            </a:defPPr>
            <a:lvl1pPr>
              <a:defRPr sz="3900" b="1">
                <a:solidFill>
                  <a:srgbClr val="F5F3EC"/>
                </a:solidFill>
              </a:defRPr>
            </a:lvl1pPr>
            <a:lvl2pPr>
              <a:defRPr sz="3900" b="1">
                <a:solidFill>
                  <a:srgbClr val="F5F3EC"/>
                </a:solidFill>
              </a:defRPr>
            </a:lvl2pPr>
            <a:lvl3pPr>
              <a:defRPr sz="3900" b="1">
                <a:solidFill>
                  <a:srgbClr val="F5F3EC"/>
                </a:solidFill>
              </a:defRPr>
            </a:lvl3pPr>
            <a:lvl4pPr>
              <a:defRPr sz="3900" b="1">
                <a:solidFill>
                  <a:srgbClr val="F5F3EC"/>
                </a:solidFill>
              </a:defRPr>
            </a:lvl4pPr>
            <a:lvl5pPr>
              <a:defRPr sz="3900" b="1">
                <a:solidFill>
                  <a:srgbClr val="F5F3EC"/>
                </a:solidFill>
              </a:defRPr>
            </a:lvl5pPr>
            <a:lvl6pPr>
              <a:defRPr sz="3900" b="1">
                <a:solidFill>
                  <a:srgbClr val="F5F3EC"/>
                </a:solidFill>
              </a:defRPr>
            </a:lvl6pPr>
            <a:lvl7pPr>
              <a:defRPr sz="3900" b="1">
                <a:solidFill>
                  <a:srgbClr val="F5F3EC"/>
                </a:solidFill>
              </a:defRPr>
            </a:lvl7pPr>
            <a:lvl8pPr>
              <a:defRPr sz="3900" b="1">
                <a:solidFill>
                  <a:srgbClr val="F5F3EC"/>
                </a:solidFill>
              </a:defRPr>
            </a:lvl8pPr>
            <a:lvl9pPr>
              <a:defRPr sz="3900" b="1">
                <a:solidFill>
                  <a:srgbClr val="F5F3EC"/>
                </a:solidFill>
              </a:defRPr>
            </a:lvl9pPr>
          </a:lstStyle>
          <a:p>
            <a:pPr>
              <a:defRPr sz="3900" b="1">
                <a:solidFill>
                  <a:srgbClr val="F5F3EC"/>
                </a:solidFill>
              </a:defRPr>
            </a:pPr>
            <a:r>
              <a:rPr sz="3900" b="1" dirty="0">
                <a:solidFill>
                  <a:srgbClr val="F5F3EC"/>
                </a:solidFill>
              </a:rPr>
              <a:t>Capacity reallocation</a:t>
            </a:r>
          </a:p>
        </p:txBody>
      </p:sp>
      <p:sp>
        <p:nvSpPr>
          <p:cNvPr id="3" name="step-number-0">
            <a:extLst>
              <a:ext uri="{FF2B5EF4-FFF2-40B4-BE49-F238E27FC236}">
                <a16:creationId xmlns:a16="http://schemas.microsoft.com/office/drawing/2014/main" id="{50A626B5-2DC7-40BD-A661-3393E9D8EB66}"/>
              </a:ext>
            </a:extLst>
          </p:cNvPr>
          <p:cNvSpPr>
            <a:spLocks noGrp="1"/>
          </p:cNvSpPr>
          <p:nvPr/>
        </p:nvSpPr>
        <p:spPr>
          <a:xfrm>
            <a:off x="781050" y="1724025"/>
            <a:ext cx="857250" cy="514350"/>
          </a:xfrm>
          <a:prstGeom prst="rect">
            <a:avLst/>
          </a:prstGeom>
          <a:noFill/>
          <a:ln w="0">
            <a:noFill/>
          </a:ln>
        </p:spPr>
        <p:txBody>
          <a:bodyPr lIns="0" tIns="0" rIns="0" bIns="0" anchor="t"/>
          <a:lstStyle>
            <a:defPPr>
              <a:defRPr sz="2175" b="0">
                <a:solidFill>
                  <a:srgbClr val="8BD4C0"/>
                </a:solidFill>
              </a:defRPr>
            </a:defPPr>
            <a:lvl1pPr>
              <a:defRPr sz="2175" b="0">
                <a:solidFill>
                  <a:srgbClr val="8BD4C0"/>
                </a:solidFill>
              </a:defRPr>
            </a:lvl1pPr>
            <a:lvl2pPr>
              <a:defRPr sz="2175" b="0">
                <a:solidFill>
                  <a:srgbClr val="8BD4C0"/>
                </a:solidFill>
              </a:defRPr>
            </a:lvl2pPr>
            <a:lvl3pPr>
              <a:defRPr sz="2175" b="0">
                <a:solidFill>
                  <a:srgbClr val="8BD4C0"/>
                </a:solidFill>
              </a:defRPr>
            </a:lvl3pPr>
            <a:lvl4pPr>
              <a:defRPr sz="2175" b="0">
                <a:solidFill>
                  <a:srgbClr val="8BD4C0"/>
                </a:solidFill>
              </a:defRPr>
            </a:lvl4pPr>
            <a:lvl5pPr>
              <a:defRPr sz="2175" b="0">
                <a:solidFill>
                  <a:srgbClr val="8BD4C0"/>
                </a:solidFill>
              </a:defRPr>
            </a:lvl5pPr>
            <a:lvl6pPr>
              <a:defRPr sz="2175" b="0">
                <a:solidFill>
                  <a:srgbClr val="8BD4C0"/>
                </a:solidFill>
              </a:defRPr>
            </a:lvl6pPr>
            <a:lvl7pPr>
              <a:defRPr sz="2175" b="0">
                <a:solidFill>
                  <a:srgbClr val="8BD4C0"/>
                </a:solidFill>
              </a:defRPr>
            </a:lvl7pPr>
            <a:lvl8pPr>
              <a:defRPr sz="2175" b="0">
                <a:solidFill>
                  <a:srgbClr val="8BD4C0"/>
                </a:solidFill>
              </a:defRPr>
            </a:lvl8pPr>
            <a:lvl9pPr>
              <a:defRPr sz="2175" b="0">
                <a:solidFill>
                  <a:srgbClr val="8BD4C0"/>
                </a:solidFill>
              </a:defRPr>
            </a:lvl9pPr>
          </a:lstStyle>
          <a:p>
            <a:pPr>
              <a:defRPr sz="2175" b="0">
                <a:solidFill>
                  <a:srgbClr val="8BD4C0"/>
                </a:solidFill>
              </a:defRPr>
            </a:pPr>
            <a:r>
              <a:rPr sz="2175" b="0">
                <a:solidFill>
                  <a:srgbClr val="8BD4C0"/>
                </a:solidFill>
              </a:rPr>
              <a:t>01</a:t>
            </a:r>
          </a:p>
        </p:txBody>
      </p:sp>
      <p:sp>
        <p:nvSpPr>
          <p:cNvPr id="4" name="step-0">
            <a:extLst>
              <a:ext uri="{FF2B5EF4-FFF2-40B4-BE49-F238E27FC236}">
                <a16:creationId xmlns:a16="http://schemas.microsoft.com/office/drawing/2014/main" id="{4F5506EC-858E-4965-81EF-9F0C3E7A5DBB}"/>
              </a:ext>
            </a:extLst>
          </p:cNvPr>
          <p:cNvSpPr>
            <a:spLocks noGrp="1"/>
          </p:cNvSpPr>
          <p:nvPr/>
        </p:nvSpPr>
        <p:spPr>
          <a:xfrm>
            <a:off x="1828800" y="1657350"/>
            <a:ext cx="9620250" cy="552450"/>
          </a:xfrm>
          <a:prstGeom prst="rect">
            <a:avLst/>
          </a:prstGeom>
          <a:noFill/>
          <a:ln w="0">
            <a:noFill/>
          </a:ln>
        </p:spPr>
        <p:txBody>
          <a:bodyPr lIns="0" tIns="0" rIns="0" bIns="0" anchor="t"/>
          <a:lstStyle>
            <a:defPPr>
              <a:defRPr sz="2775" b="0">
                <a:solidFill>
                  <a:srgbClr val="F5F3EC"/>
                </a:solidFill>
              </a:defRPr>
            </a:defPPr>
            <a:lvl1pPr>
              <a:defRPr sz="2775" b="0">
                <a:solidFill>
                  <a:srgbClr val="F5F3EC"/>
                </a:solidFill>
              </a:defRPr>
            </a:lvl1pPr>
            <a:lvl2pPr>
              <a:defRPr sz="2775" b="0">
                <a:solidFill>
                  <a:srgbClr val="F5F3EC"/>
                </a:solidFill>
              </a:defRPr>
            </a:lvl2pPr>
            <a:lvl3pPr>
              <a:defRPr sz="2775" b="0">
                <a:solidFill>
                  <a:srgbClr val="F5F3EC"/>
                </a:solidFill>
              </a:defRPr>
            </a:lvl3pPr>
            <a:lvl4pPr>
              <a:defRPr sz="2775" b="0">
                <a:solidFill>
                  <a:srgbClr val="F5F3EC"/>
                </a:solidFill>
              </a:defRPr>
            </a:lvl4pPr>
            <a:lvl5pPr>
              <a:defRPr sz="2775" b="0">
                <a:solidFill>
                  <a:srgbClr val="F5F3EC"/>
                </a:solidFill>
              </a:defRPr>
            </a:lvl5pPr>
            <a:lvl6pPr>
              <a:defRPr sz="2775" b="0">
                <a:solidFill>
                  <a:srgbClr val="F5F3EC"/>
                </a:solidFill>
              </a:defRPr>
            </a:lvl6pPr>
            <a:lvl7pPr>
              <a:defRPr sz="2775" b="0">
                <a:solidFill>
                  <a:srgbClr val="F5F3EC"/>
                </a:solidFill>
              </a:defRPr>
            </a:lvl7pPr>
            <a:lvl8pPr>
              <a:defRPr sz="2775" b="0">
                <a:solidFill>
                  <a:srgbClr val="F5F3EC"/>
                </a:solidFill>
              </a:defRPr>
            </a:lvl8pPr>
            <a:lvl9pPr>
              <a:defRPr sz="2775" b="0">
                <a:solidFill>
                  <a:srgbClr val="F5F3EC"/>
                </a:solidFill>
              </a:defRPr>
            </a:lvl9pPr>
          </a:lstStyle>
          <a:p>
            <a:pPr>
              <a:defRPr sz="2775" b="0">
                <a:solidFill>
                  <a:srgbClr val="F5F3EC"/>
                </a:solidFill>
              </a:defRPr>
            </a:pPr>
            <a:r>
              <a:rPr sz="2775" b="0">
                <a:solidFill>
                  <a:srgbClr val="F5F3EC"/>
                </a:solidFill>
              </a:rPr>
              <a:t>Spot ageing stock</a:t>
            </a:r>
          </a:p>
        </p:txBody>
      </p:sp>
      <p:sp>
        <p:nvSpPr>
          <p:cNvPr id="5" name="step-number-1">
            <a:extLst>
              <a:ext uri="{FF2B5EF4-FFF2-40B4-BE49-F238E27FC236}">
                <a16:creationId xmlns:a16="http://schemas.microsoft.com/office/drawing/2014/main" id="{5E0A5DEA-292C-4DC6-A7B2-5C3A5E398FF2}"/>
              </a:ext>
            </a:extLst>
          </p:cNvPr>
          <p:cNvSpPr>
            <a:spLocks noGrp="1"/>
          </p:cNvSpPr>
          <p:nvPr/>
        </p:nvSpPr>
        <p:spPr>
          <a:xfrm>
            <a:off x="781050" y="2438400"/>
            <a:ext cx="857250" cy="514350"/>
          </a:xfrm>
          <a:prstGeom prst="rect">
            <a:avLst/>
          </a:prstGeom>
          <a:noFill/>
          <a:ln w="0">
            <a:noFill/>
          </a:ln>
        </p:spPr>
        <p:txBody>
          <a:bodyPr lIns="0" tIns="0" rIns="0" bIns="0" anchor="t"/>
          <a:lstStyle>
            <a:defPPr>
              <a:defRPr sz="2175" b="0">
                <a:solidFill>
                  <a:srgbClr val="8BD4C0"/>
                </a:solidFill>
              </a:defRPr>
            </a:defPPr>
            <a:lvl1pPr>
              <a:defRPr sz="2175" b="0">
                <a:solidFill>
                  <a:srgbClr val="8BD4C0"/>
                </a:solidFill>
              </a:defRPr>
            </a:lvl1pPr>
            <a:lvl2pPr>
              <a:defRPr sz="2175" b="0">
                <a:solidFill>
                  <a:srgbClr val="8BD4C0"/>
                </a:solidFill>
              </a:defRPr>
            </a:lvl2pPr>
            <a:lvl3pPr>
              <a:defRPr sz="2175" b="0">
                <a:solidFill>
                  <a:srgbClr val="8BD4C0"/>
                </a:solidFill>
              </a:defRPr>
            </a:lvl3pPr>
            <a:lvl4pPr>
              <a:defRPr sz="2175" b="0">
                <a:solidFill>
                  <a:srgbClr val="8BD4C0"/>
                </a:solidFill>
              </a:defRPr>
            </a:lvl4pPr>
            <a:lvl5pPr>
              <a:defRPr sz="2175" b="0">
                <a:solidFill>
                  <a:srgbClr val="8BD4C0"/>
                </a:solidFill>
              </a:defRPr>
            </a:lvl5pPr>
            <a:lvl6pPr>
              <a:defRPr sz="2175" b="0">
                <a:solidFill>
                  <a:srgbClr val="8BD4C0"/>
                </a:solidFill>
              </a:defRPr>
            </a:lvl6pPr>
            <a:lvl7pPr>
              <a:defRPr sz="2175" b="0">
                <a:solidFill>
                  <a:srgbClr val="8BD4C0"/>
                </a:solidFill>
              </a:defRPr>
            </a:lvl7pPr>
            <a:lvl8pPr>
              <a:defRPr sz="2175" b="0">
                <a:solidFill>
                  <a:srgbClr val="8BD4C0"/>
                </a:solidFill>
              </a:defRPr>
            </a:lvl8pPr>
            <a:lvl9pPr>
              <a:defRPr sz="2175" b="0">
                <a:solidFill>
                  <a:srgbClr val="8BD4C0"/>
                </a:solidFill>
              </a:defRPr>
            </a:lvl9pPr>
          </a:lstStyle>
          <a:p>
            <a:pPr>
              <a:defRPr sz="2175" b="0">
                <a:solidFill>
                  <a:srgbClr val="8BD4C0"/>
                </a:solidFill>
              </a:defRPr>
            </a:pPr>
            <a:r>
              <a:rPr sz="2175" b="0">
                <a:solidFill>
                  <a:srgbClr val="8BD4C0"/>
                </a:solidFill>
              </a:rPr>
              <a:t>02</a:t>
            </a:r>
          </a:p>
        </p:txBody>
      </p:sp>
      <p:sp>
        <p:nvSpPr>
          <p:cNvPr id="6" name="step-1">
            <a:extLst>
              <a:ext uri="{FF2B5EF4-FFF2-40B4-BE49-F238E27FC236}">
                <a16:creationId xmlns:a16="http://schemas.microsoft.com/office/drawing/2014/main" id="{F62D31B2-FD5F-4C98-AE23-ACA9B9C7E8CB}"/>
              </a:ext>
            </a:extLst>
          </p:cNvPr>
          <p:cNvSpPr>
            <a:spLocks noGrp="1"/>
          </p:cNvSpPr>
          <p:nvPr/>
        </p:nvSpPr>
        <p:spPr>
          <a:xfrm>
            <a:off x="1828800" y="2371725"/>
            <a:ext cx="9620250" cy="552450"/>
          </a:xfrm>
          <a:prstGeom prst="rect">
            <a:avLst/>
          </a:prstGeom>
          <a:noFill/>
          <a:ln w="0">
            <a:noFill/>
          </a:ln>
        </p:spPr>
        <p:txBody>
          <a:bodyPr lIns="0" tIns="0" rIns="0" bIns="0" anchor="t"/>
          <a:lstStyle>
            <a:defPPr>
              <a:defRPr sz="2775" b="0">
                <a:solidFill>
                  <a:srgbClr val="F5F3EC"/>
                </a:solidFill>
              </a:defRPr>
            </a:defPPr>
            <a:lvl1pPr>
              <a:defRPr sz="2775" b="0">
                <a:solidFill>
                  <a:srgbClr val="F5F3EC"/>
                </a:solidFill>
              </a:defRPr>
            </a:lvl1pPr>
            <a:lvl2pPr>
              <a:defRPr sz="2775" b="0">
                <a:solidFill>
                  <a:srgbClr val="F5F3EC"/>
                </a:solidFill>
              </a:defRPr>
            </a:lvl2pPr>
            <a:lvl3pPr>
              <a:defRPr sz="2775" b="0">
                <a:solidFill>
                  <a:srgbClr val="F5F3EC"/>
                </a:solidFill>
              </a:defRPr>
            </a:lvl3pPr>
            <a:lvl4pPr>
              <a:defRPr sz="2775" b="0">
                <a:solidFill>
                  <a:srgbClr val="F5F3EC"/>
                </a:solidFill>
              </a:defRPr>
            </a:lvl4pPr>
            <a:lvl5pPr>
              <a:defRPr sz="2775" b="0">
                <a:solidFill>
                  <a:srgbClr val="F5F3EC"/>
                </a:solidFill>
              </a:defRPr>
            </a:lvl5pPr>
            <a:lvl6pPr>
              <a:defRPr sz="2775" b="0">
                <a:solidFill>
                  <a:srgbClr val="F5F3EC"/>
                </a:solidFill>
              </a:defRPr>
            </a:lvl6pPr>
            <a:lvl7pPr>
              <a:defRPr sz="2775" b="0">
                <a:solidFill>
                  <a:srgbClr val="F5F3EC"/>
                </a:solidFill>
              </a:defRPr>
            </a:lvl7pPr>
            <a:lvl8pPr>
              <a:defRPr sz="2775" b="0">
                <a:solidFill>
                  <a:srgbClr val="F5F3EC"/>
                </a:solidFill>
              </a:defRPr>
            </a:lvl8pPr>
            <a:lvl9pPr>
              <a:defRPr sz="2775" b="0">
                <a:solidFill>
                  <a:srgbClr val="F5F3EC"/>
                </a:solidFill>
              </a:defRPr>
            </a:lvl9pPr>
          </a:lstStyle>
          <a:p>
            <a:pPr>
              <a:defRPr sz="2775" b="0">
                <a:solidFill>
                  <a:srgbClr val="F5F3EC"/>
                </a:solidFill>
              </a:defRPr>
            </a:pPr>
            <a:r>
              <a:rPr sz="2775" b="0">
                <a:solidFill>
                  <a:srgbClr val="F5F3EC"/>
                </a:solidFill>
              </a:rPr>
              <a:t>Hand the batch to sales</a:t>
            </a:r>
          </a:p>
        </p:txBody>
      </p:sp>
      <p:sp>
        <p:nvSpPr>
          <p:cNvPr id="7" name="step-number-2">
            <a:extLst>
              <a:ext uri="{FF2B5EF4-FFF2-40B4-BE49-F238E27FC236}">
                <a16:creationId xmlns:a16="http://schemas.microsoft.com/office/drawing/2014/main" id="{9C0CBD20-7E03-4A2A-8B3E-FC0FC6C63DA0}"/>
              </a:ext>
            </a:extLst>
          </p:cNvPr>
          <p:cNvSpPr>
            <a:spLocks noGrp="1"/>
          </p:cNvSpPr>
          <p:nvPr/>
        </p:nvSpPr>
        <p:spPr>
          <a:xfrm>
            <a:off x="781050" y="3152775"/>
            <a:ext cx="857250" cy="514350"/>
          </a:xfrm>
          <a:prstGeom prst="rect">
            <a:avLst/>
          </a:prstGeom>
          <a:noFill/>
          <a:ln w="0">
            <a:noFill/>
          </a:ln>
        </p:spPr>
        <p:txBody>
          <a:bodyPr lIns="0" tIns="0" rIns="0" bIns="0" anchor="t"/>
          <a:lstStyle>
            <a:defPPr>
              <a:defRPr sz="2175" b="0">
                <a:solidFill>
                  <a:srgbClr val="8BD4C0"/>
                </a:solidFill>
              </a:defRPr>
            </a:defPPr>
            <a:lvl1pPr>
              <a:defRPr sz="2175" b="0">
                <a:solidFill>
                  <a:srgbClr val="8BD4C0"/>
                </a:solidFill>
              </a:defRPr>
            </a:lvl1pPr>
            <a:lvl2pPr>
              <a:defRPr sz="2175" b="0">
                <a:solidFill>
                  <a:srgbClr val="8BD4C0"/>
                </a:solidFill>
              </a:defRPr>
            </a:lvl2pPr>
            <a:lvl3pPr>
              <a:defRPr sz="2175" b="0">
                <a:solidFill>
                  <a:srgbClr val="8BD4C0"/>
                </a:solidFill>
              </a:defRPr>
            </a:lvl3pPr>
            <a:lvl4pPr>
              <a:defRPr sz="2175" b="0">
                <a:solidFill>
                  <a:srgbClr val="8BD4C0"/>
                </a:solidFill>
              </a:defRPr>
            </a:lvl4pPr>
            <a:lvl5pPr>
              <a:defRPr sz="2175" b="0">
                <a:solidFill>
                  <a:srgbClr val="8BD4C0"/>
                </a:solidFill>
              </a:defRPr>
            </a:lvl5pPr>
            <a:lvl6pPr>
              <a:defRPr sz="2175" b="0">
                <a:solidFill>
                  <a:srgbClr val="8BD4C0"/>
                </a:solidFill>
              </a:defRPr>
            </a:lvl6pPr>
            <a:lvl7pPr>
              <a:defRPr sz="2175" b="0">
                <a:solidFill>
                  <a:srgbClr val="8BD4C0"/>
                </a:solidFill>
              </a:defRPr>
            </a:lvl7pPr>
            <a:lvl8pPr>
              <a:defRPr sz="2175" b="0">
                <a:solidFill>
                  <a:srgbClr val="8BD4C0"/>
                </a:solidFill>
              </a:defRPr>
            </a:lvl8pPr>
            <a:lvl9pPr>
              <a:defRPr sz="2175" b="0">
                <a:solidFill>
                  <a:srgbClr val="8BD4C0"/>
                </a:solidFill>
              </a:defRPr>
            </a:lvl9pPr>
          </a:lstStyle>
          <a:p>
            <a:pPr>
              <a:defRPr sz="2175" b="0">
                <a:solidFill>
                  <a:srgbClr val="8BD4C0"/>
                </a:solidFill>
              </a:defRPr>
            </a:pPr>
            <a:r>
              <a:rPr sz="2175" b="0">
                <a:solidFill>
                  <a:srgbClr val="8BD4C0"/>
                </a:solidFill>
              </a:rPr>
              <a:t>03</a:t>
            </a:r>
          </a:p>
        </p:txBody>
      </p:sp>
      <p:sp>
        <p:nvSpPr>
          <p:cNvPr id="8" name="step-2">
            <a:extLst>
              <a:ext uri="{FF2B5EF4-FFF2-40B4-BE49-F238E27FC236}">
                <a16:creationId xmlns:a16="http://schemas.microsoft.com/office/drawing/2014/main" id="{45291706-705B-470C-8B31-22B5F644A362}"/>
              </a:ext>
            </a:extLst>
          </p:cNvPr>
          <p:cNvSpPr>
            <a:spLocks noGrp="1"/>
          </p:cNvSpPr>
          <p:nvPr/>
        </p:nvSpPr>
        <p:spPr>
          <a:xfrm>
            <a:off x="1828800" y="3086100"/>
            <a:ext cx="9620250" cy="552450"/>
          </a:xfrm>
          <a:prstGeom prst="rect">
            <a:avLst/>
          </a:prstGeom>
          <a:noFill/>
          <a:ln w="0">
            <a:noFill/>
          </a:ln>
        </p:spPr>
        <p:txBody>
          <a:bodyPr lIns="0" tIns="0" rIns="0" bIns="0" anchor="t"/>
          <a:lstStyle>
            <a:defPPr>
              <a:defRPr sz="2775" b="0">
                <a:solidFill>
                  <a:srgbClr val="F5F3EC"/>
                </a:solidFill>
              </a:defRPr>
            </a:defPPr>
            <a:lvl1pPr>
              <a:defRPr sz="2775" b="0">
                <a:solidFill>
                  <a:srgbClr val="F5F3EC"/>
                </a:solidFill>
              </a:defRPr>
            </a:lvl1pPr>
            <a:lvl2pPr>
              <a:defRPr sz="2775" b="0">
                <a:solidFill>
                  <a:srgbClr val="F5F3EC"/>
                </a:solidFill>
              </a:defRPr>
            </a:lvl2pPr>
            <a:lvl3pPr>
              <a:defRPr sz="2775" b="0">
                <a:solidFill>
                  <a:srgbClr val="F5F3EC"/>
                </a:solidFill>
              </a:defRPr>
            </a:lvl3pPr>
            <a:lvl4pPr>
              <a:defRPr sz="2775" b="0">
                <a:solidFill>
                  <a:srgbClr val="F5F3EC"/>
                </a:solidFill>
              </a:defRPr>
            </a:lvl4pPr>
            <a:lvl5pPr>
              <a:defRPr sz="2775" b="0">
                <a:solidFill>
                  <a:srgbClr val="F5F3EC"/>
                </a:solidFill>
              </a:defRPr>
            </a:lvl5pPr>
            <a:lvl6pPr>
              <a:defRPr sz="2775" b="0">
                <a:solidFill>
                  <a:srgbClr val="F5F3EC"/>
                </a:solidFill>
              </a:defRPr>
            </a:lvl6pPr>
            <a:lvl7pPr>
              <a:defRPr sz="2775" b="0">
                <a:solidFill>
                  <a:srgbClr val="F5F3EC"/>
                </a:solidFill>
              </a:defRPr>
            </a:lvl7pPr>
            <a:lvl8pPr>
              <a:defRPr sz="2775" b="0">
                <a:solidFill>
                  <a:srgbClr val="F5F3EC"/>
                </a:solidFill>
              </a:defRPr>
            </a:lvl8pPr>
            <a:lvl9pPr>
              <a:defRPr sz="2775" b="0">
                <a:solidFill>
                  <a:srgbClr val="F5F3EC"/>
                </a:solidFill>
              </a:defRPr>
            </a:lvl9pPr>
          </a:lstStyle>
          <a:p>
            <a:pPr>
              <a:defRPr sz="2775" b="0">
                <a:solidFill>
                  <a:srgbClr val="F5F3EC"/>
                </a:solidFill>
              </a:defRPr>
            </a:pPr>
            <a:r>
              <a:rPr sz="2775" b="0">
                <a:solidFill>
                  <a:srgbClr val="F5F3EC"/>
                </a:solidFill>
              </a:rPr>
              <a:t>Compare the delivery options</a:t>
            </a:r>
          </a:p>
        </p:txBody>
      </p:sp>
      <p:sp>
        <p:nvSpPr>
          <p:cNvPr id="9" name="step-number-3">
            <a:extLst>
              <a:ext uri="{FF2B5EF4-FFF2-40B4-BE49-F238E27FC236}">
                <a16:creationId xmlns:a16="http://schemas.microsoft.com/office/drawing/2014/main" id="{21778A23-DBC9-4652-9A67-6DA59E514C5E}"/>
              </a:ext>
            </a:extLst>
          </p:cNvPr>
          <p:cNvSpPr>
            <a:spLocks noGrp="1"/>
          </p:cNvSpPr>
          <p:nvPr/>
        </p:nvSpPr>
        <p:spPr>
          <a:xfrm>
            <a:off x="781050" y="3867150"/>
            <a:ext cx="857250" cy="514350"/>
          </a:xfrm>
          <a:prstGeom prst="rect">
            <a:avLst/>
          </a:prstGeom>
          <a:noFill/>
          <a:ln w="0">
            <a:noFill/>
          </a:ln>
        </p:spPr>
        <p:txBody>
          <a:bodyPr lIns="0" tIns="0" rIns="0" bIns="0" anchor="t"/>
          <a:lstStyle>
            <a:defPPr>
              <a:defRPr sz="2175" b="0">
                <a:solidFill>
                  <a:srgbClr val="8BD4C0"/>
                </a:solidFill>
              </a:defRPr>
            </a:defPPr>
            <a:lvl1pPr>
              <a:defRPr sz="2175" b="0">
                <a:solidFill>
                  <a:srgbClr val="8BD4C0"/>
                </a:solidFill>
              </a:defRPr>
            </a:lvl1pPr>
            <a:lvl2pPr>
              <a:defRPr sz="2175" b="0">
                <a:solidFill>
                  <a:srgbClr val="8BD4C0"/>
                </a:solidFill>
              </a:defRPr>
            </a:lvl2pPr>
            <a:lvl3pPr>
              <a:defRPr sz="2175" b="0">
                <a:solidFill>
                  <a:srgbClr val="8BD4C0"/>
                </a:solidFill>
              </a:defRPr>
            </a:lvl3pPr>
            <a:lvl4pPr>
              <a:defRPr sz="2175" b="0">
                <a:solidFill>
                  <a:srgbClr val="8BD4C0"/>
                </a:solidFill>
              </a:defRPr>
            </a:lvl4pPr>
            <a:lvl5pPr>
              <a:defRPr sz="2175" b="0">
                <a:solidFill>
                  <a:srgbClr val="8BD4C0"/>
                </a:solidFill>
              </a:defRPr>
            </a:lvl5pPr>
            <a:lvl6pPr>
              <a:defRPr sz="2175" b="0">
                <a:solidFill>
                  <a:srgbClr val="8BD4C0"/>
                </a:solidFill>
              </a:defRPr>
            </a:lvl6pPr>
            <a:lvl7pPr>
              <a:defRPr sz="2175" b="0">
                <a:solidFill>
                  <a:srgbClr val="8BD4C0"/>
                </a:solidFill>
              </a:defRPr>
            </a:lvl7pPr>
            <a:lvl8pPr>
              <a:defRPr sz="2175" b="0">
                <a:solidFill>
                  <a:srgbClr val="8BD4C0"/>
                </a:solidFill>
              </a:defRPr>
            </a:lvl8pPr>
            <a:lvl9pPr>
              <a:defRPr sz="2175" b="0">
                <a:solidFill>
                  <a:srgbClr val="8BD4C0"/>
                </a:solidFill>
              </a:defRPr>
            </a:lvl9pPr>
          </a:lstStyle>
          <a:p>
            <a:pPr>
              <a:defRPr sz="2175" b="0">
                <a:solidFill>
                  <a:srgbClr val="8BD4C0"/>
                </a:solidFill>
              </a:defRPr>
            </a:pPr>
            <a:r>
              <a:rPr sz="2175" b="0">
                <a:solidFill>
                  <a:srgbClr val="8BD4C0"/>
                </a:solidFill>
              </a:rPr>
              <a:t>04</a:t>
            </a:r>
          </a:p>
        </p:txBody>
      </p:sp>
      <p:sp>
        <p:nvSpPr>
          <p:cNvPr id="10" name="step-3">
            <a:extLst>
              <a:ext uri="{FF2B5EF4-FFF2-40B4-BE49-F238E27FC236}">
                <a16:creationId xmlns:a16="http://schemas.microsoft.com/office/drawing/2014/main" id="{D79CE3DB-3B76-45AF-93FB-4766F9696B6A}"/>
              </a:ext>
            </a:extLst>
          </p:cNvPr>
          <p:cNvSpPr>
            <a:spLocks noGrp="1"/>
          </p:cNvSpPr>
          <p:nvPr/>
        </p:nvSpPr>
        <p:spPr>
          <a:xfrm>
            <a:off x="1828800" y="3800475"/>
            <a:ext cx="9620250" cy="552450"/>
          </a:xfrm>
          <a:prstGeom prst="rect">
            <a:avLst/>
          </a:prstGeom>
          <a:noFill/>
          <a:ln w="0">
            <a:noFill/>
          </a:ln>
        </p:spPr>
        <p:txBody>
          <a:bodyPr lIns="0" tIns="0" rIns="0" bIns="0" anchor="t"/>
          <a:lstStyle>
            <a:defPPr>
              <a:defRPr sz="2775" b="1">
                <a:solidFill>
                  <a:srgbClr val="F5F3EC"/>
                </a:solidFill>
              </a:defRPr>
            </a:defPPr>
            <a:lvl1pPr>
              <a:defRPr sz="2775" b="1">
                <a:solidFill>
                  <a:srgbClr val="F5F3EC"/>
                </a:solidFill>
              </a:defRPr>
            </a:lvl1pPr>
            <a:lvl2pPr>
              <a:defRPr sz="2775" b="1">
                <a:solidFill>
                  <a:srgbClr val="F5F3EC"/>
                </a:solidFill>
              </a:defRPr>
            </a:lvl2pPr>
            <a:lvl3pPr>
              <a:defRPr sz="2775" b="1">
                <a:solidFill>
                  <a:srgbClr val="F5F3EC"/>
                </a:solidFill>
              </a:defRPr>
            </a:lvl3pPr>
            <a:lvl4pPr>
              <a:defRPr sz="2775" b="1">
                <a:solidFill>
                  <a:srgbClr val="F5F3EC"/>
                </a:solidFill>
              </a:defRPr>
            </a:lvl4pPr>
            <a:lvl5pPr>
              <a:defRPr sz="2775" b="1">
                <a:solidFill>
                  <a:srgbClr val="F5F3EC"/>
                </a:solidFill>
              </a:defRPr>
            </a:lvl5pPr>
            <a:lvl6pPr>
              <a:defRPr sz="2775" b="1">
                <a:solidFill>
                  <a:srgbClr val="F5F3EC"/>
                </a:solidFill>
              </a:defRPr>
            </a:lvl6pPr>
            <a:lvl7pPr>
              <a:defRPr sz="2775" b="1">
                <a:solidFill>
                  <a:srgbClr val="F5F3EC"/>
                </a:solidFill>
              </a:defRPr>
            </a:lvl7pPr>
            <a:lvl8pPr>
              <a:defRPr sz="2775" b="1">
                <a:solidFill>
                  <a:srgbClr val="F5F3EC"/>
                </a:solidFill>
              </a:defRPr>
            </a:lvl8pPr>
            <a:lvl9pPr>
              <a:defRPr sz="2775" b="1">
                <a:solidFill>
                  <a:srgbClr val="F5F3EC"/>
                </a:solidFill>
              </a:defRPr>
            </a:lvl9pPr>
          </a:lstStyle>
          <a:p>
            <a:pPr>
              <a:defRPr sz="2775" b="1">
                <a:solidFill>
                  <a:srgbClr val="F5F3EC"/>
                </a:solidFill>
              </a:defRPr>
            </a:pPr>
            <a:r>
              <a:rPr sz="2775" b="1">
                <a:solidFill>
                  <a:srgbClr val="F5F3EC"/>
                </a:solidFill>
              </a:rPr>
              <a:t>Owner approves the plan</a:t>
            </a:r>
          </a:p>
        </p:txBody>
      </p:sp>
      <p:sp>
        <p:nvSpPr>
          <p:cNvPr id="11" name="step-number-4">
            <a:extLst>
              <a:ext uri="{FF2B5EF4-FFF2-40B4-BE49-F238E27FC236}">
                <a16:creationId xmlns:a16="http://schemas.microsoft.com/office/drawing/2014/main" id="{3B0CBBA2-D0C4-419A-852C-FDA2C60CDF17}"/>
              </a:ext>
            </a:extLst>
          </p:cNvPr>
          <p:cNvSpPr>
            <a:spLocks noGrp="1"/>
          </p:cNvSpPr>
          <p:nvPr/>
        </p:nvSpPr>
        <p:spPr>
          <a:xfrm>
            <a:off x="781050" y="4581525"/>
            <a:ext cx="857250" cy="514350"/>
          </a:xfrm>
          <a:prstGeom prst="rect">
            <a:avLst/>
          </a:prstGeom>
          <a:noFill/>
          <a:ln w="0">
            <a:noFill/>
          </a:ln>
        </p:spPr>
        <p:txBody>
          <a:bodyPr lIns="0" tIns="0" rIns="0" bIns="0" anchor="t"/>
          <a:lstStyle>
            <a:defPPr>
              <a:defRPr sz="2175" b="0">
                <a:solidFill>
                  <a:srgbClr val="8BD4C0"/>
                </a:solidFill>
              </a:defRPr>
            </a:defPPr>
            <a:lvl1pPr>
              <a:defRPr sz="2175" b="0">
                <a:solidFill>
                  <a:srgbClr val="8BD4C0"/>
                </a:solidFill>
              </a:defRPr>
            </a:lvl1pPr>
            <a:lvl2pPr>
              <a:defRPr sz="2175" b="0">
                <a:solidFill>
                  <a:srgbClr val="8BD4C0"/>
                </a:solidFill>
              </a:defRPr>
            </a:lvl2pPr>
            <a:lvl3pPr>
              <a:defRPr sz="2175" b="0">
                <a:solidFill>
                  <a:srgbClr val="8BD4C0"/>
                </a:solidFill>
              </a:defRPr>
            </a:lvl3pPr>
            <a:lvl4pPr>
              <a:defRPr sz="2175" b="0">
                <a:solidFill>
                  <a:srgbClr val="8BD4C0"/>
                </a:solidFill>
              </a:defRPr>
            </a:lvl4pPr>
            <a:lvl5pPr>
              <a:defRPr sz="2175" b="0">
                <a:solidFill>
                  <a:srgbClr val="8BD4C0"/>
                </a:solidFill>
              </a:defRPr>
            </a:lvl5pPr>
            <a:lvl6pPr>
              <a:defRPr sz="2175" b="0">
                <a:solidFill>
                  <a:srgbClr val="8BD4C0"/>
                </a:solidFill>
              </a:defRPr>
            </a:lvl6pPr>
            <a:lvl7pPr>
              <a:defRPr sz="2175" b="0">
                <a:solidFill>
                  <a:srgbClr val="8BD4C0"/>
                </a:solidFill>
              </a:defRPr>
            </a:lvl7pPr>
            <a:lvl8pPr>
              <a:defRPr sz="2175" b="0">
                <a:solidFill>
                  <a:srgbClr val="8BD4C0"/>
                </a:solidFill>
              </a:defRPr>
            </a:lvl8pPr>
            <a:lvl9pPr>
              <a:defRPr sz="2175" b="0">
                <a:solidFill>
                  <a:srgbClr val="8BD4C0"/>
                </a:solidFill>
              </a:defRPr>
            </a:lvl9pPr>
          </a:lstStyle>
          <a:p>
            <a:pPr>
              <a:defRPr sz="2175" b="0">
                <a:solidFill>
                  <a:srgbClr val="8BD4C0"/>
                </a:solidFill>
              </a:defRPr>
            </a:pPr>
            <a:r>
              <a:rPr sz="2175" b="0">
                <a:solidFill>
                  <a:srgbClr val="8BD4C0"/>
                </a:solidFill>
              </a:rPr>
              <a:t>05</a:t>
            </a:r>
          </a:p>
        </p:txBody>
      </p:sp>
      <p:sp>
        <p:nvSpPr>
          <p:cNvPr id="12" name="step-4">
            <a:extLst>
              <a:ext uri="{FF2B5EF4-FFF2-40B4-BE49-F238E27FC236}">
                <a16:creationId xmlns:a16="http://schemas.microsoft.com/office/drawing/2014/main" id="{74AFC6C4-B636-4DDD-B6B5-E1B4B47A4E13}"/>
              </a:ext>
            </a:extLst>
          </p:cNvPr>
          <p:cNvSpPr>
            <a:spLocks noGrp="1"/>
          </p:cNvSpPr>
          <p:nvPr/>
        </p:nvSpPr>
        <p:spPr>
          <a:xfrm>
            <a:off x="1828800" y="4514850"/>
            <a:ext cx="9620250" cy="552450"/>
          </a:xfrm>
          <a:prstGeom prst="rect">
            <a:avLst/>
          </a:prstGeom>
          <a:noFill/>
          <a:ln w="0">
            <a:noFill/>
          </a:ln>
        </p:spPr>
        <p:txBody>
          <a:bodyPr lIns="0" tIns="0" rIns="0" bIns="0" anchor="t"/>
          <a:lstStyle>
            <a:defPPr>
              <a:defRPr sz="2775" b="0">
                <a:solidFill>
                  <a:srgbClr val="F5F3EC"/>
                </a:solidFill>
              </a:defRPr>
            </a:defPPr>
            <a:lvl1pPr>
              <a:defRPr sz="2775" b="0">
                <a:solidFill>
                  <a:srgbClr val="F5F3EC"/>
                </a:solidFill>
              </a:defRPr>
            </a:lvl1pPr>
            <a:lvl2pPr>
              <a:defRPr sz="2775" b="0">
                <a:solidFill>
                  <a:srgbClr val="F5F3EC"/>
                </a:solidFill>
              </a:defRPr>
            </a:lvl2pPr>
            <a:lvl3pPr>
              <a:defRPr sz="2775" b="0">
                <a:solidFill>
                  <a:srgbClr val="F5F3EC"/>
                </a:solidFill>
              </a:defRPr>
            </a:lvl3pPr>
            <a:lvl4pPr>
              <a:defRPr sz="2775" b="0">
                <a:solidFill>
                  <a:srgbClr val="F5F3EC"/>
                </a:solidFill>
              </a:defRPr>
            </a:lvl4pPr>
            <a:lvl5pPr>
              <a:defRPr sz="2775" b="0">
                <a:solidFill>
                  <a:srgbClr val="F5F3EC"/>
                </a:solidFill>
              </a:defRPr>
            </a:lvl5pPr>
            <a:lvl6pPr>
              <a:defRPr sz="2775" b="0">
                <a:solidFill>
                  <a:srgbClr val="F5F3EC"/>
                </a:solidFill>
              </a:defRPr>
            </a:lvl6pPr>
            <a:lvl7pPr>
              <a:defRPr sz="2775" b="0">
                <a:solidFill>
                  <a:srgbClr val="F5F3EC"/>
                </a:solidFill>
              </a:defRPr>
            </a:lvl7pPr>
            <a:lvl8pPr>
              <a:defRPr sz="2775" b="0">
                <a:solidFill>
                  <a:srgbClr val="F5F3EC"/>
                </a:solidFill>
              </a:defRPr>
            </a:lvl8pPr>
            <a:lvl9pPr>
              <a:defRPr sz="2775" b="0">
                <a:solidFill>
                  <a:srgbClr val="F5F3EC"/>
                </a:solidFill>
              </a:defRPr>
            </a:lvl9pPr>
          </a:lstStyle>
          <a:p>
            <a:pPr>
              <a:defRPr sz="2775" b="0">
                <a:solidFill>
                  <a:srgbClr val="F5F3EC"/>
                </a:solidFill>
              </a:defRPr>
            </a:pPr>
            <a:r>
              <a:rPr sz="2775" b="0">
                <a:solidFill>
                  <a:srgbClr val="F5F3EC"/>
                </a:solidFill>
              </a:rPr>
              <a:t>Staff confirm collection</a:t>
            </a:r>
          </a:p>
        </p:txBody>
      </p:sp>
      <p:sp>
        <p:nvSpPr>
          <p:cNvPr id="13" name="next">
            <a:extLst>
              <a:ext uri="{FF2B5EF4-FFF2-40B4-BE49-F238E27FC236}">
                <a16:creationId xmlns:a16="http://schemas.microsoft.com/office/drawing/2014/main" id="{4549FD2D-9405-4864-B10A-6F380E53E964}"/>
              </a:ext>
            </a:extLst>
          </p:cNvPr>
          <p:cNvSpPr>
            <a:spLocks noGrp="1"/>
          </p:cNvSpPr>
          <p:nvPr/>
        </p:nvSpPr>
        <p:spPr>
          <a:xfrm>
            <a:off x="742950" y="5772150"/>
            <a:ext cx="10668000" cy="419100"/>
          </a:xfrm>
          <a:prstGeom prst="rect">
            <a:avLst/>
          </a:prstGeom>
          <a:noFill/>
          <a:ln w="0">
            <a:noFill/>
          </a:ln>
        </p:spPr>
        <p:txBody>
          <a:bodyPr lIns="0" tIns="0" rIns="0" bIns="0" anchor="t"/>
          <a:lstStyle>
            <a:defPPr>
              <a:defRPr sz="1875" b="0">
                <a:solidFill>
                  <a:srgbClr val="8BD4C0"/>
                </a:solidFill>
              </a:defRPr>
            </a:defPPr>
            <a:lvl1pPr>
              <a:defRPr sz="1875" b="0">
                <a:solidFill>
                  <a:srgbClr val="8BD4C0"/>
                </a:solidFill>
              </a:defRPr>
            </a:lvl1pPr>
            <a:lvl2pPr>
              <a:defRPr sz="1875" b="0">
                <a:solidFill>
                  <a:srgbClr val="8BD4C0"/>
                </a:solidFill>
              </a:defRPr>
            </a:lvl2pPr>
            <a:lvl3pPr>
              <a:defRPr sz="1875" b="0">
                <a:solidFill>
                  <a:srgbClr val="8BD4C0"/>
                </a:solidFill>
              </a:defRPr>
            </a:lvl3pPr>
            <a:lvl4pPr>
              <a:defRPr sz="1875" b="0">
                <a:solidFill>
                  <a:srgbClr val="8BD4C0"/>
                </a:solidFill>
              </a:defRPr>
            </a:lvl4pPr>
            <a:lvl5pPr>
              <a:defRPr sz="1875" b="0">
                <a:solidFill>
                  <a:srgbClr val="8BD4C0"/>
                </a:solidFill>
              </a:defRPr>
            </a:lvl5pPr>
            <a:lvl6pPr>
              <a:defRPr sz="1875" b="0">
                <a:solidFill>
                  <a:srgbClr val="8BD4C0"/>
                </a:solidFill>
              </a:defRPr>
            </a:lvl6pPr>
            <a:lvl7pPr>
              <a:defRPr sz="1875" b="0">
                <a:solidFill>
                  <a:srgbClr val="8BD4C0"/>
                </a:solidFill>
              </a:defRPr>
            </a:lvl7pPr>
            <a:lvl8pPr>
              <a:defRPr sz="1875" b="0">
                <a:solidFill>
                  <a:srgbClr val="8BD4C0"/>
                </a:solidFill>
              </a:defRPr>
            </a:lvl8pPr>
            <a:lvl9pPr>
              <a:defRPr sz="1875" b="0">
                <a:solidFill>
                  <a:srgbClr val="8BD4C0"/>
                </a:solidFill>
              </a:defRPr>
            </a:lvl9pPr>
          </a:lstStyle>
          <a:p>
            <a:pPr>
              <a:defRPr sz="1875" b="0">
                <a:solidFill>
                  <a:srgbClr val="8BD4C0"/>
                </a:solidFill>
              </a:defRPr>
            </a:pPr>
            <a:r>
              <a:rPr sz="1875" b="0">
                <a:solidFill>
                  <a:srgbClr val="8BD4C0"/>
                </a:solidFill>
              </a:rPr>
              <a:t>Replenishment advice uses the updated stock record.</a:t>
            </a:r>
          </a:p>
        </p:txBody>
      </p:sp>
    </p:spTree>
    <p:extLst>
      <p:ext uri="{BB962C8B-B14F-4D97-AF65-F5344CB8AC3E}">
        <p14:creationId xmlns:p14="http://schemas.microsoft.com/office/powerpoint/2010/main" val="199799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1507CE-6FAA-417B-856F-1E6611169F83}"/>
              </a:ext>
            </a:extLst>
          </p:cNvPr>
          <p:cNvSpPr>
            <a:spLocks noGrp="1"/>
          </p:cNvSpPr>
          <p:nvPr/>
        </p:nvSpPr>
        <p:spPr>
          <a:xfrm>
            <a:off x="723900" y="628650"/>
            <a:ext cx="10668000" cy="714375"/>
          </a:xfrm>
          <a:prstGeom prst="rect">
            <a:avLst/>
          </a:prstGeom>
          <a:noFill/>
          <a:ln w="0">
            <a:noFill/>
          </a:ln>
        </p:spPr>
        <p:txBody>
          <a:bodyPr lIns="0" tIns="0" rIns="0" bIns="0" anchor="t"/>
          <a:lstStyle>
            <a:defPPr>
              <a:defRPr sz="4050" b="1">
                <a:solidFill>
                  <a:srgbClr val="F5F3EC"/>
                </a:solidFill>
              </a:defRPr>
            </a:defPPr>
            <a:lvl1pPr>
              <a:defRPr sz="4050" b="1">
                <a:solidFill>
                  <a:srgbClr val="F5F3EC"/>
                </a:solidFill>
              </a:defRPr>
            </a:lvl1pPr>
            <a:lvl2pPr>
              <a:defRPr sz="4050" b="1">
                <a:solidFill>
                  <a:srgbClr val="F5F3EC"/>
                </a:solidFill>
              </a:defRPr>
            </a:lvl2pPr>
            <a:lvl3pPr>
              <a:defRPr sz="4050" b="1">
                <a:solidFill>
                  <a:srgbClr val="F5F3EC"/>
                </a:solidFill>
              </a:defRPr>
            </a:lvl3pPr>
            <a:lvl4pPr>
              <a:defRPr sz="4050" b="1">
                <a:solidFill>
                  <a:srgbClr val="F5F3EC"/>
                </a:solidFill>
              </a:defRPr>
            </a:lvl4pPr>
            <a:lvl5pPr>
              <a:defRPr sz="4050" b="1">
                <a:solidFill>
                  <a:srgbClr val="F5F3EC"/>
                </a:solidFill>
              </a:defRPr>
            </a:lvl5pPr>
            <a:lvl6pPr>
              <a:defRPr sz="4050" b="1">
                <a:solidFill>
                  <a:srgbClr val="F5F3EC"/>
                </a:solidFill>
              </a:defRPr>
            </a:lvl6pPr>
            <a:lvl7pPr>
              <a:defRPr sz="4050" b="1">
                <a:solidFill>
                  <a:srgbClr val="F5F3EC"/>
                </a:solidFill>
              </a:defRPr>
            </a:lvl7pPr>
            <a:lvl8pPr>
              <a:defRPr sz="4050" b="1">
                <a:solidFill>
                  <a:srgbClr val="F5F3EC"/>
                </a:solidFill>
              </a:defRPr>
            </a:lvl8pPr>
            <a:lvl9pPr>
              <a:defRPr sz="4050" b="1">
                <a:solidFill>
                  <a:srgbClr val="F5F3EC"/>
                </a:solidFill>
              </a:defRPr>
            </a:lvl9pPr>
          </a:lstStyle>
          <a:p>
            <a:pPr>
              <a:defRPr sz="4050" b="1">
                <a:solidFill>
                  <a:srgbClr val="F5F3EC"/>
                </a:solidFill>
              </a:defRPr>
            </a:pPr>
            <a:r>
              <a:rPr sz="4050" b="1">
                <a:solidFill>
                  <a:srgbClr val="F5F3EC"/>
                </a:solidFill>
              </a:rPr>
              <a:t>Jarvis and 3D</a:t>
            </a:r>
          </a:p>
        </p:txBody>
      </p:sp>
      <p:sp>
        <p:nvSpPr>
          <p:cNvPr id="3" name="sub">
            <a:extLst>
              <a:ext uri="{FF2B5EF4-FFF2-40B4-BE49-F238E27FC236}">
                <a16:creationId xmlns:a16="http://schemas.microsoft.com/office/drawing/2014/main" id="{176BED13-9237-4165-8201-57A7B0410FD7}"/>
              </a:ext>
            </a:extLst>
          </p:cNvPr>
          <p:cNvSpPr>
            <a:spLocks noGrp="1"/>
          </p:cNvSpPr>
          <p:nvPr/>
        </p:nvSpPr>
        <p:spPr>
          <a:xfrm>
            <a:off x="742950" y="1428750"/>
            <a:ext cx="10668000" cy="438150"/>
          </a:xfrm>
          <a:prstGeom prst="rect">
            <a:avLst/>
          </a:prstGeom>
          <a:noFill/>
          <a:ln w="0">
            <a:noFill/>
          </a:ln>
        </p:spPr>
        <p:txBody>
          <a:bodyPr lIns="0" tIns="0" rIns="0" bIns="0" anchor="t"/>
          <a:lstStyle>
            <a:defPPr>
              <a:defRPr sz="2100" b="0">
                <a:solidFill>
                  <a:srgbClr val="B1C1C5"/>
                </a:solidFill>
              </a:defRPr>
            </a:defPPr>
            <a:lvl1pPr>
              <a:defRPr sz="2100" b="0">
                <a:solidFill>
                  <a:srgbClr val="B1C1C5"/>
                </a:solidFill>
              </a:defRPr>
            </a:lvl1pPr>
            <a:lvl2pPr>
              <a:defRPr sz="2100" b="0">
                <a:solidFill>
                  <a:srgbClr val="B1C1C5"/>
                </a:solidFill>
              </a:defRPr>
            </a:lvl2pPr>
            <a:lvl3pPr>
              <a:defRPr sz="2100" b="0">
                <a:solidFill>
                  <a:srgbClr val="B1C1C5"/>
                </a:solidFill>
              </a:defRPr>
            </a:lvl3pPr>
            <a:lvl4pPr>
              <a:defRPr sz="2100" b="0">
                <a:solidFill>
                  <a:srgbClr val="B1C1C5"/>
                </a:solidFill>
              </a:defRPr>
            </a:lvl4pPr>
            <a:lvl5pPr>
              <a:defRPr sz="2100" b="0">
                <a:solidFill>
                  <a:srgbClr val="B1C1C5"/>
                </a:solidFill>
              </a:defRPr>
            </a:lvl5pPr>
            <a:lvl6pPr>
              <a:defRPr sz="2100" b="0">
                <a:solidFill>
                  <a:srgbClr val="B1C1C5"/>
                </a:solidFill>
              </a:defRPr>
            </a:lvl6pPr>
            <a:lvl7pPr>
              <a:defRPr sz="2100" b="0">
                <a:solidFill>
                  <a:srgbClr val="B1C1C5"/>
                </a:solidFill>
              </a:defRPr>
            </a:lvl7pPr>
            <a:lvl8pPr>
              <a:defRPr sz="2100" b="0">
                <a:solidFill>
                  <a:srgbClr val="B1C1C5"/>
                </a:solidFill>
              </a:defRPr>
            </a:lvl8pPr>
            <a:lvl9pPr>
              <a:defRPr sz="2100" b="0">
                <a:solidFill>
                  <a:srgbClr val="B1C1C5"/>
                </a:solidFill>
              </a:defRPr>
            </a:lvl9pPr>
          </a:lstStyle>
          <a:p>
            <a:pPr>
              <a:defRPr sz="2100" b="0">
                <a:solidFill>
                  <a:srgbClr val="B1C1C5"/>
                </a:solidFill>
              </a:defRPr>
            </a:pPr>
            <a:r>
              <a:rPr sz="2100" b="0">
                <a:solidFill>
                  <a:srgbClr val="B1C1C5"/>
                </a:solidFill>
              </a:rPr>
              <a:t>Two ways to understand the same warehouse</a:t>
            </a:r>
          </a:p>
        </p:txBody>
      </p:sp>
      <p:sp>
        <p:nvSpPr>
          <p:cNvPr id="4" name="jarvis">
            <a:extLst>
              <a:ext uri="{FF2B5EF4-FFF2-40B4-BE49-F238E27FC236}">
                <a16:creationId xmlns:a16="http://schemas.microsoft.com/office/drawing/2014/main" id="{AA446A10-2560-4BFC-B6B6-BB6A6969C5ED}"/>
              </a:ext>
            </a:extLst>
          </p:cNvPr>
          <p:cNvSpPr>
            <a:spLocks noGrp="1"/>
          </p:cNvSpPr>
          <p:nvPr/>
        </p:nvSpPr>
        <p:spPr>
          <a:xfrm>
            <a:off x="742950" y="2667000"/>
            <a:ext cx="4762500" cy="685800"/>
          </a:xfrm>
          <a:prstGeom prst="rect">
            <a:avLst/>
          </a:prstGeom>
          <a:noFill/>
          <a:ln w="0">
            <a:noFill/>
          </a:ln>
        </p:spPr>
        <p:txBody>
          <a:bodyPr lIns="0" tIns="0" rIns="0" bIns="0" anchor="t"/>
          <a:lstStyle>
            <a:defPPr>
              <a:defRPr sz="3900" b="1">
                <a:solidFill>
                  <a:srgbClr val="8BD4C0"/>
                </a:solidFill>
              </a:defRPr>
            </a:defPPr>
            <a:lvl1pPr>
              <a:defRPr sz="3900" b="1">
                <a:solidFill>
                  <a:srgbClr val="8BD4C0"/>
                </a:solidFill>
              </a:defRPr>
            </a:lvl1pPr>
            <a:lvl2pPr>
              <a:defRPr sz="3900" b="1">
                <a:solidFill>
                  <a:srgbClr val="8BD4C0"/>
                </a:solidFill>
              </a:defRPr>
            </a:lvl2pPr>
            <a:lvl3pPr>
              <a:defRPr sz="3900" b="1">
                <a:solidFill>
                  <a:srgbClr val="8BD4C0"/>
                </a:solidFill>
              </a:defRPr>
            </a:lvl3pPr>
            <a:lvl4pPr>
              <a:defRPr sz="3900" b="1">
                <a:solidFill>
                  <a:srgbClr val="8BD4C0"/>
                </a:solidFill>
              </a:defRPr>
            </a:lvl4pPr>
            <a:lvl5pPr>
              <a:defRPr sz="3900" b="1">
                <a:solidFill>
                  <a:srgbClr val="8BD4C0"/>
                </a:solidFill>
              </a:defRPr>
            </a:lvl5pPr>
            <a:lvl6pPr>
              <a:defRPr sz="3900" b="1">
                <a:solidFill>
                  <a:srgbClr val="8BD4C0"/>
                </a:solidFill>
              </a:defRPr>
            </a:lvl6pPr>
            <a:lvl7pPr>
              <a:defRPr sz="3900" b="1">
                <a:solidFill>
                  <a:srgbClr val="8BD4C0"/>
                </a:solidFill>
              </a:defRPr>
            </a:lvl7pPr>
            <a:lvl8pPr>
              <a:defRPr sz="3900" b="1">
                <a:solidFill>
                  <a:srgbClr val="8BD4C0"/>
                </a:solidFill>
              </a:defRPr>
            </a:lvl8pPr>
            <a:lvl9pPr>
              <a:defRPr sz="3900" b="1">
                <a:solidFill>
                  <a:srgbClr val="8BD4C0"/>
                </a:solidFill>
              </a:defRPr>
            </a:lvl9pPr>
          </a:lstStyle>
          <a:p>
            <a:pPr>
              <a:defRPr sz="3900" b="1">
                <a:solidFill>
                  <a:srgbClr val="8BD4C0"/>
                </a:solidFill>
              </a:defRPr>
            </a:pPr>
            <a:r>
              <a:rPr sz="3900" b="1">
                <a:solidFill>
                  <a:srgbClr val="8BD4C0"/>
                </a:solidFill>
              </a:rPr>
              <a:t>Jarvis</a:t>
            </a:r>
          </a:p>
        </p:txBody>
      </p:sp>
      <p:sp>
        <p:nvSpPr>
          <p:cNvPr id="5" name="jarvis-description">
            <a:extLst>
              <a:ext uri="{FF2B5EF4-FFF2-40B4-BE49-F238E27FC236}">
                <a16:creationId xmlns:a16="http://schemas.microsoft.com/office/drawing/2014/main" id="{42AA8F70-C281-4DA7-81A5-376DB9003B99}"/>
              </a:ext>
            </a:extLst>
          </p:cNvPr>
          <p:cNvSpPr>
            <a:spLocks noGrp="1"/>
          </p:cNvSpPr>
          <p:nvPr/>
        </p:nvSpPr>
        <p:spPr>
          <a:xfrm>
            <a:off x="762000" y="3514725"/>
            <a:ext cx="4857750" cy="1238250"/>
          </a:xfrm>
          <a:prstGeom prst="rect">
            <a:avLst/>
          </a:prstGeom>
          <a:noFill/>
          <a:ln w="0">
            <a:noFill/>
          </a:ln>
        </p:spPr>
        <p:txBody>
          <a:bodyPr lIns="0" tIns="0" rIns="0" bIns="0" anchor="t"/>
          <a:lstStyle>
            <a:defPPr>
              <a:defRPr sz="2625" b="0">
                <a:solidFill>
                  <a:srgbClr val="F5F3EC"/>
                </a:solidFill>
              </a:defRPr>
            </a:defPPr>
            <a:lvl1pPr>
              <a:defRPr sz="2625" b="0">
                <a:solidFill>
                  <a:srgbClr val="F5F3EC"/>
                </a:solidFill>
              </a:defRPr>
            </a:lvl1pPr>
            <a:lvl2pPr>
              <a:defRPr sz="2625" b="0">
                <a:solidFill>
                  <a:srgbClr val="F5F3EC"/>
                </a:solidFill>
              </a:defRPr>
            </a:lvl2pPr>
            <a:lvl3pPr>
              <a:defRPr sz="2625" b="0">
                <a:solidFill>
                  <a:srgbClr val="F5F3EC"/>
                </a:solidFill>
              </a:defRPr>
            </a:lvl3pPr>
            <a:lvl4pPr>
              <a:defRPr sz="2625" b="0">
                <a:solidFill>
                  <a:srgbClr val="F5F3EC"/>
                </a:solidFill>
              </a:defRPr>
            </a:lvl4pPr>
            <a:lvl5pPr>
              <a:defRPr sz="2625" b="0">
                <a:solidFill>
                  <a:srgbClr val="F5F3EC"/>
                </a:solidFill>
              </a:defRPr>
            </a:lvl5pPr>
            <a:lvl6pPr>
              <a:defRPr sz="2625" b="0">
                <a:solidFill>
                  <a:srgbClr val="F5F3EC"/>
                </a:solidFill>
              </a:defRPr>
            </a:lvl6pPr>
            <a:lvl7pPr>
              <a:defRPr sz="2625" b="0">
                <a:solidFill>
                  <a:srgbClr val="F5F3EC"/>
                </a:solidFill>
              </a:defRPr>
            </a:lvl7pPr>
            <a:lvl8pPr>
              <a:defRPr sz="2625" b="0">
                <a:solidFill>
                  <a:srgbClr val="F5F3EC"/>
                </a:solidFill>
              </a:defRPr>
            </a:lvl8pPr>
            <a:lvl9pPr>
              <a:defRPr sz="2625" b="0">
                <a:solidFill>
                  <a:srgbClr val="F5F3EC"/>
                </a:solidFill>
              </a:defRPr>
            </a:lvl9pPr>
          </a:lstStyle>
          <a:p>
            <a:pPr>
              <a:defRPr sz="2625" b="0">
                <a:solidFill>
                  <a:srgbClr val="F5F3EC"/>
                </a:solidFill>
              </a:defRPr>
            </a:pPr>
            <a:r>
              <a:rPr sz="2625" b="0">
                <a:solidFill>
                  <a:srgbClr val="F5F3EC"/>
                </a:solidFill>
              </a:rPr>
              <a:t>Ask about stock.</a:t>
            </a:r>
          </a:p>
          <a:p>
            <a:pPr>
              <a:defRPr sz="2625" b="0">
                <a:solidFill>
                  <a:srgbClr val="F5F3EC"/>
                </a:solidFill>
              </a:defRPr>
            </a:pPr>
            <a:r>
              <a:rPr sz="2625" b="0">
                <a:solidFill>
                  <a:srgbClr val="F5F3EC"/>
                </a:solidFill>
              </a:rPr>
              <a:t>Open the next task.</a:t>
            </a:r>
          </a:p>
        </p:txBody>
      </p:sp>
      <p:sp>
        <p:nvSpPr>
          <p:cNvPr id="6" name="3d">
            <a:extLst>
              <a:ext uri="{FF2B5EF4-FFF2-40B4-BE49-F238E27FC236}">
                <a16:creationId xmlns:a16="http://schemas.microsoft.com/office/drawing/2014/main" id="{A4B448DC-4E88-457E-B527-A5EDD2D0DCD9}"/>
              </a:ext>
            </a:extLst>
          </p:cNvPr>
          <p:cNvSpPr>
            <a:spLocks noGrp="1"/>
          </p:cNvSpPr>
          <p:nvPr/>
        </p:nvSpPr>
        <p:spPr>
          <a:xfrm>
            <a:off x="6524625" y="2667000"/>
            <a:ext cx="4953000" cy="685800"/>
          </a:xfrm>
          <a:prstGeom prst="rect">
            <a:avLst/>
          </a:prstGeom>
          <a:noFill/>
          <a:ln w="0">
            <a:noFill/>
          </a:ln>
        </p:spPr>
        <p:txBody>
          <a:bodyPr lIns="0" tIns="0" rIns="0" bIns="0" anchor="t"/>
          <a:lstStyle>
            <a:defPPr>
              <a:defRPr sz="3900" b="1">
                <a:solidFill>
                  <a:srgbClr val="8BD4C0"/>
                </a:solidFill>
              </a:defRPr>
            </a:defPPr>
            <a:lvl1pPr>
              <a:defRPr sz="3900" b="1">
                <a:solidFill>
                  <a:srgbClr val="8BD4C0"/>
                </a:solidFill>
              </a:defRPr>
            </a:lvl1pPr>
            <a:lvl2pPr>
              <a:defRPr sz="3900" b="1">
                <a:solidFill>
                  <a:srgbClr val="8BD4C0"/>
                </a:solidFill>
              </a:defRPr>
            </a:lvl2pPr>
            <a:lvl3pPr>
              <a:defRPr sz="3900" b="1">
                <a:solidFill>
                  <a:srgbClr val="8BD4C0"/>
                </a:solidFill>
              </a:defRPr>
            </a:lvl3pPr>
            <a:lvl4pPr>
              <a:defRPr sz="3900" b="1">
                <a:solidFill>
                  <a:srgbClr val="8BD4C0"/>
                </a:solidFill>
              </a:defRPr>
            </a:lvl4pPr>
            <a:lvl5pPr>
              <a:defRPr sz="3900" b="1">
                <a:solidFill>
                  <a:srgbClr val="8BD4C0"/>
                </a:solidFill>
              </a:defRPr>
            </a:lvl5pPr>
            <a:lvl6pPr>
              <a:defRPr sz="3900" b="1">
                <a:solidFill>
                  <a:srgbClr val="8BD4C0"/>
                </a:solidFill>
              </a:defRPr>
            </a:lvl6pPr>
            <a:lvl7pPr>
              <a:defRPr sz="3900" b="1">
                <a:solidFill>
                  <a:srgbClr val="8BD4C0"/>
                </a:solidFill>
              </a:defRPr>
            </a:lvl7pPr>
            <a:lvl8pPr>
              <a:defRPr sz="3900" b="1">
                <a:solidFill>
                  <a:srgbClr val="8BD4C0"/>
                </a:solidFill>
              </a:defRPr>
            </a:lvl8pPr>
            <a:lvl9pPr>
              <a:defRPr sz="3900" b="1">
                <a:solidFill>
                  <a:srgbClr val="8BD4C0"/>
                </a:solidFill>
              </a:defRPr>
            </a:lvl9pPr>
          </a:lstStyle>
          <a:p>
            <a:pPr>
              <a:defRPr sz="3900" b="1">
                <a:solidFill>
                  <a:srgbClr val="8BD4C0"/>
                </a:solidFill>
              </a:defRPr>
            </a:pPr>
            <a:r>
              <a:rPr sz="3900" b="1">
                <a:solidFill>
                  <a:srgbClr val="8BD4C0"/>
                </a:solidFill>
              </a:rPr>
              <a:t>3D warehouse</a:t>
            </a:r>
          </a:p>
        </p:txBody>
      </p:sp>
      <p:sp>
        <p:nvSpPr>
          <p:cNvPr id="7" name="3d-description">
            <a:extLst>
              <a:ext uri="{FF2B5EF4-FFF2-40B4-BE49-F238E27FC236}">
                <a16:creationId xmlns:a16="http://schemas.microsoft.com/office/drawing/2014/main" id="{38851EF2-9116-486E-A569-03E0B07E0113}"/>
              </a:ext>
            </a:extLst>
          </p:cNvPr>
          <p:cNvSpPr>
            <a:spLocks noGrp="1"/>
          </p:cNvSpPr>
          <p:nvPr/>
        </p:nvSpPr>
        <p:spPr>
          <a:xfrm>
            <a:off x="6553200" y="3514725"/>
            <a:ext cx="4953000" cy="1238250"/>
          </a:xfrm>
          <a:prstGeom prst="rect">
            <a:avLst/>
          </a:prstGeom>
          <a:noFill/>
          <a:ln w="0">
            <a:noFill/>
          </a:ln>
        </p:spPr>
        <p:txBody>
          <a:bodyPr lIns="0" tIns="0" rIns="0" bIns="0" anchor="t"/>
          <a:lstStyle>
            <a:defPPr>
              <a:defRPr sz="2625" b="0">
                <a:solidFill>
                  <a:srgbClr val="F5F3EC"/>
                </a:solidFill>
              </a:defRPr>
            </a:defPPr>
            <a:lvl1pPr>
              <a:defRPr sz="2625" b="0">
                <a:solidFill>
                  <a:srgbClr val="F5F3EC"/>
                </a:solidFill>
              </a:defRPr>
            </a:lvl1pPr>
            <a:lvl2pPr>
              <a:defRPr sz="2625" b="0">
                <a:solidFill>
                  <a:srgbClr val="F5F3EC"/>
                </a:solidFill>
              </a:defRPr>
            </a:lvl2pPr>
            <a:lvl3pPr>
              <a:defRPr sz="2625" b="0">
                <a:solidFill>
                  <a:srgbClr val="F5F3EC"/>
                </a:solidFill>
              </a:defRPr>
            </a:lvl3pPr>
            <a:lvl4pPr>
              <a:defRPr sz="2625" b="0">
                <a:solidFill>
                  <a:srgbClr val="F5F3EC"/>
                </a:solidFill>
              </a:defRPr>
            </a:lvl4pPr>
            <a:lvl5pPr>
              <a:defRPr sz="2625" b="0">
                <a:solidFill>
                  <a:srgbClr val="F5F3EC"/>
                </a:solidFill>
              </a:defRPr>
            </a:lvl5pPr>
            <a:lvl6pPr>
              <a:defRPr sz="2625" b="0">
                <a:solidFill>
                  <a:srgbClr val="F5F3EC"/>
                </a:solidFill>
              </a:defRPr>
            </a:lvl6pPr>
            <a:lvl7pPr>
              <a:defRPr sz="2625" b="0">
                <a:solidFill>
                  <a:srgbClr val="F5F3EC"/>
                </a:solidFill>
              </a:defRPr>
            </a:lvl7pPr>
            <a:lvl8pPr>
              <a:defRPr sz="2625" b="0">
                <a:solidFill>
                  <a:srgbClr val="F5F3EC"/>
                </a:solidFill>
              </a:defRPr>
            </a:lvl8pPr>
            <a:lvl9pPr>
              <a:defRPr sz="2625" b="0">
                <a:solidFill>
                  <a:srgbClr val="F5F3EC"/>
                </a:solidFill>
              </a:defRPr>
            </a:lvl9pPr>
          </a:lstStyle>
          <a:p>
            <a:pPr>
              <a:defRPr sz="2625" b="0">
                <a:solidFill>
                  <a:srgbClr val="F5F3EC"/>
                </a:solidFill>
              </a:defRPr>
            </a:pPr>
            <a:r>
              <a:rPr sz="2625" b="0">
                <a:solidFill>
                  <a:srgbClr val="F5F3EC"/>
                </a:solidFill>
              </a:rPr>
              <a:t>See occupied, reserved</a:t>
            </a:r>
          </a:p>
          <a:p>
            <a:pPr>
              <a:defRPr sz="2625" b="0">
                <a:solidFill>
                  <a:srgbClr val="F5F3EC"/>
                </a:solidFill>
              </a:defRPr>
            </a:pPr>
            <a:r>
              <a:rPr sz="2625" b="0">
                <a:solidFill>
                  <a:srgbClr val="F5F3EC"/>
                </a:solidFill>
              </a:rPr>
              <a:t>and released space.</a:t>
            </a:r>
          </a:p>
        </p:txBody>
      </p:sp>
      <p:sp>
        <p:nvSpPr>
          <p:cNvPr id="8" name="foundation">
            <a:extLst>
              <a:ext uri="{FF2B5EF4-FFF2-40B4-BE49-F238E27FC236}">
                <a16:creationId xmlns:a16="http://schemas.microsoft.com/office/drawing/2014/main" id="{0230D1FD-8190-4663-8183-83FADFC5CAAE}"/>
              </a:ext>
            </a:extLst>
          </p:cNvPr>
          <p:cNvSpPr>
            <a:spLocks noGrp="1"/>
          </p:cNvSpPr>
          <p:nvPr/>
        </p:nvSpPr>
        <p:spPr>
          <a:xfrm>
            <a:off x="742950" y="5762625"/>
            <a:ext cx="10668000" cy="419100"/>
          </a:xfrm>
          <a:prstGeom prst="rect">
            <a:avLst/>
          </a:prstGeom>
          <a:noFill/>
          <a:ln w="0">
            <a:noFill/>
          </a:ln>
        </p:spPr>
        <p:txBody>
          <a:bodyPr lIns="0" tIns="0" rIns="0" bIns="0" anchor="t"/>
          <a:lstStyle>
            <a:defPPr>
              <a:defRPr sz="1800" b="0">
                <a:solidFill>
                  <a:srgbClr val="B1C1C5"/>
                </a:solidFill>
              </a:defRPr>
            </a:defPPr>
            <a:lvl1pPr>
              <a:defRPr sz="1800" b="0">
                <a:solidFill>
                  <a:srgbClr val="B1C1C5"/>
                </a:solidFill>
              </a:defRPr>
            </a:lvl1pPr>
            <a:lvl2pPr>
              <a:defRPr sz="1800" b="0">
                <a:solidFill>
                  <a:srgbClr val="B1C1C5"/>
                </a:solidFill>
              </a:defRPr>
            </a:lvl2pPr>
            <a:lvl3pPr>
              <a:defRPr sz="1800" b="0">
                <a:solidFill>
                  <a:srgbClr val="B1C1C5"/>
                </a:solidFill>
              </a:defRPr>
            </a:lvl3pPr>
            <a:lvl4pPr>
              <a:defRPr sz="1800" b="0">
                <a:solidFill>
                  <a:srgbClr val="B1C1C5"/>
                </a:solidFill>
              </a:defRPr>
            </a:lvl4pPr>
            <a:lvl5pPr>
              <a:defRPr sz="1800" b="0">
                <a:solidFill>
                  <a:srgbClr val="B1C1C5"/>
                </a:solidFill>
              </a:defRPr>
            </a:lvl5pPr>
            <a:lvl6pPr>
              <a:defRPr sz="1800" b="0">
                <a:solidFill>
                  <a:srgbClr val="B1C1C5"/>
                </a:solidFill>
              </a:defRPr>
            </a:lvl6pPr>
            <a:lvl7pPr>
              <a:defRPr sz="1800" b="0">
                <a:solidFill>
                  <a:srgbClr val="B1C1C5"/>
                </a:solidFill>
              </a:defRPr>
            </a:lvl7pPr>
            <a:lvl8pPr>
              <a:defRPr sz="1800" b="0">
                <a:solidFill>
                  <a:srgbClr val="B1C1C5"/>
                </a:solidFill>
              </a:defRPr>
            </a:lvl8pPr>
            <a:lvl9pPr>
              <a:defRPr sz="1800" b="0">
                <a:solidFill>
                  <a:srgbClr val="B1C1C5"/>
                </a:solidFill>
              </a:defRPr>
            </a:lvl9pPr>
          </a:lstStyle>
          <a:p>
            <a:pPr>
              <a:defRPr sz="1800" b="0">
                <a:solidFill>
                  <a:srgbClr val="B1C1C5"/>
                </a:solidFill>
              </a:defRPr>
            </a:pPr>
            <a:r>
              <a:rPr sz="1800" b="0">
                <a:solidFill>
                  <a:srgbClr val="B1C1C5"/>
                </a:solidFill>
              </a:rPr>
              <a:t>Receiving records supply the data. People verify changes.</a:t>
            </a:r>
          </a:p>
        </p:txBody>
      </p:sp>
    </p:spTree>
    <p:extLst>
      <p:ext uri="{BB962C8B-B14F-4D97-AF65-F5344CB8AC3E}">
        <p14:creationId xmlns:p14="http://schemas.microsoft.com/office/powerpoint/2010/main" val="77311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5370669-E7BD-4F48-8DCB-BFA03D782838}"/>
              </a:ext>
            </a:extLst>
          </p:cNvPr>
          <p:cNvSpPr>
            <a:spLocks noGrp="1"/>
          </p:cNvSpPr>
          <p:nvPr/>
        </p:nvSpPr>
        <p:spPr>
          <a:xfrm>
            <a:off x="723900" y="1314450"/>
            <a:ext cx="10668000" cy="2209800"/>
          </a:xfrm>
          <a:prstGeom prst="rect">
            <a:avLst/>
          </a:prstGeom>
          <a:noFill/>
          <a:ln w="0">
            <a:noFill/>
          </a:ln>
        </p:spPr>
        <p:txBody>
          <a:bodyPr lIns="0" tIns="0" rIns="0" bIns="0" anchor="t"/>
          <a:lstStyle>
            <a:defPPr>
              <a:defRPr sz="5925" b="1">
                <a:solidFill>
                  <a:srgbClr val="F5F3EC"/>
                </a:solidFill>
              </a:defRPr>
            </a:defPPr>
            <a:lvl1pPr>
              <a:defRPr sz="5925" b="1">
                <a:solidFill>
                  <a:srgbClr val="F5F3EC"/>
                </a:solidFill>
              </a:defRPr>
            </a:lvl1pPr>
            <a:lvl2pPr>
              <a:defRPr sz="5925" b="1">
                <a:solidFill>
                  <a:srgbClr val="F5F3EC"/>
                </a:solidFill>
              </a:defRPr>
            </a:lvl2pPr>
            <a:lvl3pPr>
              <a:defRPr sz="5925" b="1">
                <a:solidFill>
                  <a:srgbClr val="F5F3EC"/>
                </a:solidFill>
              </a:defRPr>
            </a:lvl3pPr>
            <a:lvl4pPr>
              <a:defRPr sz="5925" b="1">
                <a:solidFill>
                  <a:srgbClr val="F5F3EC"/>
                </a:solidFill>
              </a:defRPr>
            </a:lvl4pPr>
            <a:lvl5pPr>
              <a:defRPr sz="5925" b="1">
                <a:solidFill>
                  <a:srgbClr val="F5F3EC"/>
                </a:solidFill>
              </a:defRPr>
            </a:lvl5pPr>
            <a:lvl6pPr>
              <a:defRPr sz="5925" b="1">
                <a:solidFill>
                  <a:srgbClr val="F5F3EC"/>
                </a:solidFill>
              </a:defRPr>
            </a:lvl6pPr>
            <a:lvl7pPr>
              <a:defRPr sz="5925" b="1">
                <a:solidFill>
                  <a:srgbClr val="F5F3EC"/>
                </a:solidFill>
              </a:defRPr>
            </a:lvl7pPr>
            <a:lvl8pPr>
              <a:defRPr sz="5925" b="1">
                <a:solidFill>
                  <a:srgbClr val="F5F3EC"/>
                </a:solidFill>
              </a:defRPr>
            </a:lvl8pPr>
            <a:lvl9pPr>
              <a:defRPr sz="5925" b="1">
                <a:solidFill>
                  <a:srgbClr val="F5F3EC"/>
                </a:solidFill>
              </a:defRPr>
            </a:lvl9pPr>
          </a:lstStyle>
          <a:p>
            <a:pPr>
              <a:defRPr sz="5925" b="1">
                <a:solidFill>
                  <a:srgbClr val="F5F3EC"/>
                </a:solidFill>
              </a:defRPr>
            </a:pPr>
            <a:r>
              <a:rPr sz="5925" b="1" dirty="0">
                <a:solidFill>
                  <a:srgbClr val="F5F3EC"/>
                </a:solidFill>
              </a:rPr>
              <a:t>One batch.</a:t>
            </a:r>
          </a:p>
          <a:p>
            <a:pPr>
              <a:defRPr sz="5925" b="1">
                <a:solidFill>
                  <a:srgbClr val="F5F3EC"/>
                </a:solidFill>
              </a:defRPr>
            </a:pPr>
            <a:r>
              <a:rPr sz="5925" b="1" dirty="0">
                <a:solidFill>
                  <a:srgbClr val="F5F3EC"/>
                </a:solidFill>
              </a:rPr>
              <a:t>One complete journey.</a:t>
            </a:r>
          </a:p>
        </p:txBody>
      </p:sp>
      <p:sp>
        <p:nvSpPr>
          <p:cNvPr id="3" name="demo">
            <a:extLst>
              <a:ext uri="{FF2B5EF4-FFF2-40B4-BE49-F238E27FC236}">
                <a16:creationId xmlns:a16="http://schemas.microsoft.com/office/drawing/2014/main" id="{81DF3165-29F4-4070-AEB5-0E7A7190540B}"/>
              </a:ext>
            </a:extLst>
          </p:cNvPr>
          <p:cNvSpPr>
            <a:spLocks noGrp="1"/>
          </p:cNvSpPr>
          <p:nvPr/>
        </p:nvSpPr>
        <p:spPr>
          <a:xfrm>
            <a:off x="762000" y="4229100"/>
            <a:ext cx="10668000" cy="495300"/>
          </a:xfrm>
          <a:prstGeom prst="rect">
            <a:avLst/>
          </a:prstGeom>
          <a:noFill/>
          <a:ln w="0">
            <a:noFill/>
          </a:ln>
        </p:spPr>
        <p:txBody>
          <a:bodyPr lIns="0" tIns="0" rIns="0" bIns="0" anchor="t"/>
          <a:lstStyle>
            <a:defPPr>
              <a:defRPr sz="1875" b="1">
                <a:solidFill>
                  <a:srgbClr val="8BD4C0"/>
                </a:solidFill>
              </a:defRPr>
            </a:defPPr>
            <a:lvl1pPr>
              <a:defRPr sz="1875" b="1">
                <a:solidFill>
                  <a:srgbClr val="8BD4C0"/>
                </a:solidFill>
              </a:defRPr>
            </a:lvl1pPr>
            <a:lvl2pPr>
              <a:defRPr sz="1875" b="1">
                <a:solidFill>
                  <a:srgbClr val="8BD4C0"/>
                </a:solidFill>
              </a:defRPr>
            </a:lvl2pPr>
            <a:lvl3pPr>
              <a:defRPr sz="1875" b="1">
                <a:solidFill>
                  <a:srgbClr val="8BD4C0"/>
                </a:solidFill>
              </a:defRPr>
            </a:lvl3pPr>
            <a:lvl4pPr>
              <a:defRPr sz="1875" b="1">
                <a:solidFill>
                  <a:srgbClr val="8BD4C0"/>
                </a:solidFill>
              </a:defRPr>
            </a:lvl4pPr>
            <a:lvl5pPr>
              <a:defRPr sz="1875" b="1">
                <a:solidFill>
                  <a:srgbClr val="8BD4C0"/>
                </a:solidFill>
              </a:defRPr>
            </a:lvl5pPr>
            <a:lvl6pPr>
              <a:defRPr sz="1875" b="1">
                <a:solidFill>
                  <a:srgbClr val="8BD4C0"/>
                </a:solidFill>
              </a:defRPr>
            </a:lvl6pPr>
            <a:lvl7pPr>
              <a:defRPr sz="1875" b="1">
                <a:solidFill>
                  <a:srgbClr val="8BD4C0"/>
                </a:solidFill>
              </a:defRPr>
            </a:lvl7pPr>
            <a:lvl8pPr>
              <a:defRPr sz="1875" b="1">
                <a:solidFill>
                  <a:srgbClr val="8BD4C0"/>
                </a:solidFill>
              </a:defRPr>
            </a:lvl8pPr>
            <a:lvl9pPr>
              <a:defRPr sz="1875" b="1">
                <a:solidFill>
                  <a:srgbClr val="8BD4C0"/>
                </a:solidFill>
              </a:defRPr>
            </a:lvl9pPr>
          </a:lstStyle>
          <a:p>
            <a:pPr>
              <a:defRPr sz="1875" b="1">
                <a:solidFill>
                  <a:srgbClr val="8BD4C0"/>
                </a:solidFill>
              </a:defRPr>
            </a:pPr>
            <a:r>
              <a:rPr sz="1875" b="1">
                <a:solidFill>
                  <a:srgbClr val="8BD4C0"/>
                </a:solidFill>
              </a:rPr>
              <a:t>PROTOTYPE DEMONSTRATION</a:t>
            </a:r>
          </a:p>
        </p:txBody>
      </p:sp>
      <p:sp>
        <p:nvSpPr>
          <p:cNvPr id="4" name="label">
            <a:extLst>
              <a:ext uri="{FF2B5EF4-FFF2-40B4-BE49-F238E27FC236}">
                <a16:creationId xmlns:a16="http://schemas.microsoft.com/office/drawing/2014/main" id="{4C13DE10-33C0-4152-920A-13B375FE259D}"/>
              </a:ext>
            </a:extLst>
          </p:cNvPr>
          <p:cNvSpPr>
            <a:spLocks noGrp="1"/>
          </p:cNvSpPr>
          <p:nvPr/>
        </p:nvSpPr>
        <p:spPr>
          <a:xfrm>
            <a:off x="762000" y="5619750"/>
            <a:ext cx="10668000" cy="400050"/>
          </a:xfrm>
          <a:prstGeom prst="rect">
            <a:avLst/>
          </a:prstGeom>
          <a:noFill/>
          <a:ln w="0">
            <a:noFill/>
          </a:ln>
        </p:spPr>
        <p:txBody>
          <a:bodyPr lIns="0" tIns="0" rIns="0" bIns="0" anchor="t"/>
          <a:lstStyle>
            <a:defPPr>
              <a:defRPr sz="1725" b="0">
                <a:solidFill>
                  <a:srgbClr val="B1C1C5"/>
                </a:solidFill>
              </a:defRPr>
            </a:defPPr>
            <a:lvl1pPr>
              <a:defRPr sz="1725" b="0">
                <a:solidFill>
                  <a:srgbClr val="B1C1C5"/>
                </a:solidFill>
              </a:defRPr>
            </a:lvl1pPr>
            <a:lvl2pPr>
              <a:defRPr sz="1725" b="0">
                <a:solidFill>
                  <a:srgbClr val="B1C1C5"/>
                </a:solidFill>
              </a:defRPr>
            </a:lvl2pPr>
            <a:lvl3pPr>
              <a:defRPr sz="1725" b="0">
                <a:solidFill>
                  <a:srgbClr val="B1C1C5"/>
                </a:solidFill>
              </a:defRPr>
            </a:lvl3pPr>
            <a:lvl4pPr>
              <a:defRPr sz="1725" b="0">
                <a:solidFill>
                  <a:srgbClr val="B1C1C5"/>
                </a:solidFill>
              </a:defRPr>
            </a:lvl4pPr>
            <a:lvl5pPr>
              <a:defRPr sz="1725" b="0">
                <a:solidFill>
                  <a:srgbClr val="B1C1C5"/>
                </a:solidFill>
              </a:defRPr>
            </a:lvl5pPr>
            <a:lvl6pPr>
              <a:defRPr sz="1725" b="0">
                <a:solidFill>
                  <a:srgbClr val="B1C1C5"/>
                </a:solidFill>
              </a:defRPr>
            </a:lvl6pPr>
            <a:lvl7pPr>
              <a:defRPr sz="1725" b="0">
                <a:solidFill>
                  <a:srgbClr val="B1C1C5"/>
                </a:solidFill>
              </a:defRPr>
            </a:lvl7pPr>
            <a:lvl8pPr>
              <a:defRPr sz="1725" b="0">
                <a:solidFill>
                  <a:srgbClr val="B1C1C5"/>
                </a:solidFill>
              </a:defRPr>
            </a:lvl8pPr>
            <a:lvl9pPr>
              <a:defRPr sz="1725" b="0">
                <a:solidFill>
                  <a:srgbClr val="B1C1C5"/>
                </a:solidFill>
              </a:defRPr>
            </a:lvl9pPr>
          </a:lstStyle>
          <a:p>
            <a:pPr>
              <a:defRPr sz="1725" b="0">
                <a:solidFill>
                  <a:srgbClr val="B1C1C5"/>
                </a:solidFill>
              </a:defRPr>
            </a:pPr>
            <a:r>
              <a:rPr sz="1725" b="0">
                <a:solidFill>
                  <a:srgbClr val="B1C1C5"/>
                </a:solidFill>
              </a:rPr>
              <a:t>Synthetic records. Simulated booking.</a:t>
            </a:r>
          </a:p>
        </p:txBody>
      </p:sp>
    </p:spTree>
    <p:extLst>
      <p:ext uri="{BB962C8B-B14F-4D97-AF65-F5344CB8AC3E}">
        <p14:creationId xmlns:p14="http://schemas.microsoft.com/office/powerpoint/2010/main" val="9208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A522688-2F7C-47FF-AE3B-CB4C00ED6BB6}"/>
              </a:ext>
            </a:extLst>
          </p:cNvPr>
          <p:cNvSpPr>
            <a:spLocks noGrp="1"/>
          </p:cNvSpPr>
          <p:nvPr/>
        </p:nvSpPr>
        <p:spPr>
          <a:xfrm>
            <a:off x="723900" y="628650"/>
            <a:ext cx="10668000" cy="742950"/>
          </a:xfrm>
          <a:prstGeom prst="rect">
            <a:avLst/>
          </a:prstGeom>
          <a:noFill/>
          <a:ln w="0">
            <a:noFill/>
          </a:ln>
        </p:spPr>
        <p:txBody>
          <a:bodyPr lIns="0" tIns="0" rIns="0" bIns="0" anchor="t"/>
          <a:lstStyle>
            <a:defPPr>
              <a:defRPr sz="4050" b="1">
                <a:solidFill>
                  <a:srgbClr val="152D37"/>
                </a:solidFill>
              </a:defRPr>
            </a:defPPr>
            <a:lvl1pPr>
              <a:defRPr sz="4050" b="1">
                <a:solidFill>
                  <a:srgbClr val="152D37"/>
                </a:solidFill>
              </a:defRPr>
            </a:lvl1pPr>
            <a:lvl2pPr>
              <a:defRPr sz="4050" b="1">
                <a:solidFill>
                  <a:srgbClr val="152D37"/>
                </a:solidFill>
              </a:defRPr>
            </a:lvl2pPr>
            <a:lvl3pPr>
              <a:defRPr sz="4050" b="1">
                <a:solidFill>
                  <a:srgbClr val="152D37"/>
                </a:solidFill>
              </a:defRPr>
            </a:lvl3pPr>
            <a:lvl4pPr>
              <a:defRPr sz="4050" b="1">
                <a:solidFill>
                  <a:srgbClr val="152D37"/>
                </a:solidFill>
              </a:defRPr>
            </a:lvl4pPr>
            <a:lvl5pPr>
              <a:defRPr sz="4050" b="1">
                <a:solidFill>
                  <a:srgbClr val="152D37"/>
                </a:solidFill>
              </a:defRPr>
            </a:lvl5pPr>
            <a:lvl6pPr>
              <a:defRPr sz="4050" b="1">
                <a:solidFill>
                  <a:srgbClr val="152D37"/>
                </a:solidFill>
              </a:defRPr>
            </a:lvl6pPr>
            <a:lvl7pPr>
              <a:defRPr sz="4050" b="1">
                <a:solidFill>
                  <a:srgbClr val="152D37"/>
                </a:solidFill>
              </a:defRPr>
            </a:lvl7pPr>
            <a:lvl8pPr>
              <a:defRPr sz="4050" b="1">
                <a:solidFill>
                  <a:srgbClr val="152D37"/>
                </a:solidFill>
              </a:defRPr>
            </a:lvl8pPr>
            <a:lvl9pPr>
              <a:defRPr sz="4050" b="1">
                <a:solidFill>
                  <a:srgbClr val="152D37"/>
                </a:solidFill>
              </a:defRPr>
            </a:lvl9pPr>
          </a:lstStyle>
          <a:p>
            <a:pPr>
              <a:defRPr sz="4050" b="1">
                <a:solidFill>
                  <a:srgbClr val="152D37"/>
                </a:solidFill>
              </a:defRPr>
            </a:pPr>
            <a:r>
              <a:rPr sz="4050" b="1">
                <a:solidFill>
                  <a:srgbClr val="152D37"/>
                </a:solidFill>
              </a:rPr>
              <a:t>Cash recovered and space released</a:t>
            </a:r>
          </a:p>
        </p:txBody>
      </p:sp>
      <p:sp>
        <p:nvSpPr>
          <p:cNvPr id="3" name="recovery">
            <a:extLst>
              <a:ext uri="{FF2B5EF4-FFF2-40B4-BE49-F238E27FC236}">
                <a16:creationId xmlns:a16="http://schemas.microsoft.com/office/drawing/2014/main" id="{D27D2B57-C346-4035-AF90-79CC0770406C}"/>
              </a:ext>
            </a:extLst>
          </p:cNvPr>
          <p:cNvSpPr>
            <a:spLocks noGrp="1"/>
          </p:cNvSpPr>
          <p:nvPr/>
        </p:nvSpPr>
        <p:spPr>
          <a:xfrm>
            <a:off x="723900" y="1924050"/>
            <a:ext cx="5048250" cy="1028700"/>
          </a:xfrm>
          <a:prstGeom prst="rect">
            <a:avLst/>
          </a:prstGeom>
          <a:noFill/>
          <a:ln w="0">
            <a:noFill/>
          </a:ln>
        </p:spPr>
        <p:txBody>
          <a:bodyPr lIns="0" tIns="0" rIns="0" bIns="0" anchor="t"/>
          <a:lstStyle>
            <a:defPPr>
              <a:defRPr sz="6300" b="1">
                <a:solidFill>
                  <a:srgbClr val="16745E"/>
                </a:solidFill>
              </a:defRPr>
            </a:defPPr>
            <a:lvl1pPr>
              <a:defRPr sz="6300" b="1">
                <a:solidFill>
                  <a:srgbClr val="16745E"/>
                </a:solidFill>
              </a:defRPr>
            </a:lvl1pPr>
            <a:lvl2pPr>
              <a:defRPr sz="6300" b="1">
                <a:solidFill>
                  <a:srgbClr val="16745E"/>
                </a:solidFill>
              </a:defRPr>
            </a:lvl2pPr>
            <a:lvl3pPr>
              <a:defRPr sz="6300" b="1">
                <a:solidFill>
                  <a:srgbClr val="16745E"/>
                </a:solidFill>
              </a:defRPr>
            </a:lvl3pPr>
            <a:lvl4pPr>
              <a:defRPr sz="6300" b="1">
                <a:solidFill>
                  <a:srgbClr val="16745E"/>
                </a:solidFill>
              </a:defRPr>
            </a:lvl4pPr>
            <a:lvl5pPr>
              <a:defRPr sz="6300" b="1">
                <a:solidFill>
                  <a:srgbClr val="16745E"/>
                </a:solidFill>
              </a:defRPr>
            </a:lvl5pPr>
            <a:lvl6pPr>
              <a:defRPr sz="6300" b="1">
                <a:solidFill>
                  <a:srgbClr val="16745E"/>
                </a:solidFill>
              </a:defRPr>
            </a:lvl6pPr>
            <a:lvl7pPr>
              <a:defRPr sz="6300" b="1">
                <a:solidFill>
                  <a:srgbClr val="16745E"/>
                </a:solidFill>
              </a:defRPr>
            </a:lvl7pPr>
            <a:lvl8pPr>
              <a:defRPr sz="6300" b="1">
                <a:solidFill>
                  <a:srgbClr val="16745E"/>
                </a:solidFill>
              </a:defRPr>
            </a:lvl8pPr>
            <a:lvl9pPr>
              <a:defRPr sz="6300" b="1">
                <a:solidFill>
                  <a:srgbClr val="16745E"/>
                </a:solidFill>
              </a:defRPr>
            </a:lvl9pPr>
          </a:lstStyle>
          <a:p>
            <a:pPr>
              <a:defRPr sz="6300" b="1">
                <a:solidFill>
                  <a:srgbClr val="16745E"/>
                </a:solidFill>
              </a:defRPr>
            </a:pPr>
            <a:r>
              <a:rPr sz="6300" b="1">
                <a:solidFill>
                  <a:srgbClr val="16745E"/>
                </a:solidFill>
              </a:rPr>
              <a:t>RM900</a:t>
            </a:r>
          </a:p>
        </p:txBody>
      </p:sp>
      <p:sp>
        <p:nvSpPr>
          <p:cNvPr id="4" name="recovery-label">
            <a:extLst>
              <a:ext uri="{FF2B5EF4-FFF2-40B4-BE49-F238E27FC236}">
                <a16:creationId xmlns:a16="http://schemas.microsoft.com/office/drawing/2014/main" id="{751E1D02-D20B-4027-A757-5B5B60E20F6D}"/>
              </a:ext>
            </a:extLst>
          </p:cNvPr>
          <p:cNvSpPr>
            <a:spLocks noGrp="1"/>
          </p:cNvSpPr>
          <p:nvPr/>
        </p:nvSpPr>
        <p:spPr>
          <a:xfrm>
            <a:off x="762000" y="3162300"/>
            <a:ext cx="5048250" cy="1085850"/>
          </a:xfrm>
          <a:prstGeom prst="rect">
            <a:avLst/>
          </a:prstGeom>
          <a:noFill/>
          <a:ln w="0">
            <a:noFill/>
          </a:ln>
        </p:spPr>
        <p:txBody>
          <a:bodyPr lIns="0" tIns="0" rIns="0" bIns="0" anchor="t"/>
          <a:lstStyle>
            <a:defPPr>
              <a:defRPr sz="2550" b="0">
                <a:solidFill>
                  <a:srgbClr val="152D37"/>
                </a:solidFill>
              </a:defRPr>
            </a:defPPr>
            <a:lvl1pPr>
              <a:defRPr sz="2550" b="0">
                <a:solidFill>
                  <a:srgbClr val="152D37"/>
                </a:solidFill>
              </a:defRPr>
            </a:lvl1pPr>
            <a:lvl2pPr>
              <a:defRPr sz="2550" b="0">
                <a:solidFill>
                  <a:srgbClr val="152D37"/>
                </a:solidFill>
              </a:defRPr>
            </a:lvl2pPr>
            <a:lvl3pPr>
              <a:defRPr sz="2550" b="0">
                <a:solidFill>
                  <a:srgbClr val="152D37"/>
                </a:solidFill>
              </a:defRPr>
            </a:lvl3pPr>
            <a:lvl4pPr>
              <a:defRPr sz="2550" b="0">
                <a:solidFill>
                  <a:srgbClr val="152D37"/>
                </a:solidFill>
              </a:defRPr>
            </a:lvl4pPr>
            <a:lvl5pPr>
              <a:defRPr sz="2550" b="0">
                <a:solidFill>
                  <a:srgbClr val="152D37"/>
                </a:solidFill>
              </a:defRPr>
            </a:lvl5pPr>
            <a:lvl6pPr>
              <a:defRPr sz="2550" b="0">
                <a:solidFill>
                  <a:srgbClr val="152D37"/>
                </a:solidFill>
              </a:defRPr>
            </a:lvl6pPr>
            <a:lvl7pPr>
              <a:defRPr sz="2550" b="0">
                <a:solidFill>
                  <a:srgbClr val="152D37"/>
                </a:solidFill>
              </a:defRPr>
            </a:lvl7pPr>
            <a:lvl8pPr>
              <a:defRPr sz="2550" b="0">
                <a:solidFill>
                  <a:srgbClr val="152D37"/>
                </a:solidFill>
              </a:defRPr>
            </a:lvl8pPr>
            <a:lvl9pPr>
              <a:defRPr sz="2550" b="0">
                <a:solidFill>
                  <a:srgbClr val="152D37"/>
                </a:solidFill>
              </a:defRPr>
            </a:lvl9pPr>
          </a:lstStyle>
          <a:p>
            <a:pPr>
              <a:defRPr sz="2550" b="0">
                <a:solidFill>
                  <a:srgbClr val="152D37"/>
                </a:solidFill>
              </a:defRPr>
            </a:pPr>
            <a:r>
              <a:rPr sz="2550" b="0">
                <a:solidFill>
                  <a:srgbClr val="152D37"/>
                </a:solidFill>
              </a:rPr>
              <a:t>Cash recovered after</a:t>
            </a:r>
          </a:p>
          <a:p>
            <a:pPr>
              <a:defRPr sz="2550" b="0">
                <a:solidFill>
                  <a:srgbClr val="152D37"/>
                </a:solidFill>
              </a:defRPr>
            </a:pPr>
            <a:r>
              <a:rPr sz="2550" b="0">
                <a:solidFill>
                  <a:srgbClr val="152D37"/>
                </a:solidFill>
              </a:rPr>
              <a:t>delivery and packing</a:t>
            </a:r>
          </a:p>
        </p:txBody>
      </p:sp>
      <p:sp>
        <p:nvSpPr>
          <p:cNvPr id="5" name="cost">
            <a:extLst>
              <a:ext uri="{FF2B5EF4-FFF2-40B4-BE49-F238E27FC236}">
                <a16:creationId xmlns:a16="http://schemas.microsoft.com/office/drawing/2014/main" id="{9CCB5058-604C-4C94-A3AB-59EA8CE20025}"/>
              </a:ext>
            </a:extLst>
          </p:cNvPr>
          <p:cNvSpPr>
            <a:spLocks noGrp="1"/>
          </p:cNvSpPr>
          <p:nvPr/>
        </p:nvSpPr>
        <p:spPr>
          <a:xfrm>
            <a:off x="6705600" y="1924050"/>
            <a:ext cx="4762500" cy="1028700"/>
          </a:xfrm>
          <a:prstGeom prst="rect">
            <a:avLst/>
          </a:prstGeom>
          <a:noFill/>
          <a:ln w="0">
            <a:noFill/>
          </a:ln>
        </p:spPr>
        <p:txBody>
          <a:bodyPr lIns="0" tIns="0" rIns="0" bIns="0" anchor="t"/>
          <a:lstStyle>
            <a:defPPr>
              <a:defRPr sz="6300" b="1">
                <a:solidFill>
                  <a:srgbClr val="152D37"/>
                </a:solidFill>
              </a:defRPr>
            </a:defPPr>
            <a:lvl1pPr>
              <a:defRPr sz="6300" b="1">
                <a:solidFill>
                  <a:srgbClr val="152D37"/>
                </a:solidFill>
              </a:defRPr>
            </a:lvl1pPr>
            <a:lvl2pPr>
              <a:defRPr sz="6300" b="1">
                <a:solidFill>
                  <a:srgbClr val="152D37"/>
                </a:solidFill>
              </a:defRPr>
            </a:lvl2pPr>
            <a:lvl3pPr>
              <a:defRPr sz="6300" b="1">
                <a:solidFill>
                  <a:srgbClr val="152D37"/>
                </a:solidFill>
              </a:defRPr>
            </a:lvl3pPr>
            <a:lvl4pPr>
              <a:defRPr sz="6300" b="1">
                <a:solidFill>
                  <a:srgbClr val="152D37"/>
                </a:solidFill>
              </a:defRPr>
            </a:lvl4pPr>
            <a:lvl5pPr>
              <a:defRPr sz="6300" b="1">
                <a:solidFill>
                  <a:srgbClr val="152D37"/>
                </a:solidFill>
              </a:defRPr>
            </a:lvl5pPr>
            <a:lvl6pPr>
              <a:defRPr sz="6300" b="1">
                <a:solidFill>
                  <a:srgbClr val="152D37"/>
                </a:solidFill>
              </a:defRPr>
            </a:lvl6pPr>
            <a:lvl7pPr>
              <a:defRPr sz="6300" b="1">
                <a:solidFill>
                  <a:srgbClr val="152D37"/>
                </a:solidFill>
              </a:defRPr>
            </a:lvl7pPr>
            <a:lvl8pPr>
              <a:defRPr sz="6300" b="1">
                <a:solidFill>
                  <a:srgbClr val="152D37"/>
                </a:solidFill>
              </a:defRPr>
            </a:lvl8pPr>
            <a:lvl9pPr>
              <a:defRPr sz="6300" b="1">
                <a:solidFill>
                  <a:srgbClr val="152D37"/>
                </a:solidFill>
              </a:defRPr>
            </a:lvl9pPr>
          </a:lstStyle>
          <a:p>
            <a:pPr>
              <a:defRPr sz="6300" b="1">
                <a:solidFill>
                  <a:srgbClr val="152D37"/>
                </a:solidFill>
              </a:defRPr>
            </a:pPr>
            <a:r>
              <a:rPr sz="6300" b="1">
                <a:solidFill>
                  <a:srgbClr val="152D37"/>
                </a:solidFill>
              </a:rPr>
              <a:t>1 bay</a:t>
            </a:r>
          </a:p>
        </p:txBody>
      </p:sp>
      <p:sp>
        <p:nvSpPr>
          <p:cNvPr id="6" name="cost-label">
            <a:extLst>
              <a:ext uri="{FF2B5EF4-FFF2-40B4-BE49-F238E27FC236}">
                <a16:creationId xmlns:a16="http://schemas.microsoft.com/office/drawing/2014/main" id="{23AF27EE-1DBB-43BB-A8F9-FDD60475DA35}"/>
              </a:ext>
            </a:extLst>
          </p:cNvPr>
          <p:cNvSpPr>
            <a:spLocks noGrp="1"/>
          </p:cNvSpPr>
          <p:nvPr/>
        </p:nvSpPr>
        <p:spPr>
          <a:xfrm>
            <a:off x="6762750" y="3162300"/>
            <a:ext cx="4667250" cy="1085850"/>
          </a:xfrm>
          <a:prstGeom prst="rect">
            <a:avLst/>
          </a:prstGeom>
          <a:noFill/>
          <a:ln w="0">
            <a:noFill/>
          </a:ln>
        </p:spPr>
        <p:txBody>
          <a:bodyPr lIns="0" tIns="0" rIns="0" bIns="0" anchor="t"/>
          <a:lstStyle>
            <a:defPPr>
              <a:defRPr sz="2550" b="0">
                <a:solidFill>
                  <a:srgbClr val="152D37"/>
                </a:solidFill>
              </a:defRPr>
            </a:defPPr>
            <a:lvl1pPr>
              <a:defRPr sz="2550" b="0">
                <a:solidFill>
                  <a:srgbClr val="152D37"/>
                </a:solidFill>
              </a:defRPr>
            </a:lvl1pPr>
            <a:lvl2pPr>
              <a:defRPr sz="2550" b="0">
                <a:solidFill>
                  <a:srgbClr val="152D37"/>
                </a:solidFill>
              </a:defRPr>
            </a:lvl2pPr>
            <a:lvl3pPr>
              <a:defRPr sz="2550" b="0">
                <a:solidFill>
                  <a:srgbClr val="152D37"/>
                </a:solidFill>
              </a:defRPr>
            </a:lvl3pPr>
            <a:lvl4pPr>
              <a:defRPr sz="2550" b="0">
                <a:solidFill>
                  <a:srgbClr val="152D37"/>
                </a:solidFill>
              </a:defRPr>
            </a:lvl4pPr>
            <a:lvl5pPr>
              <a:defRPr sz="2550" b="0">
                <a:solidFill>
                  <a:srgbClr val="152D37"/>
                </a:solidFill>
              </a:defRPr>
            </a:lvl5pPr>
            <a:lvl6pPr>
              <a:defRPr sz="2550" b="0">
                <a:solidFill>
                  <a:srgbClr val="152D37"/>
                </a:solidFill>
              </a:defRPr>
            </a:lvl6pPr>
            <a:lvl7pPr>
              <a:defRPr sz="2550" b="0">
                <a:solidFill>
                  <a:srgbClr val="152D37"/>
                </a:solidFill>
              </a:defRPr>
            </a:lvl7pPr>
            <a:lvl8pPr>
              <a:defRPr sz="2550" b="0">
                <a:solidFill>
                  <a:srgbClr val="152D37"/>
                </a:solidFill>
              </a:defRPr>
            </a:lvl8pPr>
            <a:lvl9pPr>
              <a:defRPr sz="2550" b="0">
                <a:solidFill>
                  <a:srgbClr val="152D37"/>
                </a:solidFill>
              </a:defRPr>
            </a:lvl9pPr>
          </a:lstStyle>
          <a:p>
            <a:pPr>
              <a:defRPr sz="2550" b="0">
                <a:solidFill>
                  <a:srgbClr val="152D37"/>
                </a:solidFill>
              </a:defRPr>
            </a:pPr>
            <a:r>
              <a:rPr sz="2550" b="0">
                <a:solidFill>
                  <a:srgbClr val="152D37"/>
                </a:solidFill>
              </a:rPr>
              <a:t>Physically released</a:t>
            </a:r>
          </a:p>
          <a:p>
            <a:pPr>
              <a:defRPr sz="2550" b="0">
                <a:solidFill>
                  <a:srgbClr val="152D37"/>
                </a:solidFill>
              </a:defRPr>
            </a:pPr>
            <a:r>
              <a:rPr sz="2550" b="0">
                <a:solidFill>
                  <a:srgbClr val="152D37"/>
                </a:solidFill>
              </a:rPr>
              <a:t>after collection</a:t>
            </a:r>
          </a:p>
        </p:txBody>
      </p:sp>
      <p:sp>
        <p:nvSpPr>
          <p:cNvPr id="7" name="test">
            <a:extLst>
              <a:ext uri="{FF2B5EF4-FFF2-40B4-BE49-F238E27FC236}">
                <a16:creationId xmlns:a16="http://schemas.microsoft.com/office/drawing/2014/main" id="{517530B0-5F31-47DF-845F-28835E9821CF}"/>
              </a:ext>
            </a:extLst>
          </p:cNvPr>
          <p:cNvSpPr>
            <a:spLocks noGrp="1"/>
          </p:cNvSpPr>
          <p:nvPr/>
        </p:nvSpPr>
        <p:spPr>
          <a:xfrm>
            <a:off x="762000" y="4848225"/>
            <a:ext cx="10668000" cy="685800"/>
          </a:xfrm>
          <a:prstGeom prst="rect">
            <a:avLst/>
          </a:prstGeom>
          <a:noFill/>
          <a:ln w="0">
            <a:noFill/>
          </a:ln>
        </p:spPr>
        <p:txBody>
          <a:bodyPr lIns="0" tIns="0" rIns="0" bIns="0" anchor="t"/>
          <a:lstStyle>
            <a:defPPr>
              <a:defRPr sz="2550" b="1">
                <a:solidFill>
                  <a:srgbClr val="152D37"/>
                </a:solidFill>
              </a:defRPr>
            </a:defPPr>
            <a:lvl1pPr>
              <a:defRPr sz="2550" b="1">
                <a:solidFill>
                  <a:srgbClr val="152D37"/>
                </a:solidFill>
              </a:defRPr>
            </a:lvl1pPr>
            <a:lvl2pPr>
              <a:defRPr sz="2550" b="1">
                <a:solidFill>
                  <a:srgbClr val="152D37"/>
                </a:solidFill>
              </a:defRPr>
            </a:lvl2pPr>
            <a:lvl3pPr>
              <a:defRPr sz="2550" b="1">
                <a:solidFill>
                  <a:srgbClr val="152D37"/>
                </a:solidFill>
              </a:defRPr>
            </a:lvl3pPr>
            <a:lvl4pPr>
              <a:defRPr sz="2550" b="1">
                <a:solidFill>
                  <a:srgbClr val="152D37"/>
                </a:solidFill>
              </a:defRPr>
            </a:lvl4pPr>
            <a:lvl5pPr>
              <a:defRPr sz="2550" b="1">
                <a:solidFill>
                  <a:srgbClr val="152D37"/>
                </a:solidFill>
              </a:defRPr>
            </a:lvl5pPr>
            <a:lvl6pPr>
              <a:defRPr sz="2550" b="1">
                <a:solidFill>
                  <a:srgbClr val="152D37"/>
                </a:solidFill>
              </a:defRPr>
            </a:lvl6pPr>
            <a:lvl7pPr>
              <a:defRPr sz="2550" b="1">
                <a:solidFill>
                  <a:srgbClr val="152D37"/>
                </a:solidFill>
              </a:defRPr>
            </a:lvl7pPr>
            <a:lvl8pPr>
              <a:defRPr sz="2550" b="1">
                <a:solidFill>
                  <a:srgbClr val="152D37"/>
                </a:solidFill>
              </a:defRPr>
            </a:lvl8pPr>
            <a:lvl9pPr>
              <a:defRPr sz="2550" b="1">
                <a:solidFill>
                  <a:srgbClr val="152D37"/>
                </a:solidFill>
              </a:defRPr>
            </a:lvl9pPr>
          </a:lstStyle>
          <a:p>
            <a:pPr>
              <a:defRPr sz="2550" b="1">
                <a:solidFill>
                  <a:srgbClr val="152D37"/>
                </a:solidFill>
              </a:defRPr>
            </a:pPr>
            <a:r>
              <a:rPr sz="2550" b="1">
                <a:solidFill>
                  <a:srgbClr val="152D37"/>
                </a:solidFill>
              </a:rPr>
              <a:t>Adoption test: additional benefit exceeds total cost</a:t>
            </a:r>
          </a:p>
        </p:txBody>
      </p:sp>
      <p:sp>
        <p:nvSpPr>
          <p:cNvPr id="8" name="caveat">
            <a:extLst>
              <a:ext uri="{FF2B5EF4-FFF2-40B4-BE49-F238E27FC236}">
                <a16:creationId xmlns:a16="http://schemas.microsoft.com/office/drawing/2014/main" id="{29FDD88A-6DBC-4289-8472-BBF66819A231}"/>
              </a:ext>
            </a:extLst>
          </p:cNvPr>
          <p:cNvSpPr>
            <a:spLocks noGrp="1"/>
          </p:cNvSpPr>
          <p:nvPr/>
        </p:nvSpPr>
        <p:spPr>
          <a:xfrm>
            <a:off x="762000" y="5905500"/>
            <a:ext cx="10668000" cy="495300"/>
          </a:xfrm>
          <a:prstGeom prst="rect">
            <a:avLst/>
          </a:prstGeom>
          <a:noFill/>
          <a:ln w="0">
            <a:noFill/>
          </a:ln>
        </p:spPr>
        <p:txBody>
          <a:bodyPr lIns="0" tIns="0" rIns="0" bIns="0" anchor="t"/>
          <a:lstStyle>
            <a:defPPr>
              <a:defRPr sz="1650" b="0">
                <a:solidFill>
                  <a:srgbClr val="49616A"/>
                </a:solidFill>
              </a:defRPr>
            </a:defPPr>
            <a:lvl1pPr>
              <a:defRPr sz="1650" b="0">
                <a:solidFill>
                  <a:srgbClr val="49616A"/>
                </a:solidFill>
              </a:defRPr>
            </a:lvl1pPr>
            <a:lvl2pPr>
              <a:defRPr sz="1650" b="0">
                <a:solidFill>
                  <a:srgbClr val="49616A"/>
                </a:solidFill>
              </a:defRPr>
            </a:lvl2pPr>
            <a:lvl3pPr>
              <a:defRPr sz="1650" b="0">
                <a:solidFill>
                  <a:srgbClr val="49616A"/>
                </a:solidFill>
              </a:defRPr>
            </a:lvl3pPr>
            <a:lvl4pPr>
              <a:defRPr sz="1650" b="0">
                <a:solidFill>
                  <a:srgbClr val="49616A"/>
                </a:solidFill>
              </a:defRPr>
            </a:lvl4pPr>
            <a:lvl5pPr>
              <a:defRPr sz="1650" b="0">
                <a:solidFill>
                  <a:srgbClr val="49616A"/>
                </a:solidFill>
              </a:defRPr>
            </a:lvl5pPr>
            <a:lvl6pPr>
              <a:defRPr sz="1650" b="0">
                <a:solidFill>
                  <a:srgbClr val="49616A"/>
                </a:solidFill>
              </a:defRPr>
            </a:lvl6pPr>
            <a:lvl7pPr>
              <a:defRPr sz="1650" b="0">
                <a:solidFill>
                  <a:srgbClr val="49616A"/>
                </a:solidFill>
              </a:defRPr>
            </a:lvl7pPr>
            <a:lvl8pPr>
              <a:defRPr sz="1650" b="0">
                <a:solidFill>
                  <a:srgbClr val="49616A"/>
                </a:solidFill>
              </a:defRPr>
            </a:lvl8pPr>
            <a:lvl9pPr>
              <a:defRPr sz="1650" b="0">
                <a:solidFill>
                  <a:srgbClr val="49616A"/>
                </a:solidFill>
              </a:defRPr>
            </a:lvl9pPr>
          </a:lstStyle>
          <a:p>
            <a:pPr>
              <a:defRPr sz="1650" b="0">
                <a:solidFill>
                  <a:srgbClr val="49616A"/>
                </a:solidFill>
              </a:defRPr>
            </a:pPr>
            <a:r>
              <a:rPr sz="1650" b="0">
                <a:solidFill>
                  <a:srgbClr val="49616A"/>
                </a:solidFill>
              </a:rPr>
              <a:t>Synthetic scenario. RM900 is recovery before original stock cost, not profit.</a:t>
            </a:r>
          </a:p>
        </p:txBody>
      </p:sp>
    </p:spTree>
    <p:extLst>
      <p:ext uri="{BB962C8B-B14F-4D97-AF65-F5344CB8AC3E}">
        <p14:creationId xmlns:p14="http://schemas.microsoft.com/office/powerpoint/2010/main" val="213369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E810718-B660-4418-A917-58D289544A68}"/>
              </a:ext>
            </a:extLst>
          </p:cNvPr>
          <p:cNvSpPr>
            <a:spLocks noGrp="1"/>
          </p:cNvSpPr>
          <p:nvPr/>
        </p:nvSpPr>
        <p:spPr>
          <a:xfrm>
            <a:off x="723900" y="609600"/>
            <a:ext cx="10668000" cy="723900"/>
          </a:xfrm>
          <a:prstGeom prst="rect">
            <a:avLst/>
          </a:prstGeom>
          <a:noFill/>
          <a:ln w="0">
            <a:noFill/>
          </a:ln>
        </p:spPr>
        <p:txBody>
          <a:bodyPr lIns="0" tIns="0" rIns="0" bIns="0" anchor="t"/>
          <a:lstStyle>
            <a:defPPr>
              <a:defRPr sz="4050" b="1">
                <a:solidFill>
                  <a:srgbClr val="152D37"/>
                </a:solidFill>
              </a:defRPr>
            </a:defPPr>
            <a:lvl1pPr>
              <a:defRPr sz="4050" b="1">
                <a:solidFill>
                  <a:srgbClr val="152D37"/>
                </a:solidFill>
              </a:defRPr>
            </a:lvl1pPr>
            <a:lvl2pPr>
              <a:defRPr sz="4050" b="1">
                <a:solidFill>
                  <a:srgbClr val="152D37"/>
                </a:solidFill>
              </a:defRPr>
            </a:lvl2pPr>
            <a:lvl3pPr>
              <a:defRPr sz="4050" b="1">
                <a:solidFill>
                  <a:srgbClr val="152D37"/>
                </a:solidFill>
              </a:defRPr>
            </a:lvl3pPr>
            <a:lvl4pPr>
              <a:defRPr sz="4050" b="1">
                <a:solidFill>
                  <a:srgbClr val="152D37"/>
                </a:solidFill>
              </a:defRPr>
            </a:lvl4pPr>
            <a:lvl5pPr>
              <a:defRPr sz="4050" b="1">
                <a:solidFill>
                  <a:srgbClr val="152D37"/>
                </a:solidFill>
              </a:defRPr>
            </a:lvl5pPr>
            <a:lvl6pPr>
              <a:defRPr sz="4050" b="1">
                <a:solidFill>
                  <a:srgbClr val="152D37"/>
                </a:solidFill>
              </a:defRPr>
            </a:lvl6pPr>
            <a:lvl7pPr>
              <a:defRPr sz="4050" b="1">
                <a:solidFill>
                  <a:srgbClr val="152D37"/>
                </a:solidFill>
              </a:defRPr>
            </a:lvl7pPr>
            <a:lvl8pPr>
              <a:defRPr sz="4050" b="1">
                <a:solidFill>
                  <a:srgbClr val="152D37"/>
                </a:solidFill>
              </a:defRPr>
            </a:lvl8pPr>
            <a:lvl9pPr>
              <a:defRPr sz="4050" b="1">
                <a:solidFill>
                  <a:srgbClr val="152D37"/>
                </a:solidFill>
              </a:defRPr>
            </a:lvl9pPr>
          </a:lstStyle>
          <a:p>
            <a:pPr>
              <a:defRPr sz="4050" b="1">
                <a:solidFill>
                  <a:srgbClr val="152D37"/>
                </a:solidFill>
              </a:defRPr>
            </a:pPr>
            <a:r>
              <a:rPr sz="4050" b="1">
                <a:solidFill>
                  <a:srgbClr val="152D37"/>
                </a:solidFill>
              </a:rPr>
              <a:t>Furniture SMEs first</a:t>
            </a:r>
          </a:p>
        </p:txBody>
      </p:sp>
      <p:sp>
        <p:nvSpPr>
          <p:cNvPr id="3" name="point-0">
            <a:extLst>
              <a:ext uri="{FF2B5EF4-FFF2-40B4-BE49-F238E27FC236}">
                <a16:creationId xmlns:a16="http://schemas.microsoft.com/office/drawing/2014/main" id="{ACD14AC8-472E-4432-99E6-578043F29618}"/>
              </a:ext>
            </a:extLst>
          </p:cNvPr>
          <p:cNvSpPr>
            <a:spLocks noGrp="1"/>
          </p:cNvSpPr>
          <p:nvPr/>
        </p:nvSpPr>
        <p:spPr>
          <a:xfrm>
            <a:off x="762000" y="2105025"/>
            <a:ext cx="10668000" cy="723900"/>
          </a:xfrm>
          <a:prstGeom prst="rect">
            <a:avLst/>
          </a:prstGeom>
          <a:noFill/>
          <a:ln w="0">
            <a:noFill/>
          </a:ln>
        </p:spPr>
        <p:txBody>
          <a:bodyPr lIns="0" tIns="0" rIns="0" bIns="0" anchor="t"/>
          <a:lstStyle>
            <a:defPPr>
              <a:defRPr sz="3000" b="1">
                <a:solidFill>
                  <a:srgbClr val="152D37"/>
                </a:solidFill>
              </a:defRPr>
            </a:defPPr>
            <a:lvl1pPr>
              <a:defRPr sz="3000" b="1">
                <a:solidFill>
                  <a:srgbClr val="152D37"/>
                </a:solidFill>
              </a:defRPr>
            </a:lvl1pPr>
            <a:lvl2pPr>
              <a:defRPr sz="3000" b="1">
                <a:solidFill>
                  <a:srgbClr val="152D37"/>
                </a:solidFill>
              </a:defRPr>
            </a:lvl2pPr>
            <a:lvl3pPr>
              <a:defRPr sz="3000" b="1">
                <a:solidFill>
                  <a:srgbClr val="152D37"/>
                </a:solidFill>
              </a:defRPr>
            </a:lvl3pPr>
            <a:lvl4pPr>
              <a:defRPr sz="3000" b="1">
                <a:solidFill>
                  <a:srgbClr val="152D37"/>
                </a:solidFill>
              </a:defRPr>
            </a:lvl4pPr>
            <a:lvl5pPr>
              <a:defRPr sz="3000" b="1">
                <a:solidFill>
                  <a:srgbClr val="152D37"/>
                </a:solidFill>
              </a:defRPr>
            </a:lvl5pPr>
            <a:lvl6pPr>
              <a:defRPr sz="3000" b="1">
                <a:solidFill>
                  <a:srgbClr val="152D37"/>
                </a:solidFill>
              </a:defRPr>
            </a:lvl6pPr>
            <a:lvl7pPr>
              <a:defRPr sz="3000" b="1">
                <a:solidFill>
                  <a:srgbClr val="152D37"/>
                </a:solidFill>
              </a:defRPr>
            </a:lvl7pPr>
            <a:lvl8pPr>
              <a:defRPr sz="3000" b="1">
                <a:solidFill>
                  <a:srgbClr val="152D37"/>
                </a:solidFill>
              </a:defRPr>
            </a:lvl8pPr>
            <a:lvl9pPr>
              <a:defRPr sz="3000" b="1">
                <a:solidFill>
                  <a:srgbClr val="152D37"/>
                </a:solidFill>
              </a:defRPr>
            </a:lvl9pPr>
          </a:lstStyle>
          <a:p>
            <a:pPr>
              <a:defRPr sz="3000" b="1">
                <a:solidFill>
                  <a:srgbClr val="152D37"/>
                </a:solidFill>
              </a:defRPr>
            </a:pPr>
            <a:r>
              <a:rPr sz="3000" b="1">
                <a:solidFill>
                  <a:srgbClr val="152D37"/>
                </a:solidFill>
              </a:rPr>
              <a:t>Existing records can remain</a:t>
            </a:r>
          </a:p>
        </p:txBody>
      </p:sp>
      <p:sp>
        <p:nvSpPr>
          <p:cNvPr id="4" name="point-1">
            <a:extLst>
              <a:ext uri="{FF2B5EF4-FFF2-40B4-BE49-F238E27FC236}">
                <a16:creationId xmlns:a16="http://schemas.microsoft.com/office/drawing/2014/main" id="{9C87AB89-7A9C-4606-ACB6-F155CA2E1767}"/>
              </a:ext>
            </a:extLst>
          </p:cNvPr>
          <p:cNvSpPr>
            <a:spLocks noGrp="1"/>
          </p:cNvSpPr>
          <p:nvPr/>
        </p:nvSpPr>
        <p:spPr>
          <a:xfrm>
            <a:off x="762000" y="3086100"/>
            <a:ext cx="10668000" cy="723900"/>
          </a:xfrm>
          <a:prstGeom prst="rect">
            <a:avLst/>
          </a:prstGeom>
          <a:noFill/>
          <a:ln w="0">
            <a:noFill/>
          </a:ln>
        </p:spPr>
        <p:txBody>
          <a:bodyPr lIns="0" tIns="0" rIns="0" bIns="0" anchor="t"/>
          <a:lstStyle>
            <a:defPPr>
              <a:defRPr sz="2775" b="0">
                <a:solidFill>
                  <a:srgbClr val="152D37"/>
                </a:solidFill>
              </a:defRPr>
            </a:defPPr>
            <a:lvl1pPr>
              <a:defRPr sz="2775" b="0">
                <a:solidFill>
                  <a:srgbClr val="152D37"/>
                </a:solidFill>
              </a:defRPr>
            </a:lvl1pPr>
            <a:lvl2pPr>
              <a:defRPr sz="2775" b="0">
                <a:solidFill>
                  <a:srgbClr val="152D37"/>
                </a:solidFill>
              </a:defRPr>
            </a:lvl2pPr>
            <a:lvl3pPr>
              <a:defRPr sz="2775" b="0">
                <a:solidFill>
                  <a:srgbClr val="152D37"/>
                </a:solidFill>
              </a:defRPr>
            </a:lvl3pPr>
            <a:lvl4pPr>
              <a:defRPr sz="2775" b="0">
                <a:solidFill>
                  <a:srgbClr val="152D37"/>
                </a:solidFill>
              </a:defRPr>
            </a:lvl4pPr>
            <a:lvl5pPr>
              <a:defRPr sz="2775" b="0">
                <a:solidFill>
                  <a:srgbClr val="152D37"/>
                </a:solidFill>
              </a:defRPr>
            </a:lvl5pPr>
            <a:lvl6pPr>
              <a:defRPr sz="2775" b="0">
                <a:solidFill>
                  <a:srgbClr val="152D37"/>
                </a:solidFill>
              </a:defRPr>
            </a:lvl6pPr>
            <a:lvl7pPr>
              <a:defRPr sz="2775" b="0">
                <a:solidFill>
                  <a:srgbClr val="152D37"/>
                </a:solidFill>
              </a:defRPr>
            </a:lvl7pPr>
            <a:lvl8pPr>
              <a:defRPr sz="2775" b="0">
                <a:solidFill>
                  <a:srgbClr val="152D37"/>
                </a:solidFill>
              </a:defRPr>
            </a:lvl8pPr>
            <a:lvl9pPr>
              <a:defRPr sz="2775" b="0">
                <a:solidFill>
                  <a:srgbClr val="152D37"/>
                </a:solidFill>
              </a:defRPr>
            </a:lvl9pPr>
          </a:lstStyle>
          <a:p>
            <a:pPr>
              <a:defRPr sz="2775" b="0">
                <a:solidFill>
                  <a:srgbClr val="152D37"/>
                </a:solidFill>
              </a:defRPr>
            </a:pPr>
            <a:r>
              <a:rPr sz="2775" b="0">
                <a:solidFill>
                  <a:srgbClr val="152D37"/>
                </a:solidFill>
              </a:rPr>
              <a:t>Shared roles, approvals and activity history</a:t>
            </a:r>
          </a:p>
        </p:txBody>
      </p:sp>
      <p:sp>
        <p:nvSpPr>
          <p:cNvPr id="5" name="point-2">
            <a:extLst>
              <a:ext uri="{FF2B5EF4-FFF2-40B4-BE49-F238E27FC236}">
                <a16:creationId xmlns:a16="http://schemas.microsoft.com/office/drawing/2014/main" id="{42C50BAF-0C7A-430F-9DB1-58706CE894FA}"/>
              </a:ext>
            </a:extLst>
          </p:cNvPr>
          <p:cNvSpPr>
            <a:spLocks noGrp="1"/>
          </p:cNvSpPr>
          <p:nvPr/>
        </p:nvSpPr>
        <p:spPr>
          <a:xfrm>
            <a:off x="762000" y="4067175"/>
            <a:ext cx="10668000" cy="723900"/>
          </a:xfrm>
          <a:prstGeom prst="rect">
            <a:avLst/>
          </a:prstGeom>
          <a:noFill/>
          <a:ln w="0">
            <a:noFill/>
          </a:ln>
        </p:spPr>
        <p:txBody>
          <a:bodyPr lIns="0" tIns="0" rIns="0" bIns="0" anchor="t"/>
          <a:lstStyle>
            <a:defPPr>
              <a:defRPr sz="3000" b="0">
                <a:solidFill>
                  <a:srgbClr val="152D37"/>
                </a:solidFill>
              </a:defRPr>
            </a:defPPr>
            <a:lvl1pPr>
              <a:defRPr sz="3000" b="0">
                <a:solidFill>
                  <a:srgbClr val="152D37"/>
                </a:solidFill>
              </a:defRPr>
            </a:lvl1pPr>
            <a:lvl2pPr>
              <a:defRPr sz="3000" b="0">
                <a:solidFill>
                  <a:srgbClr val="152D37"/>
                </a:solidFill>
              </a:defRPr>
            </a:lvl2pPr>
            <a:lvl3pPr>
              <a:defRPr sz="3000" b="0">
                <a:solidFill>
                  <a:srgbClr val="152D37"/>
                </a:solidFill>
              </a:defRPr>
            </a:lvl3pPr>
            <a:lvl4pPr>
              <a:defRPr sz="3000" b="0">
                <a:solidFill>
                  <a:srgbClr val="152D37"/>
                </a:solidFill>
              </a:defRPr>
            </a:lvl4pPr>
            <a:lvl5pPr>
              <a:defRPr sz="3000" b="0">
                <a:solidFill>
                  <a:srgbClr val="152D37"/>
                </a:solidFill>
              </a:defRPr>
            </a:lvl5pPr>
            <a:lvl6pPr>
              <a:defRPr sz="3000" b="0">
                <a:solidFill>
                  <a:srgbClr val="152D37"/>
                </a:solidFill>
              </a:defRPr>
            </a:lvl6pPr>
            <a:lvl7pPr>
              <a:defRPr sz="3000" b="0">
                <a:solidFill>
                  <a:srgbClr val="152D37"/>
                </a:solidFill>
              </a:defRPr>
            </a:lvl7pPr>
            <a:lvl8pPr>
              <a:defRPr sz="3000" b="0">
                <a:solidFill>
                  <a:srgbClr val="152D37"/>
                </a:solidFill>
              </a:defRPr>
            </a:lvl8pPr>
            <a:lvl9pPr>
              <a:defRPr sz="3000" b="0">
                <a:solidFill>
                  <a:srgbClr val="152D37"/>
                </a:solidFill>
              </a:defRPr>
            </a:lvl9pPr>
          </a:lstStyle>
          <a:p>
            <a:pPr>
              <a:defRPr sz="3000" b="0">
                <a:solidFill>
                  <a:srgbClr val="152D37"/>
                </a:solidFill>
              </a:defRPr>
            </a:pPr>
            <a:r>
              <a:rPr sz="3000" b="0">
                <a:solidFill>
                  <a:srgbClr val="152D37"/>
                </a:solidFill>
              </a:rPr>
              <a:t>A repeatable workflow for other merchants</a:t>
            </a:r>
          </a:p>
        </p:txBody>
      </p:sp>
      <p:sp>
        <p:nvSpPr>
          <p:cNvPr id="6" name="fit">
            <a:extLst>
              <a:ext uri="{FF2B5EF4-FFF2-40B4-BE49-F238E27FC236}">
                <a16:creationId xmlns:a16="http://schemas.microsoft.com/office/drawing/2014/main" id="{6D965F68-FF3C-4847-97B1-E6FD65A30730}"/>
              </a:ext>
            </a:extLst>
          </p:cNvPr>
          <p:cNvSpPr>
            <a:spLocks noGrp="1"/>
          </p:cNvSpPr>
          <p:nvPr/>
        </p:nvSpPr>
        <p:spPr>
          <a:xfrm>
            <a:off x="762000" y="5429250"/>
            <a:ext cx="10668000" cy="790575"/>
          </a:xfrm>
          <a:prstGeom prst="rect">
            <a:avLst/>
          </a:prstGeom>
          <a:noFill/>
          <a:ln w="0">
            <a:noFill/>
          </a:ln>
        </p:spPr>
        <p:txBody>
          <a:bodyPr lIns="0" tIns="0" rIns="0" bIns="0" anchor="t"/>
          <a:lstStyle>
            <a:defPPr>
              <a:defRPr sz="1950" b="0">
                <a:solidFill>
                  <a:srgbClr val="16745E"/>
                </a:solidFill>
              </a:defRPr>
            </a:defPPr>
            <a:lvl1pPr>
              <a:defRPr sz="1950" b="0">
                <a:solidFill>
                  <a:srgbClr val="16745E"/>
                </a:solidFill>
              </a:defRPr>
            </a:lvl1pPr>
            <a:lvl2pPr>
              <a:defRPr sz="1950" b="0">
                <a:solidFill>
                  <a:srgbClr val="16745E"/>
                </a:solidFill>
              </a:defRPr>
            </a:lvl2pPr>
            <a:lvl3pPr>
              <a:defRPr sz="1950" b="0">
                <a:solidFill>
                  <a:srgbClr val="16745E"/>
                </a:solidFill>
              </a:defRPr>
            </a:lvl3pPr>
            <a:lvl4pPr>
              <a:defRPr sz="1950" b="0">
                <a:solidFill>
                  <a:srgbClr val="16745E"/>
                </a:solidFill>
              </a:defRPr>
            </a:lvl4pPr>
            <a:lvl5pPr>
              <a:defRPr sz="1950" b="0">
                <a:solidFill>
                  <a:srgbClr val="16745E"/>
                </a:solidFill>
              </a:defRPr>
            </a:lvl5pPr>
            <a:lvl6pPr>
              <a:defRPr sz="1950" b="0">
                <a:solidFill>
                  <a:srgbClr val="16745E"/>
                </a:solidFill>
              </a:defRPr>
            </a:lvl6pPr>
            <a:lvl7pPr>
              <a:defRPr sz="1950" b="0">
                <a:solidFill>
                  <a:srgbClr val="16745E"/>
                </a:solidFill>
              </a:defRPr>
            </a:lvl7pPr>
            <a:lvl8pPr>
              <a:defRPr sz="1950" b="0">
                <a:solidFill>
                  <a:srgbClr val="16745E"/>
                </a:solidFill>
              </a:defRPr>
            </a:lvl8pPr>
            <a:lvl9pPr>
              <a:defRPr sz="1950" b="0">
                <a:solidFill>
                  <a:srgbClr val="16745E"/>
                </a:solidFill>
              </a:defRPr>
            </a:lvl9pPr>
          </a:lstStyle>
          <a:p>
            <a:pPr>
              <a:defRPr sz="1950" b="0">
                <a:solidFill>
                  <a:srgbClr val="16745E"/>
                </a:solidFill>
              </a:defRPr>
            </a:pPr>
            <a:r>
              <a:rPr sz="1950" b="0">
                <a:solidFill>
                  <a:srgbClr val="16745E"/>
                </a:solidFill>
              </a:rPr>
              <a:t>Proposed Orbyte fit</a:t>
            </a:r>
          </a:p>
          <a:p>
            <a:pPr>
              <a:defRPr sz="1950" b="0">
                <a:solidFill>
                  <a:srgbClr val="16745E"/>
                </a:solidFill>
              </a:defRPr>
            </a:pPr>
            <a:r>
              <a:rPr sz="1950" b="0">
                <a:solidFill>
                  <a:srgbClr val="16745E"/>
                </a:solidFill>
              </a:rPr>
              <a:t>SDG 8.2: productivity through technology</a:t>
            </a:r>
          </a:p>
        </p:txBody>
      </p:sp>
    </p:spTree>
    <p:extLst>
      <p:ext uri="{BB962C8B-B14F-4D97-AF65-F5344CB8AC3E}">
        <p14:creationId xmlns:p14="http://schemas.microsoft.com/office/powerpoint/2010/main" val="704430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32D"/>
        </a:solidFill>
        <a:effectLst/>
      </p:bgPr>
    </p:bg>
    <p:spTree>
      <p:nvGrpSpPr>
        <p:cNvPr id="1" name=""/>
        <p:cNvGrpSpPr/>
        <p:nvPr/>
      </p:nvGrpSpPr>
      <p:grpSpPr>
        <a:xfrm>
          <a:off x="0" y="0"/>
          <a:ext cx="0" cy="0"/>
          <a:chOff x="0" y="0"/>
          <a:chExt cx="0" cy="0"/>
        </a:xfrm>
      </p:grpSpPr>
      <p:sp>
        <p:nvSpPr>
          <p:cNvPr id="2" name="brand">
            <a:extLst>
              <a:ext uri="{FF2B5EF4-FFF2-40B4-BE49-F238E27FC236}">
                <a16:creationId xmlns:a16="http://schemas.microsoft.com/office/drawing/2014/main" id="{9BB68C9B-59E4-4EAE-9C27-CB07CD457179}"/>
              </a:ext>
            </a:extLst>
          </p:cNvPr>
          <p:cNvSpPr>
            <a:spLocks noGrp="1"/>
          </p:cNvSpPr>
          <p:nvPr/>
        </p:nvSpPr>
        <p:spPr>
          <a:xfrm>
            <a:off x="723900" y="819150"/>
            <a:ext cx="10668000" cy="704850"/>
          </a:xfrm>
          <a:prstGeom prst="rect">
            <a:avLst/>
          </a:prstGeom>
          <a:noFill/>
          <a:ln w="0">
            <a:noFill/>
          </a:ln>
        </p:spPr>
        <p:txBody>
          <a:bodyPr lIns="0" tIns="0" rIns="0" bIns="0" anchor="t"/>
          <a:lstStyle>
            <a:defPPr>
              <a:defRPr sz="3600" b="1">
                <a:solidFill>
                  <a:srgbClr val="8BD4C0"/>
                </a:solidFill>
              </a:defRPr>
            </a:defPPr>
            <a:lvl1pPr>
              <a:defRPr sz="3600" b="1">
                <a:solidFill>
                  <a:srgbClr val="8BD4C0"/>
                </a:solidFill>
              </a:defRPr>
            </a:lvl1pPr>
            <a:lvl2pPr>
              <a:defRPr sz="3600" b="1">
                <a:solidFill>
                  <a:srgbClr val="8BD4C0"/>
                </a:solidFill>
              </a:defRPr>
            </a:lvl2pPr>
            <a:lvl3pPr>
              <a:defRPr sz="3600" b="1">
                <a:solidFill>
                  <a:srgbClr val="8BD4C0"/>
                </a:solidFill>
              </a:defRPr>
            </a:lvl3pPr>
            <a:lvl4pPr>
              <a:defRPr sz="3600" b="1">
                <a:solidFill>
                  <a:srgbClr val="8BD4C0"/>
                </a:solidFill>
              </a:defRPr>
            </a:lvl4pPr>
            <a:lvl5pPr>
              <a:defRPr sz="3600" b="1">
                <a:solidFill>
                  <a:srgbClr val="8BD4C0"/>
                </a:solidFill>
              </a:defRPr>
            </a:lvl5pPr>
            <a:lvl6pPr>
              <a:defRPr sz="3600" b="1">
                <a:solidFill>
                  <a:srgbClr val="8BD4C0"/>
                </a:solidFill>
              </a:defRPr>
            </a:lvl6pPr>
            <a:lvl7pPr>
              <a:defRPr sz="3600" b="1">
                <a:solidFill>
                  <a:srgbClr val="8BD4C0"/>
                </a:solidFill>
              </a:defRPr>
            </a:lvl7pPr>
            <a:lvl8pPr>
              <a:defRPr sz="3600" b="1">
                <a:solidFill>
                  <a:srgbClr val="8BD4C0"/>
                </a:solidFill>
              </a:defRPr>
            </a:lvl8pPr>
            <a:lvl9pPr>
              <a:defRPr sz="3600" b="1">
                <a:solidFill>
                  <a:srgbClr val="8BD4C0"/>
                </a:solidFill>
              </a:defRPr>
            </a:lvl9pPr>
          </a:lstStyle>
          <a:p>
            <a:pPr>
              <a:defRPr sz="3600" b="1">
                <a:solidFill>
                  <a:srgbClr val="8BD4C0"/>
                </a:solidFill>
              </a:defRPr>
            </a:pPr>
            <a:r>
              <a:rPr sz="3600" b="1">
                <a:solidFill>
                  <a:srgbClr val="8BD4C0"/>
                </a:solidFill>
              </a:rPr>
              <a:t>WareOrb</a:t>
            </a:r>
          </a:p>
        </p:txBody>
      </p:sp>
      <p:sp>
        <p:nvSpPr>
          <p:cNvPr id="3" name="close">
            <a:extLst>
              <a:ext uri="{FF2B5EF4-FFF2-40B4-BE49-F238E27FC236}">
                <a16:creationId xmlns:a16="http://schemas.microsoft.com/office/drawing/2014/main" id="{6F680DA7-F166-4446-BC0A-63DD395067B3}"/>
              </a:ext>
            </a:extLst>
          </p:cNvPr>
          <p:cNvSpPr>
            <a:spLocks noGrp="1"/>
          </p:cNvSpPr>
          <p:nvPr/>
        </p:nvSpPr>
        <p:spPr>
          <a:xfrm>
            <a:off x="723900" y="2066925"/>
            <a:ext cx="10668000" cy="2000250"/>
          </a:xfrm>
          <a:prstGeom prst="rect">
            <a:avLst/>
          </a:prstGeom>
          <a:noFill/>
          <a:ln w="0">
            <a:noFill/>
          </a:ln>
        </p:spPr>
        <p:txBody>
          <a:bodyPr lIns="0" tIns="0" rIns="0" bIns="0" anchor="t"/>
          <a:lstStyle>
            <a:defPPr>
              <a:defRPr sz="5850" b="1">
                <a:solidFill>
                  <a:srgbClr val="F5F3EC"/>
                </a:solidFill>
              </a:defRPr>
            </a:defPPr>
            <a:lvl1pPr>
              <a:defRPr sz="5850" b="1">
                <a:solidFill>
                  <a:srgbClr val="F5F3EC"/>
                </a:solidFill>
              </a:defRPr>
            </a:lvl1pPr>
            <a:lvl2pPr>
              <a:defRPr sz="5850" b="1">
                <a:solidFill>
                  <a:srgbClr val="F5F3EC"/>
                </a:solidFill>
              </a:defRPr>
            </a:lvl2pPr>
            <a:lvl3pPr>
              <a:defRPr sz="5850" b="1">
                <a:solidFill>
                  <a:srgbClr val="F5F3EC"/>
                </a:solidFill>
              </a:defRPr>
            </a:lvl3pPr>
            <a:lvl4pPr>
              <a:defRPr sz="5850" b="1">
                <a:solidFill>
                  <a:srgbClr val="F5F3EC"/>
                </a:solidFill>
              </a:defRPr>
            </a:lvl4pPr>
            <a:lvl5pPr>
              <a:defRPr sz="5850" b="1">
                <a:solidFill>
                  <a:srgbClr val="F5F3EC"/>
                </a:solidFill>
              </a:defRPr>
            </a:lvl5pPr>
            <a:lvl6pPr>
              <a:defRPr sz="5850" b="1">
                <a:solidFill>
                  <a:srgbClr val="F5F3EC"/>
                </a:solidFill>
              </a:defRPr>
            </a:lvl6pPr>
            <a:lvl7pPr>
              <a:defRPr sz="5850" b="1">
                <a:solidFill>
                  <a:srgbClr val="F5F3EC"/>
                </a:solidFill>
              </a:defRPr>
            </a:lvl7pPr>
            <a:lvl8pPr>
              <a:defRPr sz="5850" b="1">
                <a:solidFill>
                  <a:srgbClr val="F5F3EC"/>
                </a:solidFill>
              </a:defRPr>
            </a:lvl8pPr>
            <a:lvl9pPr>
              <a:defRPr sz="5850" b="1">
                <a:solidFill>
                  <a:srgbClr val="F5F3EC"/>
                </a:solidFill>
              </a:defRPr>
            </a:lvl9pPr>
          </a:lstStyle>
          <a:p>
            <a:pPr>
              <a:defRPr sz="5850" b="1">
                <a:solidFill>
                  <a:srgbClr val="F5F3EC"/>
                </a:solidFill>
              </a:defRPr>
            </a:pPr>
            <a:r>
              <a:rPr sz="5850" b="1" dirty="0">
                <a:solidFill>
                  <a:srgbClr val="F5F3EC"/>
                </a:solidFill>
              </a:rPr>
              <a:t>Make room for the</a:t>
            </a:r>
          </a:p>
          <a:p>
            <a:pPr>
              <a:defRPr sz="5850" b="1">
                <a:solidFill>
                  <a:srgbClr val="F5F3EC"/>
                </a:solidFill>
              </a:defRPr>
            </a:pPr>
            <a:r>
              <a:rPr lang="en-MY" dirty="0"/>
              <a:t>n</a:t>
            </a:r>
            <a:r>
              <a:rPr sz="5850" b="1" dirty="0" err="1">
                <a:solidFill>
                  <a:srgbClr val="F5F3EC"/>
                </a:solidFill>
              </a:rPr>
              <a:t>ext</a:t>
            </a:r>
            <a:r>
              <a:rPr lang="en-GB" dirty="0"/>
              <a:t> hot seller</a:t>
            </a:r>
            <a:endParaRPr sz="5850" b="1" dirty="0">
              <a:solidFill>
                <a:srgbClr val="F5F3EC"/>
              </a:solidFill>
            </a:endParaRPr>
          </a:p>
        </p:txBody>
      </p:sp>
      <p:sp>
        <p:nvSpPr>
          <p:cNvPr id="4" name="promise">
            <a:extLst>
              <a:ext uri="{FF2B5EF4-FFF2-40B4-BE49-F238E27FC236}">
                <a16:creationId xmlns:a16="http://schemas.microsoft.com/office/drawing/2014/main" id="{A3AE7916-DDC7-44A2-A70D-F635CD68775B}"/>
              </a:ext>
            </a:extLst>
          </p:cNvPr>
          <p:cNvSpPr>
            <a:spLocks noGrp="1"/>
          </p:cNvSpPr>
          <p:nvPr/>
        </p:nvSpPr>
        <p:spPr>
          <a:xfrm>
            <a:off x="762000" y="4857750"/>
            <a:ext cx="10668000" cy="1047750"/>
          </a:xfrm>
          <a:prstGeom prst="rect">
            <a:avLst/>
          </a:prstGeom>
          <a:noFill/>
          <a:ln w="0">
            <a:noFill/>
          </a:ln>
        </p:spPr>
        <p:txBody>
          <a:bodyPr lIns="0" tIns="0" rIns="0" bIns="0" anchor="t"/>
          <a:lstStyle>
            <a:defPPr>
              <a:defRPr sz="2475" b="0">
                <a:solidFill>
                  <a:srgbClr val="B1C1C5"/>
                </a:solidFill>
              </a:defRPr>
            </a:defPPr>
            <a:lvl1pPr>
              <a:defRPr sz="2475" b="0">
                <a:solidFill>
                  <a:srgbClr val="B1C1C5"/>
                </a:solidFill>
              </a:defRPr>
            </a:lvl1pPr>
            <a:lvl2pPr>
              <a:defRPr sz="2475" b="0">
                <a:solidFill>
                  <a:srgbClr val="B1C1C5"/>
                </a:solidFill>
              </a:defRPr>
            </a:lvl2pPr>
            <a:lvl3pPr>
              <a:defRPr sz="2475" b="0">
                <a:solidFill>
                  <a:srgbClr val="B1C1C5"/>
                </a:solidFill>
              </a:defRPr>
            </a:lvl3pPr>
            <a:lvl4pPr>
              <a:defRPr sz="2475" b="0">
                <a:solidFill>
                  <a:srgbClr val="B1C1C5"/>
                </a:solidFill>
              </a:defRPr>
            </a:lvl4pPr>
            <a:lvl5pPr>
              <a:defRPr sz="2475" b="0">
                <a:solidFill>
                  <a:srgbClr val="B1C1C5"/>
                </a:solidFill>
              </a:defRPr>
            </a:lvl5pPr>
            <a:lvl6pPr>
              <a:defRPr sz="2475" b="0">
                <a:solidFill>
                  <a:srgbClr val="B1C1C5"/>
                </a:solidFill>
              </a:defRPr>
            </a:lvl6pPr>
            <a:lvl7pPr>
              <a:defRPr sz="2475" b="0">
                <a:solidFill>
                  <a:srgbClr val="B1C1C5"/>
                </a:solidFill>
              </a:defRPr>
            </a:lvl7pPr>
            <a:lvl8pPr>
              <a:defRPr sz="2475" b="0">
                <a:solidFill>
                  <a:srgbClr val="B1C1C5"/>
                </a:solidFill>
              </a:defRPr>
            </a:lvl8pPr>
            <a:lvl9pPr>
              <a:defRPr sz="2475" b="0">
                <a:solidFill>
                  <a:srgbClr val="B1C1C5"/>
                </a:solidFill>
              </a:defRPr>
            </a:lvl9pPr>
          </a:lstStyle>
          <a:p>
            <a:pPr>
              <a:defRPr sz="2475" b="0">
                <a:solidFill>
                  <a:srgbClr val="B1C1C5"/>
                </a:solidFill>
              </a:defRPr>
            </a:pPr>
            <a:r>
              <a:rPr sz="2475" b="0" dirty="0">
                <a:solidFill>
                  <a:srgbClr val="B1C1C5"/>
                </a:solidFill>
              </a:rPr>
              <a:t>An owner-controlled journey</a:t>
            </a:r>
          </a:p>
          <a:p>
            <a:pPr>
              <a:defRPr sz="2475" b="0">
                <a:solidFill>
                  <a:srgbClr val="B1C1C5"/>
                </a:solidFill>
              </a:defRPr>
            </a:pPr>
            <a:r>
              <a:rPr sz="2475" b="0" dirty="0">
                <a:solidFill>
                  <a:srgbClr val="B1C1C5"/>
                </a:solidFill>
              </a:rPr>
              <a:t>from ageing stock to usable space</a:t>
            </a:r>
          </a:p>
        </p:txBody>
      </p:sp>
    </p:spTree>
    <p:extLst>
      <p:ext uri="{BB962C8B-B14F-4D97-AF65-F5344CB8AC3E}">
        <p14:creationId xmlns:p14="http://schemas.microsoft.com/office/powerpoint/2010/main" val="3434246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1174</Words>
  <Application>Microsoft Macintosh PowerPoint</Application>
  <DocSecurity>0</DocSecurity>
  <PresentationFormat>Widescreen</PresentationFormat>
  <Paragraphs>103</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ALFRED LEE KHAI ZHER</cp:lastModifiedBy>
  <cp:revision>2</cp:revision>
  <dcterms:created xsi:type="dcterms:W3CDTF">2026-10-24T14:51:25Z</dcterms:created>
  <dcterms:modified xsi:type="dcterms:W3CDTF">2026-10-24T15:18:02Z</dcterms:modified>
</cp:coreProperties>
</file>